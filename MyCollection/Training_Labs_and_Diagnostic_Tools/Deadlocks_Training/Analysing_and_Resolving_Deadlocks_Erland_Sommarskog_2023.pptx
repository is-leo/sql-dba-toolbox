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85" r:id="rId2"/>
  </p:sldMasterIdLst>
  <p:notesMasterIdLst>
    <p:notesMasterId r:id="rId121"/>
  </p:notesMasterIdLst>
  <p:sldIdLst>
    <p:sldId id="290" r:id="rId3"/>
    <p:sldId id="303" r:id="rId4"/>
    <p:sldId id="304" r:id="rId5"/>
    <p:sldId id="260" r:id="rId6"/>
    <p:sldId id="377" r:id="rId7"/>
    <p:sldId id="308" r:id="rId8"/>
    <p:sldId id="267" r:id="rId9"/>
    <p:sldId id="349" r:id="rId10"/>
    <p:sldId id="348" r:id="rId11"/>
    <p:sldId id="365" r:id="rId12"/>
    <p:sldId id="261" r:id="rId13"/>
    <p:sldId id="268" r:id="rId14"/>
    <p:sldId id="372" r:id="rId15"/>
    <p:sldId id="373" r:id="rId16"/>
    <p:sldId id="369" r:id="rId17"/>
    <p:sldId id="271" r:id="rId18"/>
    <p:sldId id="272" r:id="rId19"/>
    <p:sldId id="375" r:id="rId20"/>
    <p:sldId id="37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370" r:id="rId32"/>
    <p:sldId id="286" r:id="rId33"/>
    <p:sldId id="282" r:id="rId34"/>
    <p:sldId id="289" r:id="rId35"/>
    <p:sldId id="287" r:id="rId36"/>
    <p:sldId id="301" r:id="rId37"/>
    <p:sldId id="378" r:id="rId38"/>
    <p:sldId id="305" r:id="rId39"/>
    <p:sldId id="311" r:id="rId40"/>
    <p:sldId id="307" r:id="rId41"/>
    <p:sldId id="379" r:id="rId42"/>
    <p:sldId id="288" r:id="rId43"/>
    <p:sldId id="384" r:id="rId44"/>
    <p:sldId id="417" r:id="rId45"/>
    <p:sldId id="380" r:id="rId46"/>
    <p:sldId id="291" r:id="rId47"/>
    <p:sldId id="292" r:id="rId48"/>
    <p:sldId id="293" r:id="rId49"/>
    <p:sldId id="381" r:id="rId50"/>
    <p:sldId id="297" r:id="rId51"/>
    <p:sldId id="382" r:id="rId52"/>
    <p:sldId id="383" r:id="rId53"/>
    <p:sldId id="299" r:id="rId54"/>
    <p:sldId id="385" r:id="rId55"/>
    <p:sldId id="387" r:id="rId56"/>
    <p:sldId id="388" r:id="rId57"/>
    <p:sldId id="386" r:id="rId58"/>
    <p:sldId id="390" r:id="rId59"/>
    <p:sldId id="391" r:id="rId60"/>
    <p:sldId id="392" r:id="rId61"/>
    <p:sldId id="393" r:id="rId62"/>
    <p:sldId id="394" r:id="rId63"/>
    <p:sldId id="405" r:id="rId64"/>
    <p:sldId id="396" r:id="rId65"/>
    <p:sldId id="397" r:id="rId66"/>
    <p:sldId id="398" r:id="rId67"/>
    <p:sldId id="399" r:id="rId68"/>
    <p:sldId id="400" r:id="rId69"/>
    <p:sldId id="401" r:id="rId70"/>
    <p:sldId id="404" r:id="rId71"/>
    <p:sldId id="403" r:id="rId72"/>
    <p:sldId id="402" r:id="rId73"/>
    <p:sldId id="309" r:id="rId74"/>
    <p:sldId id="310" r:id="rId75"/>
    <p:sldId id="406" r:id="rId76"/>
    <p:sldId id="358" r:id="rId77"/>
    <p:sldId id="407" r:id="rId78"/>
    <p:sldId id="408" r:id="rId79"/>
    <p:sldId id="409" r:id="rId80"/>
    <p:sldId id="353" r:id="rId81"/>
    <p:sldId id="367" r:id="rId82"/>
    <p:sldId id="368" r:id="rId83"/>
    <p:sldId id="320" r:id="rId84"/>
    <p:sldId id="354" r:id="rId85"/>
    <p:sldId id="355" r:id="rId86"/>
    <p:sldId id="356" r:id="rId87"/>
    <p:sldId id="357" r:id="rId88"/>
    <p:sldId id="410" r:id="rId89"/>
    <p:sldId id="359" r:id="rId90"/>
    <p:sldId id="411" r:id="rId91"/>
    <p:sldId id="421" r:id="rId92"/>
    <p:sldId id="314" r:id="rId93"/>
    <p:sldId id="412" r:id="rId94"/>
    <p:sldId id="360" r:id="rId95"/>
    <p:sldId id="413" r:id="rId96"/>
    <p:sldId id="323" r:id="rId97"/>
    <p:sldId id="322" r:id="rId98"/>
    <p:sldId id="414" r:id="rId99"/>
    <p:sldId id="415" r:id="rId100"/>
    <p:sldId id="361" r:id="rId101"/>
    <p:sldId id="328" r:id="rId102"/>
    <p:sldId id="329" r:id="rId103"/>
    <p:sldId id="330" r:id="rId104"/>
    <p:sldId id="331" r:id="rId105"/>
    <p:sldId id="332" r:id="rId106"/>
    <p:sldId id="333" r:id="rId107"/>
    <p:sldId id="336" r:id="rId108"/>
    <p:sldId id="418" r:id="rId109"/>
    <p:sldId id="337" r:id="rId110"/>
    <p:sldId id="419" r:id="rId111"/>
    <p:sldId id="338" r:id="rId112"/>
    <p:sldId id="339" r:id="rId113"/>
    <p:sldId id="416" r:id="rId114"/>
    <p:sldId id="363" r:id="rId115"/>
    <p:sldId id="343" r:id="rId116"/>
    <p:sldId id="420" r:id="rId117"/>
    <p:sldId id="344" r:id="rId118"/>
    <p:sldId id="294" r:id="rId119"/>
    <p:sldId id="295" r:id="rId12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515"/>
    <a:srgbClr val="FFFF96"/>
    <a:srgbClr val="FFFFC8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EDE52-CDD9-41A4-9EDC-76E6C506B66C}" type="datetimeFigureOut">
              <a:rPr lang="en-GB" smtClean="0"/>
              <a:t>08/10/2023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2BC9B-052F-4825-A9E9-4D750A134F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563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5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779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291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818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404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670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035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668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293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385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394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46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464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72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387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754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780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8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610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207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88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5900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51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2249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9339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3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2913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3686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8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91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691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8346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6110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1300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7476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4546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3763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4406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5165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8252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7893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2057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4440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6896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3117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9183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1880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6896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632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6615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4286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46572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6179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2243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399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7689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90357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9212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01245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8741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7905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87837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4194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012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7478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9152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3201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65621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15004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4765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37212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3654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60173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9991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386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4022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53389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3358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79545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89868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98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681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5370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18368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39817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454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72798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333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05275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96121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63018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45193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10911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50504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16691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95038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43483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39441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03278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61825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09676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07462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5656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74279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79613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65580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5991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92504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63339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20273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69365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08956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7393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5337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82337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783A2-3180-4EC2-8374-E54982FE0097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50602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BC9B-052F-4825-A9E9-4D750A134F7C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42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5.sv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5.sv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emf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5257CC-89CF-8B42-B35F-1821834E5E2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222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13DEB97-CA98-F64B-94A4-A309B88C1F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7A40D8D-6172-2A4B-8BAF-FBC8AD247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91" y="1822720"/>
            <a:ext cx="7982322" cy="1935532"/>
          </a:xfrm>
        </p:spPr>
        <p:txBody>
          <a:bodyPr anchor="t">
            <a:noAutofit/>
          </a:bodyPr>
          <a:lstStyle>
            <a:lvl1pPr>
              <a:defRPr sz="44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Session Title goes here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3C604D-DE78-654D-AE05-9880A68AB70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1145B4D-CDDC-A141-962C-D3A6C5DAAF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DD311C-2B1E-7E4F-984B-5CE909C5D7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42615F9-6222-F34E-8DAC-4784780DE9B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D1B286-D253-774E-B8AF-7718373030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76257D3-DD2C-57FE-EE41-1B5FA3F171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91" y="476513"/>
            <a:ext cx="3131055" cy="111037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D4319C9-27C2-E76E-8901-D50CC9959A6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35123" y="0"/>
            <a:ext cx="5556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d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AEB030-6D69-444A-91BD-2A6CCC716C0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222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D78C34BA-89C2-E843-8A42-E0E973E54C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4C4303D-24D8-0C48-8534-7D4F90E57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91" y="1822720"/>
            <a:ext cx="7982322" cy="1935532"/>
          </a:xfrm>
        </p:spPr>
        <p:txBody>
          <a:bodyPr anchor="t">
            <a:noAutofit/>
          </a:bodyPr>
          <a:lstStyle>
            <a:lvl1pPr>
              <a:defRPr sz="44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Session Title goes here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173C2FE-439C-504B-8A21-0A47159878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9422CC-1FF2-044C-B022-72564F9AFB0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35EFF6-1025-6640-AE23-96FB71F54E7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3BD0868-EB84-F847-98AA-8CB70FF9E09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74F1-3EF4-A94A-8613-21DBCF0377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226B660-E4BF-7893-1ED9-D9A9E84D65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91" y="476513"/>
            <a:ext cx="3131055" cy="111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0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D74CC3F-A43F-7247-8851-E564DEF82E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11C7A70-1A27-8C46-B788-29D87A2F4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541" y="451274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FirstName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6227045-61B0-9544-AEC3-12180B09CB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4542" y="2560817"/>
            <a:ext cx="6035252" cy="64778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F2F2F2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977B7-700C-C149-8536-47AB7A78B9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2439" y="378547"/>
            <a:ext cx="1685405" cy="1685405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1A01EAC-4EF5-AE4F-970E-2C5157FA52A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58416" y="4673325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FB3DAF8-2F81-FC4D-8CB0-8C0CB1AA4D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58416" y="5244387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5B937D2-7E45-D541-81A8-ABE79A9EE49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8416" y="5815450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40AA7F0-2E50-214E-9056-0901887064E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542" y="3219579"/>
            <a:ext cx="6035252" cy="64778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3600" b="0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FA89709-76ED-224C-B4CF-D07271807F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702439" y="2560817"/>
            <a:ext cx="5065019" cy="3085857"/>
          </a:xfrm>
        </p:spPr>
        <p:txBody>
          <a:bodyPr anchor="t">
            <a:normAutofit/>
          </a:bodyPr>
          <a:lstStyle>
            <a:lvl1pPr marL="342900" indent="-34290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400" b="0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85A32D5-82BC-8243-A21F-A7FEE33FAEA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4541" y="1933620"/>
            <a:ext cx="6035251" cy="40481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1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2292A1-4831-8743-BC26-539A0B8200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4541" y="1168024"/>
            <a:ext cx="6137624" cy="71188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lvl="0"/>
            <a:r>
              <a:rPr lang="en-US" dirty="0" err="1"/>
              <a:t>SecondName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F66AFE-DBBF-D331-B3AA-BC7FD06D95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1280" y="6000710"/>
            <a:ext cx="1670600" cy="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9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958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Session 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DC7C0B-1DAB-8544-9AAC-01B9C9A7782C}"/>
              </a:ext>
            </a:extLst>
          </p:cNvPr>
          <p:cNvSpPr txBox="1"/>
          <p:nvPr userDrawn="1"/>
        </p:nvSpPr>
        <p:spPr>
          <a:xfrm>
            <a:off x="424542" y="1415901"/>
            <a:ext cx="9583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4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Your feedback is important to us</a:t>
            </a:r>
            <a:endParaRPr lang="en-US" sz="4400" b="0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F22D7A-4ABB-6245-8502-18EF607330AF}"/>
              </a:ext>
            </a:extLst>
          </p:cNvPr>
          <p:cNvSpPr txBox="1"/>
          <p:nvPr userDrawn="1"/>
        </p:nvSpPr>
        <p:spPr>
          <a:xfrm>
            <a:off x="424542" y="2849937"/>
            <a:ext cx="9583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i="0" dirty="0">
                <a:solidFill>
                  <a:schemeClr val="bg1"/>
                </a:solidFill>
                <a:latin typeface="IBM Plex Sans" panose="020B0503050203000203" pitchFamily="34" charset="77"/>
              </a:rPr>
              <a:t>Evaluate this session at:</a:t>
            </a:r>
            <a:endParaRPr lang="en-US" sz="3600" b="1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E4081F-E44B-FA48-BB8E-521074B70AEA}"/>
              </a:ext>
            </a:extLst>
          </p:cNvPr>
          <p:cNvSpPr txBox="1"/>
          <p:nvPr userDrawn="1"/>
        </p:nvSpPr>
        <p:spPr>
          <a:xfrm>
            <a:off x="424542" y="3510337"/>
            <a:ext cx="1099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0" i="0" dirty="0" err="1">
                <a:solidFill>
                  <a:schemeClr val="bg1"/>
                </a:solidFill>
                <a:latin typeface="IBM Plex Sans" panose="020B0503050203000203" pitchFamily="34" charset="77"/>
              </a:rPr>
              <a:t>www.PASSDataComminitySummit.com</a:t>
            </a:r>
            <a:r>
              <a:rPr lang="en-GB" sz="36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/evaluation</a:t>
            </a:r>
            <a:endParaRPr lang="en-US" sz="3600" b="0" i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47D9DA39-36BD-8E49-A976-636CEBB38A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7525CB8-9CDD-F85C-60A1-D2F20CB44D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7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6159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Thank you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646216E-29A2-A247-99CE-007D6791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2" y="1492289"/>
            <a:ext cx="9383009" cy="1935532"/>
          </a:xfrm>
        </p:spPr>
        <p:txBody>
          <a:bodyPr anchor="t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DAEEB18-91E1-3F42-8D9D-5E0430A0A87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07DC7BE-7B26-414F-BD9B-3EC87D60A02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E4D425-6254-6148-803B-C779BD3C6F7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6E52DF-C0F3-FF4F-92BC-DEBBB26F991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9787C4E-E72C-4349-9E85-A44A9A570A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9B98E7-C32B-121F-2F08-9B9D335EB9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7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84400" indent="-284400">
              <a:lnSpc>
                <a:spcPct val="90000"/>
              </a:lnSpc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 marL="601200" indent="-284400">
              <a:lnSpc>
                <a:spcPct val="90000"/>
              </a:lnSpc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89200" indent="-284400">
              <a:lnSpc>
                <a:spcPct val="90000"/>
              </a:lnSpc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A499BE-5785-8240-9D7C-DA5C98449F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6C5A907-3D77-1EEF-4B69-6DB8AD40AF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8D2EA47-FEAA-47D6-50F3-7C5A5C1D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100">
                <a:latin typeface="IBM Plex Sans" panose="020B0503050203000203" pitchFamily="34" charset="0"/>
              </a:defRPr>
            </a:lvl1pPr>
          </a:lstStyle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85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cu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5DB589BE-A367-2047-95EA-84FEE887D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4D6B17-7F4B-2A48-907F-6DA54CEF10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88C8A19-1FB7-1C42-8E4E-03FB1EF9402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9047" y="1825625"/>
            <a:ext cx="816535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B51CA4F-FDD7-FD40-A833-669B9D88A65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8829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90C9966-75CA-7E49-8F85-51BA761C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9F0E3-6643-7244-9CD7-28E5FA1D17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07182" y="6070600"/>
            <a:ext cx="2155343" cy="540214"/>
          </a:xfrm>
          <a:prstGeom prst="rect">
            <a:avLst/>
          </a:prstGeom>
        </p:spPr>
      </p:pic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F1904EC-DB1E-124C-8A9D-EED00AC593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635418" y="-2458"/>
            <a:ext cx="5556582" cy="685683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9865"/>
              <a:gd name="connsiteY0" fmla="*/ 10333 h 10333"/>
              <a:gd name="connsiteX1" fmla="*/ 2000 w 9865"/>
              <a:gd name="connsiteY1" fmla="*/ 333 h 10333"/>
              <a:gd name="connsiteX2" fmla="*/ 9865 w 9865"/>
              <a:gd name="connsiteY2" fmla="*/ 0 h 10333"/>
              <a:gd name="connsiteX3" fmla="*/ 8000 w 9865"/>
              <a:gd name="connsiteY3" fmla="*/ 10333 h 10333"/>
              <a:gd name="connsiteX4" fmla="*/ 0 w 9865"/>
              <a:gd name="connsiteY4" fmla="*/ 10333 h 10333"/>
              <a:gd name="connsiteX0" fmla="*/ 0 w 10000"/>
              <a:gd name="connsiteY0" fmla="*/ 10590 h 10590"/>
              <a:gd name="connsiteX1" fmla="*/ 2573 w 10000"/>
              <a:gd name="connsiteY1" fmla="*/ 0 h 10590"/>
              <a:gd name="connsiteX2" fmla="*/ 10000 w 10000"/>
              <a:gd name="connsiteY2" fmla="*/ 590 h 10590"/>
              <a:gd name="connsiteX3" fmla="*/ 8109 w 10000"/>
              <a:gd name="connsiteY3" fmla="*/ 10590 h 10590"/>
              <a:gd name="connsiteX4" fmla="*/ 0 w 10000"/>
              <a:gd name="connsiteY4" fmla="*/ 10590 h 10590"/>
              <a:gd name="connsiteX0" fmla="*/ 0 w 10000"/>
              <a:gd name="connsiteY0" fmla="*/ 10659 h 10659"/>
              <a:gd name="connsiteX1" fmla="*/ 2573 w 10000"/>
              <a:gd name="connsiteY1" fmla="*/ 69 h 10659"/>
              <a:gd name="connsiteX2" fmla="*/ 10000 w 10000"/>
              <a:gd name="connsiteY2" fmla="*/ 659 h 10659"/>
              <a:gd name="connsiteX3" fmla="*/ 8109 w 10000"/>
              <a:gd name="connsiteY3" fmla="*/ 10659 h 10659"/>
              <a:gd name="connsiteX4" fmla="*/ 0 w 10000"/>
              <a:gd name="connsiteY4" fmla="*/ 10659 h 10659"/>
              <a:gd name="connsiteX0" fmla="*/ 0 w 13230"/>
              <a:gd name="connsiteY0" fmla="*/ 11093 h 11093"/>
              <a:gd name="connsiteX1" fmla="*/ 2573 w 13230"/>
              <a:gd name="connsiteY1" fmla="*/ 503 h 11093"/>
              <a:gd name="connsiteX2" fmla="*/ 13230 w 13230"/>
              <a:gd name="connsiteY2" fmla="*/ 56 h 11093"/>
              <a:gd name="connsiteX3" fmla="*/ 8109 w 13230"/>
              <a:gd name="connsiteY3" fmla="*/ 11093 h 11093"/>
              <a:gd name="connsiteX4" fmla="*/ 0 w 13230"/>
              <a:gd name="connsiteY4" fmla="*/ 11093 h 11093"/>
              <a:gd name="connsiteX0" fmla="*/ 0 w 13273"/>
              <a:gd name="connsiteY0" fmla="*/ 11093 h 14026"/>
              <a:gd name="connsiteX1" fmla="*/ 2573 w 13273"/>
              <a:gd name="connsiteY1" fmla="*/ 503 h 14026"/>
              <a:gd name="connsiteX2" fmla="*/ 13230 w 13273"/>
              <a:gd name="connsiteY2" fmla="*/ 56 h 14026"/>
              <a:gd name="connsiteX3" fmla="*/ 13273 w 13273"/>
              <a:gd name="connsiteY3" fmla="*/ 14026 h 14026"/>
              <a:gd name="connsiteX4" fmla="*/ 0 w 13273"/>
              <a:gd name="connsiteY4" fmla="*/ 11093 h 14026"/>
              <a:gd name="connsiteX0" fmla="*/ 0 w 14228"/>
              <a:gd name="connsiteY0" fmla="*/ 14169 h 14169"/>
              <a:gd name="connsiteX1" fmla="*/ 3528 w 14228"/>
              <a:gd name="connsiteY1" fmla="*/ 503 h 14169"/>
              <a:gd name="connsiteX2" fmla="*/ 14185 w 14228"/>
              <a:gd name="connsiteY2" fmla="*/ 56 h 14169"/>
              <a:gd name="connsiteX3" fmla="*/ 14228 w 14228"/>
              <a:gd name="connsiteY3" fmla="*/ 14026 h 14169"/>
              <a:gd name="connsiteX4" fmla="*/ 0 w 14228"/>
              <a:gd name="connsiteY4" fmla="*/ 14169 h 14169"/>
              <a:gd name="connsiteX0" fmla="*/ 0 w 14384"/>
              <a:gd name="connsiteY0" fmla="*/ 13982 h 14026"/>
              <a:gd name="connsiteX1" fmla="*/ 3684 w 14384"/>
              <a:gd name="connsiteY1" fmla="*/ 503 h 14026"/>
              <a:gd name="connsiteX2" fmla="*/ 14341 w 14384"/>
              <a:gd name="connsiteY2" fmla="*/ 56 h 14026"/>
              <a:gd name="connsiteX3" fmla="*/ 14384 w 14384"/>
              <a:gd name="connsiteY3" fmla="*/ 14026 h 14026"/>
              <a:gd name="connsiteX4" fmla="*/ 0 w 14384"/>
              <a:gd name="connsiteY4" fmla="*/ 13982 h 14026"/>
              <a:gd name="connsiteX0" fmla="*/ 0 w 14376"/>
              <a:gd name="connsiteY0" fmla="*/ 13982 h 13987"/>
              <a:gd name="connsiteX1" fmla="*/ 3684 w 14376"/>
              <a:gd name="connsiteY1" fmla="*/ 503 h 13987"/>
              <a:gd name="connsiteX2" fmla="*/ 14341 w 14376"/>
              <a:gd name="connsiteY2" fmla="*/ 56 h 13987"/>
              <a:gd name="connsiteX3" fmla="*/ 14376 w 14376"/>
              <a:gd name="connsiteY3" fmla="*/ 13987 h 13987"/>
              <a:gd name="connsiteX4" fmla="*/ 0 w 14376"/>
              <a:gd name="connsiteY4" fmla="*/ 13982 h 13987"/>
              <a:gd name="connsiteX0" fmla="*/ 0 w 14376"/>
              <a:gd name="connsiteY0" fmla="*/ 13934 h 13939"/>
              <a:gd name="connsiteX1" fmla="*/ 7307 w 14376"/>
              <a:gd name="connsiteY1" fmla="*/ 3955 h 13939"/>
              <a:gd name="connsiteX2" fmla="*/ 14341 w 14376"/>
              <a:gd name="connsiteY2" fmla="*/ 8 h 13939"/>
              <a:gd name="connsiteX3" fmla="*/ 14376 w 14376"/>
              <a:gd name="connsiteY3" fmla="*/ 13939 h 13939"/>
              <a:gd name="connsiteX4" fmla="*/ 0 w 14376"/>
              <a:gd name="connsiteY4" fmla="*/ 13934 h 13939"/>
              <a:gd name="connsiteX0" fmla="*/ 0 w 14376"/>
              <a:gd name="connsiteY0" fmla="*/ 13947 h 13952"/>
              <a:gd name="connsiteX1" fmla="*/ 7307 w 14376"/>
              <a:gd name="connsiteY1" fmla="*/ 3968 h 13952"/>
              <a:gd name="connsiteX2" fmla="*/ 14341 w 14376"/>
              <a:gd name="connsiteY2" fmla="*/ 21 h 13952"/>
              <a:gd name="connsiteX3" fmla="*/ 14376 w 14376"/>
              <a:gd name="connsiteY3" fmla="*/ 13952 h 13952"/>
              <a:gd name="connsiteX4" fmla="*/ 0 w 14376"/>
              <a:gd name="connsiteY4" fmla="*/ 13947 h 13952"/>
              <a:gd name="connsiteX0" fmla="*/ 0 w 14376"/>
              <a:gd name="connsiteY0" fmla="*/ 13948 h 13953"/>
              <a:gd name="connsiteX1" fmla="*/ 7307 w 14376"/>
              <a:gd name="connsiteY1" fmla="*/ 3969 h 13953"/>
              <a:gd name="connsiteX2" fmla="*/ 14341 w 14376"/>
              <a:gd name="connsiteY2" fmla="*/ 22 h 13953"/>
              <a:gd name="connsiteX3" fmla="*/ 14376 w 14376"/>
              <a:gd name="connsiteY3" fmla="*/ 13953 h 13953"/>
              <a:gd name="connsiteX4" fmla="*/ 0 w 14376"/>
              <a:gd name="connsiteY4" fmla="*/ 13948 h 13953"/>
              <a:gd name="connsiteX0" fmla="*/ 0 w 14376"/>
              <a:gd name="connsiteY0" fmla="*/ 13652 h 13657"/>
              <a:gd name="connsiteX1" fmla="*/ 7307 w 14376"/>
              <a:gd name="connsiteY1" fmla="*/ 3673 h 13657"/>
              <a:gd name="connsiteX2" fmla="*/ 13922 w 14376"/>
              <a:gd name="connsiteY2" fmla="*/ 29 h 13657"/>
              <a:gd name="connsiteX3" fmla="*/ 14376 w 14376"/>
              <a:gd name="connsiteY3" fmla="*/ 13657 h 13657"/>
              <a:gd name="connsiteX4" fmla="*/ 0 w 14376"/>
              <a:gd name="connsiteY4" fmla="*/ 13652 h 13657"/>
              <a:gd name="connsiteX0" fmla="*/ 0 w 14376"/>
              <a:gd name="connsiteY0" fmla="*/ 13682 h 13687"/>
              <a:gd name="connsiteX1" fmla="*/ 7307 w 14376"/>
              <a:gd name="connsiteY1" fmla="*/ 3703 h 13687"/>
              <a:gd name="connsiteX2" fmla="*/ 14357 w 14376"/>
              <a:gd name="connsiteY2" fmla="*/ 27 h 13687"/>
              <a:gd name="connsiteX3" fmla="*/ 14376 w 14376"/>
              <a:gd name="connsiteY3" fmla="*/ 13687 h 13687"/>
              <a:gd name="connsiteX4" fmla="*/ 0 w 14376"/>
              <a:gd name="connsiteY4" fmla="*/ 13682 h 13687"/>
              <a:gd name="connsiteX0" fmla="*/ 0 w 14376"/>
              <a:gd name="connsiteY0" fmla="*/ 13960 h 13965"/>
              <a:gd name="connsiteX1" fmla="*/ 7307 w 14376"/>
              <a:gd name="connsiteY1" fmla="*/ 3981 h 13965"/>
              <a:gd name="connsiteX2" fmla="*/ 14365 w 14376"/>
              <a:gd name="connsiteY2" fmla="*/ 21 h 13965"/>
              <a:gd name="connsiteX3" fmla="*/ 14376 w 14376"/>
              <a:gd name="connsiteY3" fmla="*/ 13965 h 13965"/>
              <a:gd name="connsiteX4" fmla="*/ 0 w 14376"/>
              <a:gd name="connsiteY4" fmla="*/ 13960 h 13965"/>
              <a:gd name="connsiteX0" fmla="*/ 0 w 14376"/>
              <a:gd name="connsiteY0" fmla="*/ 13939 h 13944"/>
              <a:gd name="connsiteX1" fmla="*/ 7307 w 14376"/>
              <a:gd name="connsiteY1" fmla="*/ 3960 h 13944"/>
              <a:gd name="connsiteX2" fmla="*/ 14365 w 14376"/>
              <a:gd name="connsiteY2" fmla="*/ 0 h 13944"/>
              <a:gd name="connsiteX3" fmla="*/ 14376 w 14376"/>
              <a:gd name="connsiteY3" fmla="*/ 13944 h 13944"/>
              <a:gd name="connsiteX4" fmla="*/ 0 w 14376"/>
              <a:gd name="connsiteY4" fmla="*/ 13939 h 13944"/>
              <a:gd name="connsiteX0" fmla="*/ 0 w 14376"/>
              <a:gd name="connsiteY0" fmla="*/ 13940 h 13945"/>
              <a:gd name="connsiteX1" fmla="*/ 7307 w 14376"/>
              <a:gd name="connsiteY1" fmla="*/ 3961 h 13945"/>
              <a:gd name="connsiteX2" fmla="*/ 14365 w 14376"/>
              <a:gd name="connsiteY2" fmla="*/ 1 h 13945"/>
              <a:gd name="connsiteX3" fmla="*/ 14376 w 14376"/>
              <a:gd name="connsiteY3" fmla="*/ 13945 h 13945"/>
              <a:gd name="connsiteX4" fmla="*/ 0 w 14376"/>
              <a:gd name="connsiteY4" fmla="*/ 13940 h 13945"/>
              <a:gd name="connsiteX0" fmla="*/ 0 w 14376"/>
              <a:gd name="connsiteY0" fmla="*/ 13940 h 13945"/>
              <a:gd name="connsiteX1" fmla="*/ 7307 w 14376"/>
              <a:gd name="connsiteY1" fmla="*/ 3961 h 13945"/>
              <a:gd name="connsiteX2" fmla="*/ 14365 w 14376"/>
              <a:gd name="connsiteY2" fmla="*/ 1 h 13945"/>
              <a:gd name="connsiteX3" fmla="*/ 14376 w 14376"/>
              <a:gd name="connsiteY3" fmla="*/ 13945 h 13945"/>
              <a:gd name="connsiteX4" fmla="*/ 0 w 14376"/>
              <a:gd name="connsiteY4" fmla="*/ 13940 h 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76" h="13945">
                <a:moveTo>
                  <a:pt x="0" y="13940"/>
                </a:moveTo>
                <a:lnTo>
                  <a:pt x="7307" y="3961"/>
                </a:lnTo>
                <a:cubicBezTo>
                  <a:pt x="9054" y="1086"/>
                  <a:pt x="11232" y="-47"/>
                  <a:pt x="14365" y="1"/>
                </a:cubicBezTo>
                <a:cubicBezTo>
                  <a:pt x="14379" y="4658"/>
                  <a:pt x="14362" y="9288"/>
                  <a:pt x="14376" y="13945"/>
                </a:cubicBezTo>
                <a:lnTo>
                  <a:pt x="0" y="13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5A1E762-B7D5-9F4E-825E-929E1BE50C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AD3BA8-4C2E-494A-A7C7-1F34325C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6" y="1825625"/>
            <a:ext cx="7418101" cy="4351338"/>
          </a:xfr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981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7F35519F-A138-7348-B1E9-EE8C0C7B1F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BAB508-2049-044D-A5D7-E06D0673C1AC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8758882-B747-8C4C-B1E8-6F0E169CB6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8" y="492942"/>
            <a:ext cx="4389766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B99AC33-1793-904B-BDB2-3196A47447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2563930" y="-2458"/>
            <a:ext cx="9628068" cy="6860458"/>
          </a:xfrm>
          <a:custGeom>
            <a:avLst/>
            <a:gdLst>
              <a:gd name="connsiteX0" fmla="*/ 5546749 w 9628068"/>
              <a:gd name="connsiteY0" fmla="*/ 0 h 6860458"/>
              <a:gd name="connsiteX1" fmla="*/ 9628068 w 9628068"/>
              <a:gd name="connsiteY1" fmla="*/ 0 h 6860458"/>
              <a:gd name="connsiteX2" fmla="*/ 9628068 w 9628068"/>
              <a:gd name="connsiteY2" fmla="*/ 6860458 h 6860458"/>
              <a:gd name="connsiteX3" fmla="*/ 5546749 w 9628068"/>
              <a:gd name="connsiteY3" fmla="*/ 6860458 h 6860458"/>
              <a:gd name="connsiteX4" fmla="*/ 5546749 w 9628068"/>
              <a:gd name="connsiteY4" fmla="*/ 6856826 h 6860458"/>
              <a:gd name="connsiteX5" fmla="*/ 0 w 9628068"/>
              <a:gd name="connsiteY5" fmla="*/ 6854372 h 6860458"/>
              <a:gd name="connsiteX6" fmla="*/ 2824287 w 9628068"/>
              <a:gd name="connsiteY6" fmla="*/ 1947645 h 6860458"/>
              <a:gd name="connsiteX7" fmla="*/ 5329551 w 9628068"/>
              <a:gd name="connsiteY7" fmla="*/ 2939 h 6860458"/>
              <a:gd name="connsiteX8" fmla="*/ 5546749 w 9628068"/>
              <a:gd name="connsiteY8" fmla="*/ 553 h 686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28068" h="6860458">
                <a:moveTo>
                  <a:pt x="5546749" y="0"/>
                </a:moveTo>
                <a:lnTo>
                  <a:pt x="9628068" y="0"/>
                </a:lnTo>
                <a:lnTo>
                  <a:pt x="9628068" y="6860458"/>
                </a:lnTo>
                <a:lnTo>
                  <a:pt x="5546749" y="6860458"/>
                </a:lnTo>
                <a:lnTo>
                  <a:pt x="5546749" y="6856826"/>
                </a:lnTo>
                <a:lnTo>
                  <a:pt x="0" y="6854372"/>
                </a:lnTo>
                <a:lnTo>
                  <a:pt x="2824287" y="1947645"/>
                </a:lnTo>
                <a:cubicBezTo>
                  <a:pt x="3457330" y="622345"/>
                  <a:pt x="4236791" y="49874"/>
                  <a:pt x="5329551" y="2939"/>
                </a:cubicBezTo>
                <a:lnTo>
                  <a:pt x="5546749" y="55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1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ur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25E5042-9E74-7B4F-ABCD-A2C862194C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BAB508-2049-044D-A5D7-E06D0673C1AC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8758882-B747-8C4C-B1E8-6F0E169CB6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8" y="492942"/>
            <a:ext cx="4389766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E4B61-0172-F648-BAC8-317EEB67A0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63930" y="0"/>
            <a:ext cx="55626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EF6BEB-41F7-824D-89C0-5D375788FE3B}"/>
              </a:ext>
            </a:extLst>
          </p:cNvPr>
          <p:cNvSpPr/>
          <p:nvPr userDrawn="1"/>
        </p:nvSpPr>
        <p:spPr>
          <a:xfrm>
            <a:off x="8126530" y="0"/>
            <a:ext cx="406547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4543" y="439583"/>
            <a:ext cx="9753600" cy="4965699"/>
          </a:xfrm>
        </p:spPr>
        <p:txBody>
          <a:bodyPr anchor="t"/>
          <a:lstStyle>
            <a:lvl1pPr algn="l">
              <a:lnSpc>
                <a:spcPct val="120000"/>
              </a:lnSpc>
              <a:defRPr sz="60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US" dirty="0"/>
              <a:t>This is a breaker page, it can be used to split topics or highlight something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0D76F5F-7485-2C49-990E-2AAEF0413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FCD1984-290D-6EC5-B176-7742FBE3F3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10"/>
            <a:ext cx="1670600" cy="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79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eaker page - sub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417082"/>
            <a:ext cx="10020300" cy="1325563"/>
          </a:xfrm>
        </p:spPr>
        <p:txBody>
          <a:bodyPr>
            <a:normAutofit/>
          </a:bodyPr>
          <a:lstStyle>
            <a:lvl1pPr>
              <a:defRPr sz="4800" b="1" i="0">
                <a:solidFill>
                  <a:schemeClr val="accent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4735079"/>
            <a:ext cx="10515600" cy="121445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A45083-DB22-304F-B57E-1B684738C2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D6E74E5-AAF6-5DA1-4E6C-953FF0D492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3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658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10A372-B547-3F47-9A9A-95AEDE5ECC3F}"/>
              </a:ext>
            </a:extLst>
          </p:cNvPr>
          <p:cNvSpPr txBox="1">
            <a:spLocks/>
          </p:cNvSpPr>
          <p:nvPr/>
        </p:nvSpPr>
        <p:spPr bwMode="auto">
          <a:xfrm>
            <a:off x="394657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6DBC66-16A3-B04D-A8D8-8142C635BA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069901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1176B2-2101-B04E-8F1B-08B5EA78EEE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8154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AB31DB-FBDF-F643-B30C-8D0EE6AB2F7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86406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1C2EAD-E3AA-7144-B320-33AFFD6595A1}"/>
              </a:ext>
            </a:extLst>
          </p:cNvPr>
          <p:cNvSpPr txBox="1">
            <a:spLocks/>
          </p:cNvSpPr>
          <p:nvPr/>
        </p:nvSpPr>
        <p:spPr bwMode="auto">
          <a:xfrm>
            <a:off x="3280361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5AB90CE-616C-7C4C-900C-3BE762A110BA}"/>
              </a:ext>
            </a:extLst>
          </p:cNvPr>
          <p:cNvSpPr txBox="1">
            <a:spLocks/>
          </p:cNvSpPr>
          <p:nvPr/>
        </p:nvSpPr>
        <p:spPr bwMode="auto">
          <a:xfrm>
            <a:off x="6177940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B738E19-AF36-9F47-84D4-6CA113150CC4}"/>
              </a:ext>
            </a:extLst>
          </p:cNvPr>
          <p:cNvSpPr txBox="1">
            <a:spLocks/>
          </p:cNvSpPr>
          <p:nvPr/>
        </p:nvSpPr>
        <p:spPr bwMode="auto">
          <a:xfrm>
            <a:off x="9051768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87A4911-24D9-CD4C-852E-BF15D54A09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14047B5-1622-6C4C-978F-CDE8D65935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1BFEF7E-AEED-8895-E7EE-9549B66AE1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backgrou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424DA5F-1115-3841-8BB1-49B5CF7735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5A8ECF-F7E1-8894-2D9D-FFCE6E8015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557" y="251215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03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backgroun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F055F6D-BBE6-8946-8BD5-E61D1C066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9F4CD5F-C649-FEA1-4F72-3874EA90C2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557" y="251215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69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23F68B-8383-1048-A2B1-993C05E9F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4492002"/>
            <a:ext cx="9753600" cy="110377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48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19D0FFD-3045-FA47-8FE7-D7635B9CF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C432AEF-EC9D-C6B5-30AE-590D1913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7824" y="1306511"/>
            <a:ext cx="6716352" cy="23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7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CA8969-55EF-5C4F-B489-FE161DB9B338}"/>
              </a:ext>
            </a:extLst>
          </p:cNvPr>
          <p:cNvSpPr>
            <a:spLocks noGrp="1"/>
          </p:cNvSpPr>
          <p:nvPr>
            <p:ph type="ctrTitle" idx="4294967295" hasCustomPrompt="1"/>
          </p:nvPr>
        </p:nvSpPr>
        <p:spPr>
          <a:xfrm>
            <a:off x="1374775" y="1227052"/>
            <a:ext cx="9442450" cy="3703637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1" i="0" baseline="0">
                <a:solidFill>
                  <a:schemeClr val="tx1"/>
                </a:solidFill>
                <a:latin typeface="IBM Plex Sans" panose="020B0503050203000203" pitchFamily="34" charset="77"/>
                <a:cs typeface="IBM Plex Sans" panose="020B0503050203000203" pitchFamily="34" charset="77"/>
              </a:defRPr>
            </a:lvl1pPr>
          </a:lstStyle>
          <a:p>
            <a:r>
              <a:rPr lang="en-US" sz="4800" dirty="0"/>
              <a:t>“A very wise and interesting quote from someone great can go in this text box.”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0CE5376-92BC-A148-80C1-38A04D9566FD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374775" y="4930689"/>
            <a:ext cx="9442450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IBM Plex Sans" panose="020B0503050203000203" pitchFamily="34" charset="77"/>
                <a:cs typeface="IBM Plex Sans" panose="020B050305020300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solidFill>
                  <a:schemeClr val="tx1"/>
                </a:solidFill>
              </a:rPr>
              <a:t>Person or Company Logo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96807E-1668-734B-8931-7473D81D5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9F1B02F-4175-EBDA-3A3F-FAD49B63BE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18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 including Redgate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23F68B-8383-1048-A2B1-993C05E9F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3883647"/>
            <a:ext cx="10880436" cy="110377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48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404A1EA-4284-C14B-BEE7-131E0906F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5215084"/>
            <a:ext cx="12192000" cy="95368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268C9AD-EBC9-3049-B55E-9B6F5A0EC8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5298593"/>
            <a:ext cx="12192000" cy="953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79AAE0-2AF6-B049-A2CA-D929BA0E7B6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26781" y="5920929"/>
            <a:ext cx="1780701" cy="42397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ED7557A-8B38-4D93-377D-1C91B1D4E0A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7824" y="1306511"/>
            <a:ext cx="6716352" cy="23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75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A499BE-5785-8240-9D7C-DA5C98449F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6C5A907-3D77-1EEF-4B69-6DB8AD40AF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34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d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AEB030-6D69-444A-91BD-2A6CCC716C0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222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D78C34BA-89C2-E843-8A42-E0E973E54C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4C4303D-24D8-0C48-8534-7D4F90E57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91" y="1822720"/>
            <a:ext cx="7982322" cy="1935532"/>
          </a:xfrm>
        </p:spPr>
        <p:txBody>
          <a:bodyPr anchor="t">
            <a:noAutofit/>
          </a:bodyPr>
          <a:lstStyle>
            <a:lvl1pPr>
              <a:defRPr sz="44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Session Title goes here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173C2FE-439C-504B-8A21-0A47159878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9422CC-1FF2-044C-B022-72564F9AFB0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35EFF6-1025-6640-AE23-96FB71F54E7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3BD0868-EB84-F847-98AA-8CB70FF9E09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74F1-3EF4-A94A-8613-21DBCF0377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226B660-E4BF-7893-1ED9-D9A9E84D65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91" y="476513"/>
            <a:ext cx="3131055" cy="111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8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6159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Thank you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646216E-29A2-A247-99CE-007D6791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2" y="1492289"/>
            <a:ext cx="9383009" cy="1935532"/>
          </a:xfrm>
        </p:spPr>
        <p:txBody>
          <a:bodyPr anchor="t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DAEEB18-91E1-3F42-8D9D-5E0430A0A87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07DC7BE-7B26-414F-BD9B-3EC87D60A02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E4D425-6254-6148-803B-C779BD3C6F7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6E52DF-C0F3-FF4F-92BC-DEBBB26F991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9787C4E-E72C-4349-9E85-A44A9A570A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9B98E7-C32B-121F-2F08-9B9D335EB9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43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valuation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958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Session 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DC7C0B-1DAB-8544-9AAC-01B9C9A7782C}"/>
              </a:ext>
            </a:extLst>
          </p:cNvPr>
          <p:cNvSpPr txBox="1"/>
          <p:nvPr userDrawn="1"/>
        </p:nvSpPr>
        <p:spPr>
          <a:xfrm>
            <a:off x="424542" y="1415901"/>
            <a:ext cx="9583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4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Your feedback is important to us</a:t>
            </a:r>
            <a:endParaRPr lang="en-US" sz="4400" b="0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F22D7A-4ABB-6245-8502-18EF607330AF}"/>
              </a:ext>
            </a:extLst>
          </p:cNvPr>
          <p:cNvSpPr txBox="1"/>
          <p:nvPr userDrawn="1"/>
        </p:nvSpPr>
        <p:spPr>
          <a:xfrm>
            <a:off x="424542" y="2849937"/>
            <a:ext cx="9583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i="0" dirty="0">
                <a:solidFill>
                  <a:schemeClr val="bg1"/>
                </a:solidFill>
                <a:latin typeface="IBM Plex Sans" panose="020B0503050203000203" pitchFamily="34" charset="77"/>
              </a:rPr>
              <a:t>Evaluate this session at:</a:t>
            </a:r>
            <a:endParaRPr lang="en-US" sz="3600" b="1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E4081F-E44B-FA48-BB8E-521074B70AEA}"/>
              </a:ext>
            </a:extLst>
          </p:cNvPr>
          <p:cNvSpPr txBox="1"/>
          <p:nvPr userDrawn="1"/>
        </p:nvSpPr>
        <p:spPr>
          <a:xfrm>
            <a:off x="424542" y="3510337"/>
            <a:ext cx="1099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0" i="0" dirty="0" err="1">
                <a:solidFill>
                  <a:schemeClr val="bg1"/>
                </a:solidFill>
                <a:latin typeface="IBM Plex Sans" panose="020B0503050203000203" pitchFamily="34" charset="77"/>
              </a:rPr>
              <a:t>www.PASSDataComminitySummit.com</a:t>
            </a:r>
            <a:r>
              <a:rPr lang="en-GB" sz="36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/evaluation</a:t>
            </a:r>
            <a:endParaRPr lang="en-US" sz="3600" b="0" i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47D9DA39-36BD-8E49-A976-636CEBB38A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7525CB8-9CDD-F85C-60A1-D2F20CB44D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81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peaker bi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D74CC3F-A43F-7247-8851-E564DEF82E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11C7A70-1A27-8C46-B788-29D87A2F4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541" y="451274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FirstName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6227045-61B0-9544-AEC3-12180B09CB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4542" y="2560817"/>
            <a:ext cx="6035252" cy="64778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F2F2F2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977B7-700C-C149-8536-47AB7A78B9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2439" y="378547"/>
            <a:ext cx="1685405" cy="1685405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1A01EAC-4EF5-AE4F-970E-2C5157FA52A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58416" y="4673325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FB3DAF8-2F81-FC4D-8CB0-8C0CB1AA4D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58416" y="5244387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5B937D2-7E45-D541-81A8-ABE79A9EE49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8416" y="5815450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40AA7F0-2E50-214E-9056-0901887064E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542" y="3219579"/>
            <a:ext cx="6035252" cy="64778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3600" b="0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FA89709-76ED-224C-B4CF-D07271807F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702439" y="2560817"/>
            <a:ext cx="5065019" cy="3085857"/>
          </a:xfrm>
        </p:spPr>
        <p:txBody>
          <a:bodyPr anchor="t">
            <a:normAutofit/>
          </a:bodyPr>
          <a:lstStyle>
            <a:lvl1pPr marL="342900" indent="-34290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400" b="0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85A32D5-82BC-8243-A21F-A7FEE33FAEA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4541" y="1933620"/>
            <a:ext cx="6035251" cy="40481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1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2292A1-4831-8743-BC26-539A0B8200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4541" y="1168024"/>
            <a:ext cx="6137624" cy="71188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lvl="0"/>
            <a:r>
              <a:rPr lang="en-US" dirty="0" err="1"/>
              <a:t>SecondName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F66AFE-DBBF-D331-B3AA-BC7FD06D95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1280" y="6000710"/>
            <a:ext cx="1670600" cy="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1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5257CC-89CF-8B42-B35F-1821834E5E2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222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13DEB97-CA98-F64B-94A4-A309B88C1F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7A40D8D-6172-2A4B-8BAF-FBC8AD247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91" y="1822720"/>
            <a:ext cx="7982322" cy="1935532"/>
          </a:xfrm>
        </p:spPr>
        <p:txBody>
          <a:bodyPr anchor="t">
            <a:noAutofit/>
          </a:bodyPr>
          <a:lstStyle>
            <a:lvl1pPr>
              <a:defRPr sz="44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Session Title goes here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D3C604D-DE78-654D-AE05-9880A68AB70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1145B4D-CDDC-A141-962C-D3A6C5DAAF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DD311C-2B1E-7E4F-984B-5CE909C5D7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42615F9-6222-F34E-8DAC-4784780DE9B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D1B286-D253-774E-B8AF-7718373030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76257D3-DD2C-57FE-EE41-1B5FA3F171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91" y="476513"/>
            <a:ext cx="3131055" cy="111037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D4319C9-27C2-E76E-8901-D50CC9959A6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35123" y="0"/>
            <a:ext cx="5556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72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d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AEB030-6D69-444A-91BD-2A6CCC716C0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222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D78C34BA-89C2-E843-8A42-E0E973E54C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4C4303D-24D8-0C48-8534-7D4F90E57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91" y="1822720"/>
            <a:ext cx="7982322" cy="1935532"/>
          </a:xfrm>
        </p:spPr>
        <p:txBody>
          <a:bodyPr anchor="t">
            <a:noAutofit/>
          </a:bodyPr>
          <a:lstStyle>
            <a:lvl1pPr>
              <a:defRPr sz="44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Session Title goes here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173C2FE-439C-504B-8A21-0A471598781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9422CC-1FF2-044C-B022-72564F9AFB0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35EFF6-1025-6640-AE23-96FB71F54E7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3BD0868-EB84-F847-98AA-8CB70FF9E09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rgbClr val="E6E6E6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74F1-3EF4-A94A-8613-21DBCF0377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226B660-E4BF-7893-1ED9-D9A9E84D65E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091" y="476513"/>
            <a:ext cx="3131055" cy="111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33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D74CC3F-A43F-7247-8851-E564DEF82E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11C7A70-1A27-8C46-B788-29D87A2F4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541" y="451274"/>
            <a:ext cx="6137623" cy="71188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FirstName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6227045-61B0-9544-AEC3-12180B09CB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4542" y="2560817"/>
            <a:ext cx="6035252" cy="64778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F2F2F2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Job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977B7-700C-C149-8536-47AB7A78B9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02439" y="378547"/>
            <a:ext cx="1685405" cy="1685405"/>
          </a:xfrm>
          <a:prstGeom prst="ellipse">
            <a:avLst/>
          </a:prstGeom>
          <a:solidFill>
            <a:schemeClr val="tx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1A01EAC-4EF5-AE4F-970E-2C5157FA52A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58416" y="4673325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FB3DAF8-2F81-FC4D-8CB0-8C0CB1AA4D4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58416" y="5244387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5B937D2-7E45-D541-81A8-ABE79A9EE49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8416" y="5815450"/>
            <a:ext cx="5601378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rgbClr val="E6E6E6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40AA7F0-2E50-214E-9056-0901887064E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542" y="3219579"/>
            <a:ext cx="6035252" cy="64778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3600" b="0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Organization/business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FA89709-76ED-224C-B4CF-D07271807FC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702439" y="2560817"/>
            <a:ext cx="5065019" cy="3085857"/>
          </a:xfrm>
        </p:spPr>
        <p:txBody>
          <a:bodyPr anchor="t">
            <a:normAutofit/>
          </a:bodyPr>
          <a:lstStyle>
            <a:lvl1pPr marL="342900" indent="-342900">
              <a:lnSpc>
                <a:spcPct val="114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400" b="0" i="0">
                <a:solidFill>
                  <a:srgbClr val="E6E6E6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About you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85A32D5-82BC-8243-A21F-A7FEE33FAEA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4541" y="1933620"/>
            <a:ext cx="6035251" cy="40481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400" b="1" i="0">
                <a:solidFill>
                  <a:schemeClr val="tx1"/>
                </a:solidFill>
                <a:latin typeface="IBM Plex Sans SemiBold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Pronouns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2292A1-4831-8743-BC26-539A0B8200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4541" y="1168024"/>
            <a:ext cx="6137624" cy="71188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 i="0">
                <a:solidFill>
                  <a:srgbClr val="F2F2F2"/>
                </a:solidFill>
                <a:latin typeface="IBM Plex Sans" panose="020B0503050203000203" pitchFamily="34" charset="77"/>
              </a:defRPr>
            </a:lvl1pPr>
          </a:lstStyle>
          <a:p>
            <a:pPr lvl="0"/>
            <a:r>
              <a:rPr lang="en-US" dirty="0" err="1"/>
              <a:t>SecondName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F66AFE-DBBF-D331-B3AA-BC7FD06D95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1280" y="6000710"/>
            <a:ext cx="1670600" cy="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77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luation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9583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Session 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DC7C0B-1DAB-8544-9AAC-01B9C9A7782C}"/>
              </a:ext>
            </a:extLst>
          </p:cNvPr>
          <p:cNvSpPr txBox="1"/>
          <p:nvPr userDrawn="1"/>
        </p:nvSpPr>
        <p:spPr>
          <a:xfrm>
            <a:off x="424542" y="1415901"/>
            <a:ext cx="9583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4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Your feedback is important to us</a:t>
            </a:r>
            <a:endParaRPr lang="en-US" sz="4400" b="0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F22D7A-4ABB-6245-8502-18EF607330AF}"/>
              </a:ext>
            </a:extLst>
          </p:cNvPr>
          <p:cNvSpPr txBox="1"/>
          <p:nvPr userDrawn="1"/>
        </p:nvSpPr>
        <p:spPr>
          <a:xfrm>
            <a:off x="424542" y="2849937"/>
            <a:ext cx="9583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i="0" dirty="0">
                <a:solidFill>
                  <a:schemeClr val="bg1"/>
                </a:solidFill>
                <a:latin typeface="IBM Plex Sans" panose="020B0503050203000203" pitchFamily="34" charset="77"/>
              </a:rPr>
              <a:t>Evaluate this session at:</a:t>
            </a:r>
            <a:endParaRPr lang="en-US" sz="3600" b="1" i="0" dirty="0">
              <a:solidFill>
                <a:schemeClr val="bg1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E4081F-E44B-FA48-BB8E-521074B70AEA}"/>
              </a:ext>
            </a:extLst>
          </p:cNvPr>
          <p:cNvSpPr txBox="1"/>
          <p:nvPr userDrawn="1"/>
        </p:nvSpPr>
        <p:spPr>
          <a:xfrm>
            <a:off x="424542" y="3510337"/>
            <a:ext cx="1099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0" i="0" dirty="0" err="1">
                <a:solidFill>
                  <a:schemeClr val="bg1"/>
                </a:solidFill>
                <a:latin typeface="IBM Plex Sans" panose="020B0503050203000203" pitchFamily="34" charset="77"/>
              </a:rPr>
              <a:t>www.PASSDataCommunitySummit.com</a:t>
            </a:r>
            <a:r>
              <a:rPr lang="en-GB" sz="3600" b="0" i="0" dirty="0">
                <a:solidFill>
                  <a:schemeClr val="bg1"/>
                </a:solidFill>
                <a:latin typeface="IBM Plex Sans" panose="020B0503050203000203" pitchFamily="34" charset="77"/>
              </a:rPr>
              <a:t>/evaluation</a:t>
            </a:r>
            <a:endParaRPr lang="en-US" sz="3600" b="0" i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47D9DA39-36BD-8E49-A976-636CEBB38A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7525CB8-9CDD-F85C-60A1-D2F20CB44D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349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47C13-BA7D-D148-A962-B2F9880B3816}"/>
              </a:ext>
            </a:extLst>
          </p:cNvPr>
          <p:cNvSpPr txBox="1"/>
          <p:nvPr userDrawn="1"/>
        </p:nvSpPr>
        <p:spPr>
          <a:xfrm>
            <a:off x="424542" y="537285"/>
            <a:ext cx="6159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0" b="1" i="0" dirty="0">
                <a:solidFill>
                  <a:schemeClr val="bg1"/>
                </a:solidFill>
                <a:latin typeface="IBM Plex Sans" panose="020B0503050203000203" pitchFamily="34" charset="77"/>
                <a:ea typeface="Roboto" panose="02000000000000000000" pitchFamily="2" charset="0"/>
              </a:rPr>
              <a:t>Thank you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646216E-29A2-A247-99CE-007D6791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2" y="1492289"/>
            <a:ext cx="9383009" cy="1935532"/>
          </a:xfrm>
        </p:spPr>
        <p:txBody>
          <a:bodyPr anchor="t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DAEEB18-91E1-3F42-8D9D-5E0430A0A87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4542" y="4141591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07DC7BE-7B26-414F-BD9B-3EC87D60A02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24542" y="4712653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E4D425-6254-6148-803B-C779BD3C6F7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542" y="5283715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6E52DF-C0F3-FF4F-92BC-DEBBB26F991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4542" y="5854778"/>
            <a:ext cx="6116493" cy="5532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IBM Plex Sans Medium" panose="020B0503050203000203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Contact/social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9787C4E-E72C-4349-9E85-A44A9A570A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9B98E7-C32B-121F-2F08-9B9D335EB9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3030" y="5226519"/>
            <a:ext cx="3331522" cy="11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2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A499BE-5785-8240-9D7C-DA5C98449F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6C5A907-3D77-1EEF-4B69-6DB8AD40AF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61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cu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5DB589BE-A367-2047-95EA-84FEE887D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4D6B17-7F4B-2A48-907F-6DA54CEF10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29400" y="0"/>
            <a:ext cx="55626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88C8A19-1FB7-1C42-8E4E-03FB1EF9402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9047" y="1825625"/>
            <a:ext cx="8165353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B51CA4F-FDD7-FD40-A833-669B9D88A65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4251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90C9966-75CA-7E49-8F85-51BA761C9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9F1BC0-0EB0-E844-8085-78C9D9C9E52E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9F0E3-6643-7244-9CD7-28E5FA1D17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07182" y="6070600"/>
            <a:ext cx="2155343" cy="540214"/>
          </a:xfrm>
          <a:prstGeom prst="rect">
            <a:avLst/>
          </a:prstGeom>
        </p:spPr>
      </p:pic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F1904EC-DB1E-124C-8A9D-EED00AC593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635418" y="-2458"/>
            <a:ext cx="5556582" cy="685683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9865"/>
              <a:gd name="connsiteY0" fmla="*/ 10333 h 10333"/>
              <a:gd name="connsiteX1" fmla="*/ 2000 w 9865"/>
              <a:gd name="connsiteY1" fmla="*/ 333 h 10333"/>
              <a:gd name="connsiteX2" fmla="*/ 9865 w 9865"/>
              <a:gd name="connsiteY2" fmla="*/ 0 h 10333"/>
              <a:gd name="connsiteX3" fmla="*/ 8000 w 9865"/>
              <a:gd name="connsiteY3" fmla="*/ 10333 h 10333"/>
              <a:gd name="connsiteX4" fmla="*/ 0 w 9865"/>
              <a:gd name="connsiteY4" fmla="*/ 10333 h 10333"/>
              <a:gd name="connsiteX0" fmla="*/ 0 w 10000"/>
              <a:gd name="connsiteY0" fmla="*/ 10590 h 10590"/>
              <a:gd name="connsiteX1" fmla="*/ 2573 w 10000"/>
              <a:gd name="connsiteY1" fmla="*/ 0 h 10590"/>
              <a:gd name="connsiteX2" fmla="*/ 10000 w 10000"/>
              <a:gd name="connsiteY2" fmla="*/ 590 h 10590"/>
              <a:gd name="connsiteX3" fmla="*/ 8109 w 10000"/>
              <a:gd name="connsiteY3" fmla="*/ 10590 h 10590"/>
              <a:gd name="connsiteX4" fmla="*/ 0 w 10000"/>
              <a:gd name="connsiteY4" fmla="*/ 10590 h 10590"/>
              <a:gd name="connsiteX0" fmla="*/ 0 w 10000"/>
              <a:gd name="connsiteY0" fmla="*/ 10659 h 10659"/>
              <a:gd name="connsiteX1" fmla="*/ 2573 w 10000"/>
              <a:gd name="connsiteY1" fmla="*/ 69 h 10659"/>
              <a:gd name="connsiteX2" fmla="*/ 10000 w 10000"/>
              <a:gd name="connsiteY2" fmla="*/ 659 h 10659"/>
              <a:gd name="connsiteX3" fmla="*/ 8109 w 10000"/>
              <a:gd name="connsiteY3" fmla="*/ 10659 h 10659"/>
              <a:gd name="connsiteX4" fmla="*/ 0 w 10000"/>
              <a:gd name="connsiteY4" fmla="*/ 10659 h 10659"/>
              <a:gd name="connsiteX0" fmla="*/ 0 w 13230"/>
              <a:gd name="connsiteY0" fmla="*/ 11093 h 11093"/>
              <a:gd name="connsiteX1" fmla="*/ 2573 w 13230"/>
              <a:gd name="connsiteY1" fmla="*/ 503 h 11093"/>
              <a:gd name="connsiteX2" fmla="*/ 13230 w 13230"/>
              <a:gd name="connsiteY2" fmla="*/ 56 h 11093"/>
              <a:gd name="connsiteX3" fmla="*/ 8109 w 13230"/>
              <a:gd name="connsiteY3" fmla="*/ 11093 h 11093"/>
              <a:gd name="connsiteX4" fmla="*/ 0 w 13230"/>
              <a:gd name="connsiteY4" fmla="*/ 11093 h 11093"/>
              <a:gd name="connsiteX0" fmla="*/ 0 w 13273"/>
              <a:gd name="connsiteY0" fmla="*/ 11093 h 14026"/>
              <a:gd name="connsiteX1" fmla="*/ 2573 w 13273"/>
              <a:gd name="connsiteY1" fmla="*/ 503 h 14026"/>
              <a:gd name="connsiteX2" fmla="*/ 13230 w 13273"/>
              <a:gd name="connsiteY2" fmla="*/ 56 h 14026"/>
              <a:gd name="connsiteX3" fmla="*/ 13273 w 13273"/>
              <a:gd name="connsiteY3" fmla="*/ 14026 h 14026"/>
              <a:gd name="connsiteX4" fmla="*/ 0 w 13273"/>
              <a:gd name="connsiteY4" fmla="*/ 11093 h 14026"/>
              <a:gd name="connsiteX0" fmla="*/ 0 w 14228"/>
              <a:gd name="connsiteY0" fmla="*/ 14169 h 14169"/>
              <a:gd name="connsiteX1" fmla="*/ 3528 w 14228"/>
              <a:gd name="connsiteY1" fmla="*/ 503 h 14169"/>
              <a:gd name="connsiteX2" fmla="*/ 14185 w 14228"/>
              <a:gd name="connsiteY2" fmla="*/ 56 h 14169"/>
              <a:gd name="connsiteX3" fmla="*/ 14228 w 14228"/>
              <a:gd name="connsiteY3" fmla="*/ 14026 h 14169"/>
              <a:gd name="connsiteX4" fmla="*/ 0 w 14228"/>
              <a:gd name="connsiteY4" fmla="*/ 14169 h 14169"/>
              <a:gd name="connsiteX0" fmla="*/ 0 w 14384"/>
              <a:gd name="connsiteY0" fmla="*/ 13982 h 14026"/>
              <a:gd name="connsiteX1" fmla="*/ 3684 w 14384"/>
              <a:gd name="connsiteY1" fmla="*/ 503 h 14026"/>
              <a:gd name="connsiteX2" fmla="*/ 14341 w 14384"/>
              <a:gd name="connsiteY2" fmla="*/ 56 h 14026"/>
              <a:gd name="connsiteX3" fmla="*/ 14384 w 14384"/>
              <a:gd name="connsiteY3" fmla="*/ 14026 h 14026"/>
              <a:gd name="connsiteX4" fmla="*/ 0 w 14384"/>
              <a:gd name="connsiteY4" fmla="*/ 13982 h 14026"/>
              <a:gd name="connsiteX0" fmla="*/ 0 w 14376"/>
              <a:gd name="connsiteY0" fmla="*/ 13982 h 13987"/>
              <a:gd name="connsiteX1" fmla="*/ 3684 w 14376"/>
              <a:gd name="connsiteY1" fmla="*/ 503 h 13987"/>
              <a:gd name="connsiteX2" fmla="*/ 14341 w 14376"/>
              <a:gd name="connsiteY2" fmla="*/ 56 h 13987"/>
              <a:gd name="connsiteX3" fmla="*/ 14376 w 14376"/>
              <a:gd name="connsiteY3" fmla="*/ 13987 h 13987"/>
              <a:gd name="connsiteX4" fmla="*/ 0 w 14376"/>
              <a:gd name="connsiteY4" fmla="*/ 13982 h 13987"/>
              <a:gd name="connsiteX0" fmla="*/ 0 w 14376"/>
              <a:gd name="connsiteY0" fmla="*/ 13934 h 13939"/>
              <a:gd name="connsiteX1" fmla="*/ 7307 w 14376"/>
              <a:gd name="connsiteY1" fmla="*/ 3955 h 13939"/>
              <a:gd name="connsiteX2" fmla="*/ 14341 w 14376"/>
              <a:gd name="connsiteY2" fmla="*/ 8 h 13939"/>
              <a:gd name="connsiteX3" fmla="*/ 14376 w 14376"/>
              <a:gd name="connsiteY3" fmla="*/ 13939 h 13939"/>
              <a:gd name="connsiteX4" fmla="*/ 0 w 14376"/>
              <a:gd name="connsiteY4" fmla="*/ 13934 h 13939"/>
              <a:gd name="connsiteX0" fmla="*/ 0 w 14376"/>
              <a:gd name="connsiteY0" fmla="*/ 13947 h 13952"/>
              <a:gd name="connsiteX1" fmla="*/ 7307 w 14376"/>
              <a:gd name="connsiteY1" fmla="*/ 3968 h 13952"/>
              <a:gd name="connsiteX2" fmla="*/ 14341 w 14376"/>
              <a:gd name="connsiteY2" fmla="*/ 21 h 13952"/>
              <a:gd name="connsiteX3" fmla="*/ 14376 w 14376"/>
              <a:gd name="connsiteY3" fmla="*/ 13952 h 13952"/>
              <a:gd name="connsiteX4" fmla="*/ 0 w 14376"/>
              <a:gd name="connsiteY4" fmla="*/ 13947 h 13952"/>
              <a:gd name="connsiteX0" fmla="*/ 0 w 14376"/>
              <a:gd name="connsiteY0" fmla="*/ 13948 h 13953"/>
              <a:gd name="connsiteX1" fmla="*/ 7307 w 14376"/>
              <a:gd name="connsiteY1" fmla="*/ 3969 h 13953"/>
              <a:gd name="connsiteX2" fmla="*/ 14341 w 14376"/>
              <a:gd name="connsiteY2" fmla="*/ 22 h 13953"/>
              <a:gd name="connsiteX3" fmla="*/ 14376 w 14376"/>
              <a:gd name="connsiteY3" fmla="*/ 13953 h 13953"/>
              <a:gd name="connsiteX4" fmla="*/ 0 w 14376"/>
              <a:gd name="connsiteY4" fmla="*/ 13948 h 13953"/>
              <a:gd name="connsiteX0" fmla="*/ 0 w 14376"/>
              <a:gd name="connsiteY0" fmla="*/ 13652 h 13657"/>
              <a:gd name="connsiteX1" fmla="*/ 7307 w 14376"/>
              <a:gd name="connsiteY1" fmla="*/ 3673 h 13657"/>
              <a:gd name="connsiteX2" fmla="*/ 13922 w 14376"/>
              <a:gd name="connsiteY2" fmla="*/ 29 h 13657"/>
              <a:gd name="connsiteX3" fmla="*/ 14376 w 14376"/>
              <a:gd name="connsiteY3" fmla="*/ 13657 h 13657"/>
              <a:gd name="connsiteX4" fmla="*/ 0 w 14376"/>
              <a:gd name="connsiteY4" fmla="*/ 13652 h 13657"/>
              <a:gd name="connsiteX0" fmla="*/ 0 w 14376"/>
              <a:gd name="connsiteY0" fmla="*/ 13682 h 13687"/>
              <a:gd name="connsiteX1" fmla="*/ 7307 w 14376"/>
              <a:gd name="connsiteY1" fmla="*/ 3703 h 13687"/>
              <a:gd name="connsiteX2" fmla="*/ 14357 w 14376"/>
              <a:gd name="connsiteY2" fmla="*/ 27 h 13687"/>
              <a:gd name="connsiteX3" fmla="*/ 14376 w 14376"/>
              <a:gd name="connsiteY3" fmla="*/ 13687 h 13687"/>
              <a:gd name="connsiteX4" fmla="*/ 0 w 14376"/>
              <a:gd name="connsiteY4" fmla="*/ 13682 h 13687"/>
              <a:gd name="connsiteX0" fmla="*/ 0 w 14376"/>
              <a:gd name="connsiteY0" fmla="*/ 13960 h 13965"/>
              <a:gd name="connsiteX1" fmla="*/ 7307 w 14376"/>
              <a:gd name="connsiteY1" fmla="*/ 3981 h 13965"/>
              <a:gd name="connsiteX2" fmla="*/ 14365 w 14376"/>
              <a:gd name="connsiteY2" fmla="*/ 21 h 13965"/>
              <a:gd name="connsiteX3" fmla="*/ 14376 w 14376"/>
              <a:gd name="connsiteY3" fmla="*/ 13965 h 13965"/>
              <a:gd name="connsiteX4" fmla="*/ 0 w 14376"/>
              <a:gd name="connsiteY4" fmla="*/ 13960 h 13965"/>
              <a:gd name="connsiteX0" fmla="*/ 0 w 14376"/>
              <a:gd name="connsiteY0" fmla="*/ 13939 h 13944"/>
              <a:gd name="connsiteX1" fmla="*/ 7307 w 14376"/>
              <a:gd name="connsiteY1" fmla="*/ 3960 h 13944"/>
              <a:gd name="connsiteX2" fmla="*/ 14365 w 14376"/>
              <a:gd name="connsiteY2" fmla="*/ 0 h 13944"/>
              <a:gd name="connsiteX3" fmla="*/ 14376 w 14376"/>
              <a:gd name="connsiteY3" fmla="*/ 13944 h 13944"/>
              <a:gd name="connsiteX4" fmla="*/ 0 w 14376"/>
              <a:gd name="connsiteY4" fmla="*/ 13939 h 13944"/>
              <a:gd name="connsiteX0" fmla="*/ 0 w 14376"/>
              <a:gd name="connsiteY0" fmla="*/ 13940 h 13945"/>
              <a:gd name="connsiteX1" fmla="*/ 7307 w 14376"/>
              <a:gd name="connsiteY1" fmla="*/ 3961 h 13945"/>
              <a:gd name="connsiteX2" fmla="*/ 14365 w 14376"/>
              <a:gd name="connsiteY2" fmla="*/ 1 h 13945"/>
              <a:gd name="connsiteX3" fmla="*/ 14376 w 14376"/>
              <a:gd name="connsiteY3" fmla="*/ 13945 h 13945"/>
              <a:gd name="connsiteX4" fmla="*/ 0 w 14376"/>
              <a:gd name="connsiteY4" fmla="*/ 13940 h 13945"/>
              <a:gd name="connsiteX0" fmla="*/ 0 w 14376"/>
              <a:gd name="connsiteY0" fmla="*/ 13940 h 13945"/>
              <a:gd name="connsiteX1" fmla="*/ 7307 w 14376"/>
              <a:gd name="connsiteY1" fmla="*/ 3961 h 13945"/>
              <a:gd name="connsiteX2" fmla="*/ 14365 w 14376"/>
              <a:gd name="connsiteY2" fmla="*/ 1 h 13945"/>
              <a:gd name="connsiteX3" fmla="*/ 14376 w 14376"/>
              <a:gd name="connsiteY3" fmla="*/ 13945 h 13945"/>
              <a:gd name="connsiteX4" fmla="*/ 0 w 14376"/>
              <a:gd name="connsiteY4" fmla="*/ 13940 h 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76" h="13945">
                <a:moveTo>
                  <a:pt x="0" y="13940"/>
                </a:moveTo>
                <a:lnTo>
                  <a:pt x="7307" y="3961"/>
                </a:lnTo>
                <a:cubicBezTo>
                  <a:pt x="9054" y="1086"/>
                  <a:pt x="11232" y="-47"/>
                  <a:pt x="14365" y="1"/>
                </a:cubicBezTo>
                <a:cubicBezTo>
                  <a:pt x="14379" y="4658"/>
                  <a:pt x="14362" y="9288"/>
                  <a:pt x="14376" y="13945"/>
                </a:cubicBezTo>
                <a:lnTo>
                  <a:pt x="0" y="13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5A1E762-B7D5-9F4E-825E-929E1BE50C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AD3BA8-4C2E-494A-A7C7-1F34325CE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6" y="1825625"/>
            <a:ext cx="7418101" cy="4351338"/>
          </a:xfr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906455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7F35519F-A138-7348-B1E9-EE8C0C7B1F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BAB508-2049-044D-A5D7-E06D0673C1AC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8758882-B747-8C4C-B1E8-6F0E169CB6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8" y="492942"/>
            <a:ext cx="4389766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B99AC33-1793-904B-BDB2-3196A47447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2563930" y="-2458"/>
            <a:ext cx="9628068" cy="6860458"/>
          </a:xfrm>
          <a:custGeom>
            <a:avLst/>
            <a:gdLst>
              <a:gd name="connsiteX0" fmla="*/ 5546749 w 9628068"/>
              <a:gd name="connsiteY0" fmla="*/ 0 h 6860458"/>
              <a:gd name="connsiteX1" fmla="*/ 9628068 w 9628068"/>
              <a:gd name="connsiteY1" fmla="*/ 0 h 6860458"/>
              <a:gd name="connsiteX2" fmla="*/ 9628068 w 9628068"/>
              <a:gd name="connsiteY2" fmla="*/ 6860458 h 6860458"/>
              <a:gd name="connsiteX3" fmla="*/ 5546749 w 9628068"/>
              <a:gd name="connsiteY3" fmla="*/ 6860458 h 6860458"/>
              <a:gd name="connsiteX4" fmla="*/ 5546749 w 9628068"/>
              <a:gd name="connsiteY4" fmla="*/ 6856826 h 6860458"/>
              <a:gd name="connsiteX5" fmla="*/ 0 w 9628068"/>
              <a:gd name="connsiteY5" fmla="*/ 6854372 h 6860458"/>
              <a:gd name="connsiteX6" fmla="*/ 2824287 w 9628068"/>
              <a:gd name="connsiteY6" fmla="*/ 1947645 h 6860458"/>
              <a:gd name="connsiteX7" fmla="*/ 5329551 w 9628068"/>
              <a:gd name="connsiteY7" fmla="*/ 2939 h 6860458"/>
              <a:gd name="connsiteX8" fmla="*/ 5546749 w 9628068"/>
              <a:gd name="connsiteY8" fmla="*/ 553 h 686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28068" h="6860458">
                <a:moveTo>
                  <a:pt x="5546749" y="0"/>
                </a:moveTo>
                <a:lnTo>
                  <a:pt x="9628068" y="0"/>
                </a:lnTo>
                <a:lnTo>
                  <a:pt x="9628068" y="6860458"/>
                </a:lnTo>
                <a:lnTo>
                  <a:pt x="5546749" y="6860458"/>
                </a:lnTo>
                <a:lnTo>
                  <a:pt x="5546749" y="6856826"/>
                </a:lnTo>
                <a:lnTo>
                  <a:pt x="0" y="6854372"/>
                </a:lnTo>
                <a:lnTo>
                  <a:pt x="2824287" y="1947645"/>
                </a:lnTo>
                <a:cubicBezTo>
                  <a:pt x="3457330" y="622345"/>
                  <a:pt x="4236791" y="49874"/>
                  <a:pt x="5329551" y="2939"/>
                </a:cubicBezTo>
                <a:lnTo>
                  <a:pt x="5546749" y="55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609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ur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25E5042-9E74-7B4F-ABCD-A2C862194C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BAB508-2049-044D-A5D7-E06D0673C1AC}"/>
              </a:ext>
            </a:extLst>
          </p:cNvPr>
          <p:cNvSpPr txBox="1"/>
          <p:nvPr userDrawn="1"/>
        </p:nvSpPr>
        <p:spPr>
          <a:xfrm>
            <a:off x="145392" y="6362070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 dirty="0">
                <a:latin typeface="IBM Plex Sans" panose="020B0503050203000203" pitchFamily="34" charset="77"/>
              </a:rPr>
              <a:t>#</a:t>
            </a:r>
            <a:r>
              <a:rPr lang="en-GB" sz="1100" b="0" i="0" dirty="0" err="1">
                <a:latin typeface="IBM Plex Sans" panose="020B0503050203000203" pitchFamily="34" charset="77"/>
              </a:rPr>
              <a:t>PASSDataCommunitySummit</a:t>
            </a:r>
            <a:endParaRPr lang="en-US" sz="1100" b="0" i="0" dirty="0" err="1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8758882-B747-8C4C-B1E8-6F0E169CB6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8" y="492942"/>
            <a:ext cx="4389766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E4B61-0172-F648-BAC8-317EEB67A0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63930" y="0"/>
            <a:ext cx="55626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EF6BEB-41F7-824D-89C0-5D375788FE3B}"/>
              </a:ext>
            </a:extLst>
          </p:cNvPr>
          <p:cNvSpPr/>
          <p:nvPr userDrawn="1"/>
        </p:nvSpPr>
        <p:spPr>
          <a:xfrm>
            <a:off x="8126530" y="0"/>
            <a:ext cx="406547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207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4543" y="439583"/>
            <a:ext cx="9753600" cy="4965699"/>
          </a:xfrm>
        </p:spPr>
        <p:txBody>
          <a:bodyPr anchor="t"/>
          <a:lstStyle>
            <a:lvl1pPr algn="l">
              <a:lnSpc>
                <a:spcPct val="120000"/>
              </a:lnSpc>
              <a:defRPr sz="6000" b="1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US" dirty="0"/>
              <a:t>This is a breaker page, it can be used to split topics or highlight something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0D76F5F-7485-2C49-990E-2AAEF0413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FCD1984-290D-6EC5-B176-7742FBE3F3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10"/>
            <a:ext cx="1670600" cy="59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322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eaker page - sub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3417082"/>
            <a:ext cx="10020300" cy="1325563"/>
          </a:xfrm>
        </p:spPr>
        <p:txBody>
          <a:bodyPr>
            <a:normAutofit/>
          </a:bodyPr>
          <a:lstStyle>
            <a:lvl1pPr>
              <a:defRPr sz="4800" b="1" i="0">
                <a:solidFill>
                  <a:schemeClr val="accent2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4735079"/>
            <a:ext cx="10515600" cy="121445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91919"/>
                </a:solidFill>
              </a:defRPr>
            </a:lvl4pPr>
            <a:lvl5pPr>
              <a:defRPr>
                <a:solidFill>
                  <a:srgbClr val="191919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A45083-DB22-304F-B57E-1B684738C2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D6E74E5-AAF6-5DA1-4E6C-953FF0D492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670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h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658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10A372-B547-3F47-9A9A-95AEDE5ECC3F}"/>
              </a:ext>
            </a:extLst>
          </p:cNvPr>
          <p:cNvSpPr txBox="1">
            <a:spLocks/>
          </p:cNvSpPr>
          <p:nvPr/>
        </p:nvSpPr>
        <p:spPr bwMode="auto">
          <a:xfrm>
            <a:off x="394657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6DBC66-16A3-B04D-A8D8-8142C635BA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069901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61176B2-2101-B04E-8F1B-08B5EA78EEE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8154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AB31DB-FBDF-F643-B30C-8D0EE6AB2F7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86406" y="4911408"/>
            <a:ext cx="2774963" cy="940593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</a:lstStyle>
          <a:p>
            <a:r>
              <a:rPr lang="en-US" dirty="0"/>
              <a:t>Something goes here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1C2EAD-E3AA-7144-B320-33AFFD6595A1}"/>
              </a:ext>
            </a:extLst>
          </p:cNvPr>
          <p:cNvSpPr txBox="1">
            <a:spLocks/>
          </p:cNvSpPr>
          <p:nvPr/>
        </p:nvSpPr>
        <p:spPr bwMode="auto">
          <a:xfrm>
            <a:off x="3280361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5AB90CE-616C-7C4C-900C-3BE762A110BA}"/>
              </a:ext>
            </a:extLst>
          </p:cNvPr>
          <p:cNvSpPr txBox="1">
            <a:spLocks/>
          </p:cNvSpPr>
          <p:nvPr/>
        </p:nvSpPr>
        <p:spPr bwMode="auto">
          <a:xfrm>
            <a:off x="6177940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B738E19-AF36-9F47-84D4-6CA113150CC4}"/>
              </a:ext>
            </a:extLst>
          </p:cNvPr>
          <p:cNvSpPr txBox="1">
            <a:spLocks/>
          </p:cNvSpPr>
          <p:nvPr/>
        </p:nvSpPr>
        <p:spPr bwMode="auto">
          <a:xfrm>
            <a:off x="9051768" y="4085111"/>
            <a:ext cx="2774963" cy="81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0" i="0" kern="1200">
                <a:solidFill>
                  <a:schemeClr val="accent2"/>
                </a:solidFill>
                <a:latin typeface="gatebase Medium" pitchFamily="2" charset="77"/>
                <a:ea typeface="+mj-ea"/>
                <a:cs typeface="gatebase Medium" pitchFamily="2" charset="77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GB" sz="2800" b="1" i="0" dirty="0">
                <a:solidFill>
                  <a:schemeClr val="tx1"/>
                </a:solidFill>
                <a:latin typeface="IBM Plex Sans" panose="020B0503050203000203" pitchFamily="34" charset="77"/>
              </a:rPr>
              <a:t>Click to edit Master</a:t>
            </a:r>
            <a:endParaRPr lang="en-US" sz="2800" b="1" i="0" dirty="0">
              <a:solidFill>
                <a:schemeClr val="tx1"/>
              </a:solidFill>
              <a:latin typeface="IBM Plex Sans" panose="020B0503050203000203" pitchFamily="34" charset="77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87A4911-24D9-CD4C-852E-BF15D54A09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14047B5-1622-6C4C-978F-CDE8D65935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1BFEF7E-AEED-8895-E7EE-9549B66AE1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430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backgrou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424DA5F-1115-3841-8BB1-49B5CF7735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5A8ECF-F7E1-8894-2D9D-FFCE6E8015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557" y="251215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320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backgroun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F055F6D-BBE6-8946-8BD5-E61D1C066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9F4CD5F-C649-FEA1-4F72-3874EA90C2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557" y="251215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921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23F68B-8383-1048-A2B1-993C05E9F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4492002"/>
            <a:ext cx="9753600" cy="110377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48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19D0FFD-3045-FA47-8FE7-D7635B9CF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C432AEF-EC9D-C6B5-30AE-590D1913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7824" y="1306511"/>
            <a:ext cx="6716352" cy="23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245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4CA8969-55EF-5C4F-B489-FE161DB9B338}"/>
              </a:ext>
            </a:extLst>
          </p:cNvPr>
          <p:cNvSpPr>
            <a:spLocks noGrp="1"/>
          </p:cNvSpPr>
          <p:nvPr>
            <p:ph type="ctrTitle" idx="4294967295" hasCustomPrompt="1"/>
          </p:nvPr>
        </p:nvSpPr>
        <p:spPr>
          <a:xfrm>
            <a:off x="1374775" y="1227052"/>
            <a:ext cx="9442450" cy="3703637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4000" b="1" i="0" baseline="0">
                <a:solidFill>
                  <a:schemeClr val="tx1"/>
                </a:solidFill>
                <a:latin typeface="IBM Plex Sans" panose="020B0503050203000203" pitchFamily="34" charset="77"/>
                <a:cs typeface="IBM Plex Sans" panose="020B0503050203000203" pitchFamily="34" charset="77"/>
              </a:defRPr>
            </a:lvl1pPr>
          </a:lstStyle>
          <a:p>
            <a:r>
              <a:rPr lang="en-US" sz="4800" dirty="0"/>
              <a:t>“A very wise and interesting quote from someone great can go in this text box.”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0CE5376-92BC-A148-80C1-38A04D9566FD}"/>
              </a:ext>
            </a:extLst>
          </p:cNvPr>
          <p:cNvSpPr>
            <a:spLocks noGrp="1"/>
          </p:cNvSpPr>
          <p:nvPr>
            <p:ph type="subTitle" idx="4294967295" hasCustomPrompt="1"/>
          </p:nvPr>
        </p:nvSpPr>
        <p:spPr>
          <a:xfrm>
            <a:off x="1374775" y="4930689"/>
            <a:ext cx="9442450" cy="881063"/>
          </a:xfrm>
        </p:spPr>
        <p:txBody>
          <a:bodyPr/>
          <a:lstStyle>
            <a:lvl1pPr marL="0" indent="0" algn="ctr">
              <a:buNone/>
              <a:defRPr sz="3200" b="0" i="0" baseline="0">
                <a:solidFill>
                  <a:schemeClr val="tx1"/>
                </a:solidFill>
                <a:latin typeface="IBM Plex Sans" panose="020B0503050203000203" pitchFamily="34" charset="77"/>
                <a:cs typeface="IBM Plex Sans" panose="020B050305020300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>
                <a:solidFill>
                  <a:schemeClr val="tx1"/>
                </a:solidFill>
              </a:rPr>
              <a:t>Person or Company Logo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96807E-1668-734B-8931-7473D81D5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91325"/>
            <a:ext cx="12192000" cy="666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9F1B02F-4175-EBDA-3A3F-FAD49B63BE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1280" y="6000709"/>
            <a:ext cx="1670602" cy="5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721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 including Redgate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C23F68B-8383-1048-A2B1-993C05E9F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3883647"/>
            <a:ext cx="10880436" cy="110377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4800" b="0" i="0">
                <a:solidFill>
                  <a:schemeClr val="bg1"/>
                </a:solidFill>
                <a:latin typeface="IBM Plex Sans" panose="020B050305020300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404A1EA-4284-C14B-BEE7-131E0906FB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5215084"/>
            <a:ext cx="12192000" cy="95368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268C9AD-EBC9-3049-B55E-9B6F5A0EC8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5298593"/>
            <a:ext cx="12192000" cy="953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79AAE0-2AF6-B049-A2CA-D929BA0E7B6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26781" y="5920929"/>
            <a:ext cx="1780701" cy="42397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ED7557A-8B38-4D93-377D-1C91B1D4E0A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7824" y="1306511"/>
            <a:ext cx="6716352" cy="23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3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Placeholder 1"/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904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46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65" r:id="rId19"/>
    <p:sldLayoutId id="2147483661" r:id="rId20"/>
    <p:sldLayoutId id="2147483662" r:id="rId21"/>
    <p:sldLayoutId id="2147483663" r:id="rId22"/>
    <p:sldLayoutId id="2147483664" r:id="rId23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 i="0" kern="1200">
          <a:solidFill>
            <a:schemeClr val="accent2"/>
          </a:solidFill>
          <a:latin typeface="IBM Plex Sans" panose="020B0503050203000203" pitchFamily="34" charset="77"/>
          <a:ea typeface="+mj-ea"/>
          <a:cs typeface="IBM Plex Sans" panose="020B0503050203000203" pitchFamily="34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130000"/>
        </a:lnSpc>
        <a:spcBef>
          <a:spcPts val="10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34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1pPr>
      <a:lvl2pPr marL="914400" indent="-4572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8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2pPr>
      <a:lvl3pPr marL="1257300" indent="-3429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4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3pPr>
      <a:lvl4pPr marL="16002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4pPr>
      <a:lvl5pPr marL="20574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Placeholder 1"/>
          <p:cNvSpPr>
            <a:spLocks noGrp="1"/>
          </p:cNvSpPr>
          <p:nvPr>
            <p:ph type="title"/>
          </p:nvPr>
        </p:nvSpPr>
        <p:spPr bwMode="auto">
          <a:xfrm>
            <a:off x="36904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904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592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 i="0" kern="1200">
          <a:solidFill>
            <a:schemeClr val="accent2"/>
          </a:solidFill>
          <a:latin typeface="IBM Plex Sans" panose="020B0503050203000203" pitchFamily="34" charset="77"/>
          <a:ea typeface="+mj-ea"/>
          <a:cs typeface="IBM Plex Sans" panose="020B0503050203000203" pitchFamily="34" charset="77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130000"/>
        </a:lnSpc>
        <a:spcBef>
          <a:spcPts val="10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34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1pPr>
      <a:lvl2pPr marL="914400" indent="-4572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8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2pPr>
      <a:lvl3pPr marL="1257300" indent="-342900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Clr>
          <a:srgbClr val="CC0000"/>
        </a:buClr>
        <a:buSzPct val="100000"/>
        <a:buFont typeface="Arial"/>
        <a:buChar char="•"/>
        <a:defRPr sz="2400" b="0" i="0" kern="1200">
          <a:solidFill>
            <a:schemeClr val="tx1"/>
          </a:solidFill>
          <a:latin typeface="IBM Plex Sans" panose="020B0503050203000203" pitchFamily="34" charset="77"/>
          <a:ea typeface="+mn-ea"/>
          <a:cs typeface="IBM Plex Sans" panose="020B0503050203000203" pitchFamily="34" charset="77"/>
        </a:defRPr>
      </a:lvl3pPr>
      <a:lvl4pPr marL="16002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4pPr>
      <a:lvl5pPr marL="2057400" indent="-228600" algn="l" rtl="0" eaLnBrk="1" fontAlgn="base" hangingPunct="1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0" i="0" kern="1200">
          <a:solidFill>
            <a:srgbClr val="191919"/>
          </a:solidFill>
          <a:latin typeface="Roboto Regular"/>
          <a:ea typeface="+mn-ea"/>
          <a:cs typeface="Roboto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01_FirstWindow.sq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01_SecondWindow.sq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relational-databases/sql-server-deadlocks-guid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02_query_system_health.sq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nd-plan-through-query-store.sq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01_SecondWindow.sql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sv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sv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01_SecondWindow.sql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5" Type="http://schemas.openxmlformats.org/officeDocument/2006/relationships/hyperlink" Target="pagelock-deadlock.xml" TargetMode="External"/><Relationship Id="rId4" Type="http://schemas.openxmlformats.org/officeDocument/2006/relationships/hyperlink" Target="differentaccessorder.xml" TargetMode="Externa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relational-databases/system-stored-procedures/sp-getapplock-transact-sql?view=sql-server-ver15??WT.mc_id=DP-MVP-5440" TargetMode="Externa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03_deadlockdemo_main.sql" TargetMode="Externa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Relationship Id="rId6" Type="http://schemas.openxmlformats.org/officeDocument/2006/relationships/hyperlink" Target="03_deadlockdemo3.sql" TargetMode="External"/><Relationship Id="rId5" Type="http://schemas.openxmlformats.org/officeDocument/2006/relationships/hyperlink" Target="03_deadlockdemo2.sql" TargetMode="External"/><Relationship Id="rId4" Type="http://schemas.openxmlformats.org/officeDocument/2006/relationships/hyperlink" Target="differentaccessorder.xml" TargetMode="Externa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hyperlink" Target="mailto:sequel@sommarskog.se" TargetMode="External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77BB-6A3F-E84A-8AA1-D2B430116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91" y="1822720"/>
            <a:ext cx="8129806" cy="798443"/>
          </a:xfrm>
        </p:spPr>
        <p:txBody>
          <a:bodyPr/>
          <a:lstStyle/>
          <a:p>
            <a:r>
              <a:rPr lang="en-US" dirty="0" err="1"/>
              <a:t>Analysing</a:t>
            </a:r>
            <a:r>
              <a:rPr lang="en-US" dirty="0"/>
              <a:t> and Resolving Deadlocks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01997981-810C-C542-B7BD-9319AA97FCA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Erland </a:t>
            </a:r>
            <a:r>
              <a:rPr lang="en-US" dirty="0" err="1"/>
              <a:t>Sommarskog</a:t>
            </a:r>
            <a:endParaRPr lang="en-US" dirty="0"/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B4CDC43F-CF20-5E49-81D5-D5561AA473FB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Data Platform MVP</a:t>
            </a:r>
          </a:p>
        </p:txBody>
      </p:sp>
      <p:sp>
        <p:nvSpPr>
          <p:cNvPr id="13" name="Content Placeholder 21">
            <a:extLst>
              <a:ext uri="{FF2B5EF4-FFF2-40B4-BE49-F238E27FC236}">
                <a16:creationId xmlns:a16="http://schemas.microsoft.com/office/drawing/2014/main" id="{6E44FB46-2D9A-D443-A470-50D9134023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Content Placeholder 22">
            <a:extLst>
              <a:ext uri="{FF2B5EF4-FFF2-40B4-BE49-F238E27FC236}">
                <a16:creationId xmlns:a16="http://schemas.microsoft.com/office/drawing/2014/main" id="{0E4A5A2C-01A6-084B-884B-90B40739DA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C12A2C8-2ECA-F07A-0501-BC7A79FC4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097" y="5618235"/>
            <a:ext cx="1047506" cy="104750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3829DB-81F0-870C-7E0C-D9F83E438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475560">
            <a:off x="8713645" y="5108267"/>
            <a:ext cx="1047506" cy="104750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190F32A-7CE6-2334-52B2-BE770B62F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868307">
            <a:off x="7822638" y="5140498"/>
            <a:ext cx="1047506" cy="104750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9988924-D88A-29B4-3140-2DE8BEF06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878790">
            <a:off x="9467880" y="3529352"/>
            <a:ext cx="1047506" cy="10475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15EE33-BD02-8AE8-7D44-F82CE36B6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850912">
            <a:off x="10017988" y="2994747"/>
            <a:ext cx="1047506" cy="104750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80A995-5630-A8C0-0EEE-D8AD5CB9F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801716">
            <a:off x="10210060" y="3721490"/>
            <a:ext cx="1047506" cy="104750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FF299CB-FB78-2C4F-49EC-2570E2FD0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4673" y="1684618"/>
            <a:ext cx="1047506" cy="104750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F2151F4-6568-60C3-C903-A540A4268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475560">
            <a:off x="10998425" y="1258509"/>
            <a:ext cx="1047506" cy="1047506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A9EDF73-6F5F-9F8A-C7B5-993D29D26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868307">
            <a:off x="9950919" y="1239542"/>
            <a:ext cx="1047506" cy="104750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287F95C-E9C1-4D40-D88F-5E3A4F5B9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212401">
            <a:off x="10562686" y="5457053"/>
            <a:ext cx="1047506" cy="1047506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D2C8F6A-0D34-2FA8-DEFD-A04CD2C72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687961">
            <a:off x="11046313" y="5011976"/>
            <a:ext cx="1047506" cy="104750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2AF0619-5905-6A85-C120-19B2A9A7D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7080708">
            <a:off x="10211774" y="4930576"/>
            <a:ext cx="1047506" cy="104750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7F9E099-DFF1-2C66-C7E9-7CF503543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7883" y="4336059"/>
            <a:ext cx="717480" cy="71748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242052A-23EA-2D08-8863-F77E63181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37550">
            <a:off x="11286163" y="3380297"/>
            <a:ext cx="764327" cy="71748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9E55D35-AC9F-9AE3-1E51-0D01B84503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518507">
            <a:off x="10811388" y="532258"/>
            <a:ext cx="717480" cy="71748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63F6D11-7B4C-68BE-E21A-3603FE496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887540">
            <a:off x="9110128" y="2629778"/>
            <a:ext cx="717480" cy="71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1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CC9B-D507-6445-8B25-52BE4720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F984-5EE3-D946-985F-107BD24A3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1" y="2560817"/>
            <a:ext cx="6354327" cy="647786"/>
          </a:xfrm>
        </p:spPr>
        <p:txBody>
          <a:bodyPr/>
          <a:lstStyle/>
          <a:p>
            <a:r>
              <a:rPr lang="en-US" sz="3000" b="0" dirty="0">
                <a:latin typeface="IBM Plex Sans" panose="020B0503050203000203" pitchFamily="34" charset="0"/>
              </a:rPr>
              <a:t>SQL Server MVP since 2001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35C4D-5EAB-354D-9225-BC04B576C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4628" y="4606264"/>
            <a:ext cx="5601378" cy="553208"/>
          </a:xfrm>
        </p:spPr>
        <p:txBody>
          <a:bodyPr>
            <a:normAutofit/>
          </a:bodyPr>
          <a:lstStyle/>
          <a:p>
            <a:r>
              <a:rPr lang="en-US" sz="2800" dirty="0"/>
              <a:t>esquel@sommarskog.se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F9E485-670C-8F44-8C45-B464164BEA4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84627" y="5177327"/>
            <a:ext cx="9604596" cy="553208"/>
          </a:xfrm>
        </p:spPr>
        <p:txBody>
          <a:bodyPr>
            <a:noAutofit/>
          </a:bodyPr>
          <a:lstStyle/>
          <a:p>
            <a:r>
              <a:rPr lang="en-US" sz="2800" dirty="0"/>
              <a:t>Slides and scripts: https://www.sommarskog.se/present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77444F-EC04-6443-BB89-E14460A223D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541" y="3161778"/>
            <a:ext cx="8315012" cy="647786"/>
          </a:xfrm>
        </p:spPr>
        <p:txBody>
          <a:bodyPr>
            <a:noAutofit/>
          </a:bodyPr>
          <a:lstStyle/>
          <a:p>
            <a:r>
              <a:rPr lang="en-US" sz="3000" b="0" dirty="0">
                <a:latin typeface="IBM Plex Sans" panose="020B0503050203000203" pitchFamily="34" charset="0"/>
              </a:rPr>
              <a:t>Independent consultant based in Stockholm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070677-7761-B14E-83B4-073DA9F60352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C2EFE8-9608-7346-9A4F-49484BC20A9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Sommarskog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20F1AAD-C4C3-8556-B6C0-8E61B129B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789" y="5296343"/>
            <a:ext cx="368937" cy="36893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22B57B-44EB-808F-4E76-0C03AEF53A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541" y="4704215"/>
            <a:ext cx="457200" cy="494182"/>
          </a:xfrm>
          <a:prstGeom prst="rect">
            <a:avLst/>
          </a:prstGeom>
        </p:spPr>
      </p:pic>
      <p:pic>
        <p:nvPicPr>
          <p:cNvPr id="17" name="Picture Placeholder 12">
            <a:extLst>
              <a:ext uri="{FF2B5EF4-FFF2-40B4-BE49-F238E27FC236}">
                <a16:creationId xmlns:a16="http://schemas.microsoft.com/office/drawing/2014/main" id="{1D98588B-B522-A782-9076-CEC15B41BE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74138" y="627073"/>
            <a:ext cx="2205077" cy="2080958"/>
          </a:xfrm>
          <a:prstGeom prst="ellipse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88687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D6FB36-9665-6978-75E2-839F01B47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 to deadlocks.</a:t>
            </a:r>
          </a:p>
          <a:p>
            <a:r>
              <a:rPr lang="en-GB" dirty="0"/>
              <a:t>How to get information about deadlocks?</a:t>
            </a:r>
          </a:p>
          <a:p>
            <a:r>
              <a:rPr lang="en-GB" dirty="0"/>
              <a:t>Understanding the deadlock XML.</a:t>
            </a:r>
          </a:p>
          <a:p>
            <a:r>
              <a:rPr lang="en-GB" dirty="0"/>
              <a:t>Recap on locking and </a:t>
            </a:r>
            <a:r>
              <a:rPr lang="en-GB"/>
              <a:t>isolation levels.</a:t>
            </a:r>
            <a:endParaRPr lang="en-GB" dirty="0"/>
          </a:p>
          <a:p>
            <a:r>
              <a:rPr lang="en-GB" dirty="0"/>
              <a:t>Means to prevent deadlocks.</a:t>
            </a:r>
          </a:p>
          <a:p>
            <a:r>
              <a:rPr lang="en-GB" dirty="0"/>
              <a:t>Ways to mitigate deadlocks.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2E80B4-1854-AC15-79AC-826CD2EF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D96BD-DCBC-1B36-7719-7A007A31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5794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E0C6-9EE7-4D24-BE16-C82B4340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Deadlock?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D635-2DFD-4EA6-9473-A94BB8D8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 deadlock is when two or more processes are blocking each other in such a way that neither can continue.</a:t>
            </a:r>
          </a:p>
          <a:p>
            <a:r>
              <a:rPr lang="en-GB" dirty="0"/>
              <a:t>SQL Server checks for this condition every five seconds.</a:t>
            </a:r>
          </a:p>
          <a:p>
            <a:r>
              <a:rPr lang="en-GB" dirty="0"/>
              <a:t>If a deadlock is found, SQL Server injects an error in one of the processes, the </a:t>
            </a:r>
            <a:r>
              <a:rPr lang="en-GB" i="1" dirty="0"/>
              <a:t>deadlock victim</a:t>
            </a:r>
            <a:r>
              <a:rPr lang="en-GB" dirty="0"/>
              <a:t>, and rolls back its transaction.</a:t>
            </a:r>
          </a:p>
          <a:p>
            <a:pPr lvl="1"/>
            <a:r>
              <a:rPr lang="en-GB" dirty="0"/>
              <a:t>The deadlock victim is selected based on the amount of log records.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13F5F-F702-4C31-BF93-B2A2C68CDCBB}"/>
              </a:ext>
            </a:extLst>
          </p:cNvPr>
          <p:cNvSpPr txBox="1"/>
          <p:nvPr/>
        </p:nvSpPr>
        <p:spPr>
          <a:xfrm>
            <a:off x="369047" y="1246128"/>
            <a:ext cx="146672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3" action="ppaction://hlinkfile"/>
              </a:rPr>
              <a:t>01_FirstWindow.sql</a:t>
            </a:r>
            <a:br>
              <a:rPr lang="en-GB" sz="1000" dirty="0"/>
            </a:br>
            <a:r>
              <a:rPr lang="en-GB" sz="1000" dirty="0">
                <a:hlinkClick r:id="rId4" action="ppaction://hlinkfile"/>
              </a:rPr>
              <a:t>01_SecondWindow.sql</a:t>
            </a:r>
            <a:endParaRPr lang="en-GB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59A81-4487-43D1-B6B0-B73E75FB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739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FCE193-D59F-E1CB-8A3C-856222DFC023}"/>
              </a:ext>
            </a:extLst>
          </p:cNvPr>
          <p:cNvSpPr/>
          <p:nvPr/>
        </p:nvSpPr>
        <p:spPr>
          <a:xfrm>
            <a:off x="975946" y="4167554"/>
            <a:ext cx="6098932" cy="3604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9099DD-7634-86CB-218A-8E6556EAA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Message 1205 in </a:t>
            </a:r>
            <a:r>
              <a:rPr lang="en-GB" dirty="0" err="1"/>
              <a:t>sys.messages</a:t>
            </a:r>
            <a:r>
              <a:rPr lang="en-GB" dirty="0"/>
              <a:t>: </a:t>
            </a:r>
          </a:p>
          <a:p>
            <a:pPr marL="316800" lvl="1" indent="0">
              <a:buNone/>
            </a:pPr>
            <a:r>
              <a:rPr lang="en-GB" i="1" dirty="0"/>
              <a:t>Transaction (Process ID %d) was deadlocked on </a:t>
            </a:r>
            <a:r>
              <a:rPr lang="en-GB" i="1" dirty="0">
                <a:highlight>
                  <a:srgbClr val="FFFF00"/>
                </a:highlight>
              </a:rPr>
              <a:t>%.*ls</a:t>
            </a:r>
            <a:r>
              <a:rPr lang="en-GB" i="1" dirty="0"/>
              <a:t> resources with another process and has been chosen as the deadlock victim. Rerun the transaction.</a:t>
            </a:r>
          </a:p>
          <a:p>
            <a:r>
              <a:rPr lang="en-GB" dirty="0"/>
              <a:t>According to the </a:t>
            </a:r>
            <a:r>
              <a:rPr lang="en-GB" i="1" dirty="0">
                <a:hlinkClick r:id="rId3"/>
              </a:rPr>
              <a:t>Deadlocks Guide</a:t>
            </a:r>
            <a:r>
              <a:rPr lang="en-GB" dirty="0"/>
              <a:t> in the SQL Server Docs, these are the resources that can deadlock:</a:t>
            </a:r>
          </a:p>
          <a:p>
            <a:pPr lvl="1"/>
            <a:r>
              <a:rPr lang="en-GB" dirty="0"/>
              <a:t>Locks.</a:t>
            </a:r>
          </a:p>
          <a:p>
            <a:pPr lvl="1"/>
            <a:r>
              <a:rPr lang="en-GB" dirty="0"/>
              <a:t>Worker threads.</a:t>
            </a:r>
          </a:p>
          <a:p>
            <a:pPr lvl="1"/>
            <a:r>
              <a:rPr lang="en-GB" dirty="0"/>
              <a:t>Memory.</a:t>
            </a:r>
          </a:p>
          <a:p>
            <a:pPr lvl="1"/>
            <a:r>
              <a:rPr lang="en-GB" dirty="0"/>
              <a:t>Parallel query execution-related resources.</a:t>
            </a:r>
          </a:p>
          <a:p>
            <a:pPr lvl="1"/>
            <a:r>
              <a:rPr lang="en-GB" dirty="0"/>
              <a:t>Multiple Active Result Sets (MARS) resources.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F94752-BF28-DCE8-BB77-E39BCFBB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Resources Can Cause Deadlock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E9507-93D0-682D-1CB2-D067CE1C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D413-B42F-397D-E41A-EF72F6A484A5}"/>
              </a:ext>
            </a:extLst>
          </p:cNvPr>
          <p:cNvSpPr txBox="1"/>
          <p:nvPr/>
        </p:nvSpPr>
        <p:spPr>
          <a:xfrm>
            <a:off x="1928446" y="4101575"/>
            <a:ext cx="6098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6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The only one I will talk about.</a:t>
            </a:r>
          </a:p>
        </p:txBody>
      </p:sp>
    </p:spTree>
    <p:extLst>
      <p:ext uri="{BB962C8B-B14F-4D97-AF65-F5344CB8AC3E}">
        <p14:creationId xmlns:p14="http://schemas.microsoft.com/office/powerpoint/2010/main" val="41938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4992-C3FE-4973-85B3-30F87C99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Deadlocks a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57ED7-3CFC-42C4-BC0F-737DC9C47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Deadlocks occur in the best of families.</a:t>
            </a:r>
          </a:p>
          <a:p>
            <a:r>
              <a:rPr lang="en-GB" dirty="0"/>
              <a:t>An occasional deadlock is no cause for alarm.</a:t>
            </a:r>
          </a:p>
          <a:p>
            <a:r>
              <a:rPr lang="en-GB" dirty="0"/>
              <a:t>But many deadlocks per day often are.</a:t>
            </a:r>
          </a:p>
          <a:p>
            <a:r>
              <a:rPr lang="en-GB" dirty="0"/>
              <a:t>Users don’t like errors about being “deadlock victims”.</a:t>
            </a:r>
          </a:p>
          <a:p>
            <a:r>
              <a:rPr lang="en-GB" dirty="0"/>
              <a:t>Too many deadlocks can reduce throughput, since it takes a few seconds until a deadlock is resolved.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627AE-9FAB-4113-8170-7FE209E8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6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219A38-933C-457B-AFCB-635E1C6D3692}"/>
              </a:ext>
            </a:extLst>
          </p:cNvPr>
          <p:cNvSpPr txBox="1"/>
          <p:nvPr/>
        </p:nvSpPr>
        <p:spPr>
          <a:xfrm>
            <a:off x="370800" y="5118829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Observe the asterisk – without it you get no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100" dirty="0" err="1">
                <a:latin typeface="IBM Plex Sans" panose="020B0503050203000203" pitchFamily="34" charset="0"/>
              </a:rPr>
              <a:t>timestamp_utc</a:t>
            </a:r>
            <a:r>
              <a:rPr lang="en-GB" sz="3100" dirty="0">
                <a:latin typeface="IBM Plex Sans" panose="020B0503050203000203" pitchFamily="34" charset="0"/>
              </a:rPr>
              <a:t> only available on SQL 2017 and later.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3EB1-F5AD-42AD-B251-BE82FC0B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Information about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5E01D-4748-42CD-931C-A4A6E4303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4"/>
            <a:ext cx="10515600" cy="946013"/>
          </a:xfrm>
        </p:spPr>
        <p:txBody>
          <a:bodyPr>
            <a:normAutofit/>
          </a:bodyPr>
          <a:lstStyle/>
          <a:p>
            <a:pPr>
              <a:buClrTx/>
            </a:pPr>
            <a:r>
              <a:rPr lang="en-GB" sz="3100" dirty="0"/>
              <a:t>Easiest is to query the </a:t>
            </a:r>
            <a:r>
              <a:rPr lang="en-GB" sz="3100" b="1" dirty="0" err="1"/>
              <a:t>system_health</a:t>
            </a:r>
            <a:r>
              <a:rPr lang="en-GB" sz="3100" dirty="0"/>
              <a:t> session which is always running.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902FCB-0DEF-4BF7-8993-FB812D4E051E}"/>
              </a:ext>
            </a:extLst>
          </p:cNvPr>
          <p:cNvSpPr txBox="1"/>
          <p:nvPr/>
        </p:nvSpPr>
        <p:spPr>
          <a:xfrm>
            <a:off x="370800" y="2717252"/>
            <a:ext cx="10104912" cy="2419124"/>
          </a:xfrm>
          <a:prstGeom prst="rect">
            <a:avLst/>
          </a:prstGeom>
          <a:solidFill>
            <a:srgbClr val="FFFF96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event_data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timestamp_utc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sys.fn_xe_file_target_read_file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N'system_health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*.</a:t>
            </a:r>
            <a:r>
              <a:rPr lang="en-GB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xel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object_name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xml_deadlock_report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timestamp_utc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endParaRPr lang="en-GB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6FFC6-5734-42A1-9499-5671C721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689F7C-34FF-418B-ADCF-CA630D3A3C0D}"/>
              </a:ext>
            </a:extLst>
          </p:cNvPr>
          <p:cNvCxnSpPr>
            <a:cxnSpLocks/>
          </p:cNvCxnSpPr>
          <p:nvPr/>
        </p:nvCxnSpPr>
        <p:spPr>
          <a:xfrm flipH="1">
            <a:off x="4512623" y="3598223"/>
            <a:ext cx="5452259" cy="0"/>
          </a:xfrm>
          <a:prstGeom prst="straightConnector1">
            <a:avLst/>
          </a:prstGeom>
          <a:ln w="88900">
            <a:solidFill>
              <a:schemeClr val="tx1">
                <a:lumMod val="90000"/>
                <a:lumOff val="10000"/>
                <a:alpha val="7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0A4FFE-DC52-422A-A29E-C56F40272F88}"/>
              </a:ext>
            </a:extLst>
          </p:cNvPr>
          <p:cNvSpPr txBox="1"/>
          <p:nvPr/>
        </p:nvSpPr>
        <p:spPr>
          <a:xfrm>
            <a:off x="8717174" y="4890155"/>
            <a:ext cx="1758538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3" action="ppaction://hlinkfile"/>
              </a:rPr>
              <a:t>02_query_system_health.sql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40654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7716-1227-460A-98E2-19582D14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Azure 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1E70-AFE1-4B35-971C-28B44A67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55697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For Azure SQL DB, run in your </a:t>
            </a:r>
            <a:r>
              <a:rPr lang="en-GB" b="1" u="sng" dirty="0"/>
              <a:t>master</a:t>
            </a:r>
            <a:r>
              <a:rPr lang="en-GB" dirty="0"/>
              <a:t> database: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703C5-41B3-4472-A4C5-40444A2F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D1ED0-183C-4D55-BD4D-86975FC60219}"/>
              </a:ext>
            </a:extLst>
          </p:cNvPr>
          <p:cNvSpPr txBox="1"/>
          <p:nvPr/>
        </p:nvSpPr>
        <p:spPr>
          <a:xfrm>
            <a:off x="370800" y="2389722"/>
            <a:ext cx="10515600" cy="3416320"/>
          </a:xfrm>
          <a:prstGeom prst="rect">
            <a:avLst/>
          </a:prstGeom>
          <a:solidFill>
            <a:srgbClr val="FFFF96"/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CTE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event_data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timestamp_utc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sys</a:t>
            </a:r>
            <a:r>
              <a:rPr lang="en-GB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fn_xe_telemetry_blob_target_read_file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'dl'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NULL))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timestamp_utc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query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         '/event/data[@name="xml_report"]/value/deadlock'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 CTE</a:t>
            </a: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exist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'/event/data[@name="database_name"]/value[.="DBname"]'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982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E1E3-1357-449D-A52B-E2CDCC4D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Tip for SSMS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21DF-505E-44BE-B41C-3CBB3BB3D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avoid having to scroll sideways, turn on word wrap for XML: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17F99-9DF8-4868-9C72-3258D148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10738-33F0-45D7-A2DC-2657CD097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869580"/>
            <a:ext cx="7080936" cy="30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9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E17F-3610-471E-BAFB-D5078EBF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Your Own XEvent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A436A-2584-4B3A-96AD-A330FDA8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Include the event </a:t>
            </a:r>
            <a:r>
              <a:rPr lang="en-GB" b="1" dirty="0" err="1"/>
              <a:t>xml_deadlock_report</a:t>
            </a:r>
            <a:r>
              <a:rPr lang="en-GB" dirty="0"/>
              <a:t>.</a:t>
            </a:r>
          </a:p>
          <a:p>
            <a:r>
              <a:rPr lang="en-GB" dirty="0"/>
              <a:t>Useful if:</a:t>
            </a:r>
          </a:p>
          <a:p>
            <a:pPr lvl="1"/>
            <a:r>
              <a:rPr lang="en-GB" dirty="0"/>
              <a:t>On Azure SQL Managed Instance (write to BLOB store) where you only can access </a:t>
            </a:r>
            <a:r>
              <a:rPr lang="en-GB" dirty="0" err="1"/>
              <a:t>system_health</a:t>
            </a:r>
            <a:r>
              <a:rPr lang="en-GB" dirty="0"/>
              <a:t> through ring buffer which is unreliable.</a:t>
            </a:r>
          </a:p>
          <a:p>
            <a:pPr lvl="1"/>
            <a:r>
              <a:rPr lang="en-GB" dirty="0"/>
              <a:t>You find that querying </a:t>
            </a:r>
            <a:r>
              <a:rPr lang="en-GB" dirty="0" err="1"/>
              <a:t>system_health</a:t>
            </a:r>
            <a:r>
              <a:rPr lang="en-GB" dirty="0"/>
              <a:t> session is slow.</a:t>
            </a:r>
          </a:p>
          <a:p>
            <a:pPr lvl="1"/>
            <a:r>
              <a:rPr lang="en-GB" dirty="0"/>
              <a:t>You want low latency.</a:t>
            </a:r>
          </a:p>
          <a:p>
            <a:r>
              <a:rPr lang="en-GB" dirty="0"/>
              <a:t>Query it in the same way as the </a:t>
            </a:r>
            <a:r>
              <a:rPr lang="en-GB" dirty="0" err="1"/>
              <a:t>system_health</a:t>
            </a:r>
            <a:r>
              <a:rPr lang="en-GB" dirty="0"/>
              <a:t> session. (Don’t forget the asterisk!)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5F57C-CE4A-46CC-9069-AEAE7A3B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6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F90F-2E68-4A19-8EA0-5FDE090C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Means to Get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980D6-9196-43B3-965F-08E0E03C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1950728"/>
          </a:xfrm>
        </p:spPr>
        <p:txBody>
          <a:bodyPr>
            <a:normAutofit fontScale="92500"/>
          </a:bodyPr>
          <a:lstStyle/>
          <a:p>
            <a:r>
              <a:rPr lang="en-GB" dirty="0"/>
              <a:t>Turn on TF 1222 to get XML in the SQL Server </a:t>
            </a:r>
            <a:r>
              <a:rPr lang="en-GB" dirty="0" err="1"/>
              <a:t>errorlog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Simple, but litters the </a:t>
            </a:r>
            <a:r>
              <a:rPr lang="en-GB" dirty="0" err="1"/>
              <a:t>errorlog</a:t>
            </a:r>
            <a:r>
              <a:rPr lang="en-GB" dirty="0"/>
              <a:t>, and information is difficult to read.</a:t>
            </a:r>
          </a:p>
          <a:p>
            <a:r>
              <a:rPr lang="en-GB" dirty="0"/>
              <a:t>Trace/Profiler. Mainly an option on SQL 2005/2008.</a:t>
            </a:r>
          </a:p>
          <a:p>
            <a:pPr lvl="1"/>
            <a:r>
              <a:rPr lang="en-GB" dirty="0"/>
              <a:t>Profiler gives you a graph that looks pretty: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07D55-2DFA-4164-9BC4-93CA0F8B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C1E8F-09C9-428D-8E04-D4CC00450A1D}"/>
              </a:ext>
            </a:extLst>
          </p:cNvPr>
          <p:cNvSpPr txBox="1"/>
          <p:nvPr/>
        </p:nvSpPr>
        <p:spPr>
          <a:xfrm>
            <a:off x="370800" y="5303520"/>
            <a:ext cx="10515600" cy="956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8000" lvl="1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IBM Plex Sans" panose="020B0503050203000203" pitchFamily="34" charset="0"/>
              </a:rPr>
              <a:t>But  it’s confusing and important information is missing. Discard!</a:t>
            </a:r>
          </a:p>
          <a:p>
            <a:pPr marL="55800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latin typeface="IBM Plex Sans" panose="020B0503050203000203" pitchFamily="34" charset="0"/>
              </a:rPr>
              <a:t>The </a:t>
            </a:r>
            <a:r>
              <a:rPr lang="en-GB" sz="2600" dirty="0" err="1">
                <a:latin typeface="IBM Plex Sans" panose="020B0503050203000203" pitchFamily="34" charset="0"/>
              </a:rPr>
              <a:t>TextData</a:t>
            </a:r>
            <a:r>
              <a:rPr lang="en-GB" sz="2600" dirty="0">
                <a:latin typeface="IBM Plex Sans" panose="020B0503050203000203" pitchFamily="34" charset="0"/>
              </a:rPr>
              <a:t> column has the actual XML.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6D0E27-657B-CE0F-984A-BED3D3A1F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03" y="3731895"/>
            <a:ext cx="8865394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6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8982-0061-4FB7-80EC-8F9D3965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Deadlock XML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09985-D12A-4F74-A6A3-40FE74DE222D}"/>
              </a:ext>
            </a:extLst>
          </p:cNvPr>
          <p:cNvSpPr txBox="1"/>
          <p:nvPr/>
        </p:nvSpPr>
        <p:spPr>
          <a:xfrm>
            <a:off x="369047" y="4651918"/>
            <a:ext cx="10550045" cy="163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A31515"/>
                </a:solidFill>
                <a:latin typeface="Consolas" panose="020B0609020204030204" pitchFamily="49" charset="0"/>
              </a:rPr>
              <a:t>victim-list</a:t>
            </a:r>
            <a:r>
              <a:rPr lang="en-GB" sz="3000" dirty="0">
                <a:latin typeface="Hoefler Text" panose="02030602050506020203" pitchFamily="18" charset="0"/>
              </a:rPr>
              <a:t> – </a:t>
            </a:r>
            <a:r>
              <a:rPr lang="en-GB" sz="3400" dirty="0">
                <a:latin typeface="IBM Plex Sans" panose="020B0503050203000203" pitchFamily="34" charset="0"/>
              </a:rPr>
              <a:t>The process(es) that were rolled back.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A31515"/>
                </a:solidFill>
                <a:latin typeface="Consolas" panose="020B0609020204030204" pitchFamily="49" charset="0"/>
              </a:rPr>
              <a:t>process-list</a:t>
            </a:r>
            <a:r>
              <a:rPr lang="en-GB" sz="3000" dirty="0">
                <a:latin typeface="Hoefler Text" panose="02030602050506020203" pitchFamily="18" charset="0"/>
              </a:rPr>
              <a:t> – </a:t>
            </a:r>
            <a:r>
              <a:rPr lang="en-GB" sz="3400" dirty="0">
                <a:latin typeface="IBM Plex Sans" panose="020B0503050203000203" pitchFamily="34" charset="0"/>
              </a:rPr>
              <a:t>Information about the processes.</a:t>
            </a:r>
          </a:p>
          <a:p>
            <a:pPr marL="285750" indent="-28575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rgbClr val="A31515"/>
                </a:solidFill>
                <a:latin typeface="Consolas" panose="020B0609020204030204" pitchFamily="49" charset="0"/>
              </a:rPr>
              <a:t>resource-list</a:t>
            </a:r>
            <a:r>
              <a:rPr lang="en-GB" sz="3000" dirty="0">
                <a:latin typeface="Hoefler Text" panose="02030602050506020203" pitchFamily="18" charset="0"/>
              </a:rPr>
              <a:t> – </a:t>
            </a:r>
            <a:r>
              <a:rPr lang="en-GB" sz="3400" dirty="0">
                <a:latin typeface="IBM Plex Sans" panose="020B0503050203000203" pitchFamily="34" charset="0"/>
              </a:rPr>
              <a:t>The locks involved in the deadlock.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B8628-DC8B-4CE0-A46B-3378CC2F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C17BC7F-FE25-6E03-ECBE-F9A110F67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00" y="1818505"/>
            <a:ext cx="8296275" cy="2762250"/>
          </a:xfrm>
        </p:spPr>
      </p:pic>
    </p:spTree>
    <p:extLst>
      <p:ext uri="{BB962C8B-B14F-4D97-AF65-F5344CB8AC3E}">
        <p14:creationId xmlns:p14="http://schemas.microsoft.com/office/powerpoint/2010/main" val="199726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EF576B-ECF8-CCD8-2087-A9326C7F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 List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F2CEC-D4EC-CC35-D0D8-68AE0023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16F373B-E2A5-F34F-34FE-8BB58E42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7" y="5061719"/>
            <a:ext cx="10395935" cy="111524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One tag for each process in the deadlock.</a:t>
            </a:r>
          </a:p>
          <a:p>
            <a:r>
              <a:rPr lang="en-GB" dirty="0"/>
              <a:t>Many attributes about the processes.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C7D43A-7D0D-4659-0B96-7325E6E5E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47" y="1825625"/>
            <a:ext cx="83724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13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B1BF5-6441-2571-A720-FE05D7783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7" y="3094855"/>
            <a:ext cx="10260853" cy="3082108"/>
          </a:xfrm>
        </p:spPr>
        <p:txBody>
          <a:bodyPr>
            <a:normAutofit/>
          </a:bodyPr>
          <a:lstStyle/>
          <a:p>
            <a:r>
              <a:rPr lang="en-GB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stackFrames</a:t>
            </a:r>
            <a:r>
              <a:rPr lang="en-GB" dirty="0"/>
              <a:t> – SQL Server call stack, only of interest to support engineers. (New in SQL 2022).</a:t>
            </a:r>
          </a:p>
          <a:p>
            <a:r>
              <a:rPr lang="en-GB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executionStack</a:t>
            </a:r>
            <a:r>
              <a:rPr lang="en-GB" sz="3600" dirty="0">
                <a:latin typeface="IBM Plex Sans" panose="020B0503050203000203" pitchFamily="34" charset="0"/>
              </a:rPr>
              <a:t> </a:t>
            </a:r>
            <a:r>
              <a:rPr lang="en-GB" dirty="0">
                <a:latin typeface="IBM Plex Sans" panose="020B0503050203000203" pitchFamily="34" charset="0"/>
              </a:rPr>
              <a:t>and</a:t>
            </a:r>
            <a:r>
              <a:rPr lang="en-GB" sz="3600" dirty="0">
                <a:latin typeface="IBM Plex Sans" panose="020B0503050203000203" pitchFamily="34" charset="0"/>
              </a:rPr>
              <a:t> </a:t>
            </a:r>
            <a:r>
              <a:rPr lang="en-GB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inputbuf</a:t>
            </a:r>
            <a:r>
              <a:rPr lang="en-GB" dirty="0">
                <a:latin typeface="IBM Plex Sans" panose="020B0503050203000203" pitchFamily="34" charset="0"/>
              </a:rPr>
              <a:t> – information about the submitted command and current statement.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27252B-E9B0-E8BE-13DA-D68026EB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Elements in the Process Tag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1F013-09BE-922F-CE16-17A49687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6DA968-17CC-4571-4E72-CDFA92902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7" y="1825200"/>
            <a:ext cx="6610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1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F124-B78B-4366-983C-44C29B92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inputbuf</a:t>
            </a:r>
            <a:r>
              <a:rPr lang="en-GB" dirty="0"/>
              <a:t> Tag, take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6FC5-AF0B-4B86-A4B7-7C156484B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3931386"/>
            <a:ext cx="10515600" cy="2265363"/>
          </a:xfrm>
        </p:spPr>
        <p:txBody>
          <a:bodyPr>
            <a:normAutofit/>
          </a:bodyPr>
          <a:lstStyle/>
          <a:p>
            <a:r>
              <a:rPr lang="en-GB" dirty="0"/>
              <a:t>For ad-hoc commands, the </a:t>
            </a:r>
            <a:r>
              <a:rPr lang="en-GB" sz="3100" dirty="0" err="1">
                <a:solidFill>
                  <a:srgbClr val="A31515"/>
                </a:solidFill>
                <a:latin typeface="Consolas" panose="020B0609020204030204" pitchFamily="49" charset="0"/>
              </a:rPr>
              <a:t>inputbuf</a:t>
            </a:r>
            <a:r>
              <a:rPr lang="en-GB" dirty="0"/>
              <a:t> tag often suffices.</a:t>
            </a:r>
          </a:p>
          <a:p>
            <a:r>
              <a:rPr lang="en-GB" dirty="0"/>
              <a:t>For multi-statement batches, you may have use for the line numbers in the </a:t>
            </a:r>
            <a:r>
              <a:rPr lang="en-GB" sz="3100" dirty="0" err="1">
                <a:solidFill>
                  <a:srgbClr val="A31515"/>
                </a:solidFill>
                <a:latin typeface="Consolas" panose="020B0609020204030204" pitchFamily="49" charset="0"/>
              </a:rPr>
              <a:t>executionStack</a:t>
            </a:r>
            <a:r>
              <a:rPr lang="en-GB" dirty="0"/>
              <a:t> tag.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5B696-EEB8-4C48-9E23-97CEAF07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B6EF0-48E2-4379-987F-F1574F110A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27"/>
          <a:stretch/>
        </p:blipFill>
        <p:spPr>
          <a:xfrm>
            <a:off x="786437" y="1978106"/>
            <a:ext cx="4133850" cy="193357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102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9A53-AAE0-4C85-AA25-43123296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inputbuf</a:t>
            </a:r>
            <a:r>
              <a:rPr lang="en-GB" dirty="0"/>
              <a:t> Tag, Take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2834-E2B2-4E14-A049-E808AF460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669925"/>
          </a:xfrm>
        </p:spPr>
        <p:txBody>
          <a:bodyPr>
            <a:normAutofit/>
          </a:bodyPr>
          <a:lstStyle/>
          <a:p>
            <a:r>
              <a:rPr lang="en-GB" dirty="0"/>
              <a:t>You may be looking at: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E7B95-3703-49BB-9F8E-C05402238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B18AF-8361-4E9F-99C8-CF4A3CB28A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83"/>
          <a:stretch/>
        </p:blipFill>
        <p:spPr>
          <a:xfrm>
            <a:off x="370800" y="2495550"/>
            <a:ext cx="10648950" cy="900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6521A3-4DAE-46C3-9303-96B2707ADA42}"/>
              </a:ext>
            </a:extLst>
          </p:cNvPr>
          <p:cNvSpPr txBox="1"/>
          <p:nvPr/>
        </p:nvSpPr>
        <p:spPr>
          <a:xfrm>
            <a:off x="370800" y="3550722"/>
            <a:ext cx="10690860" cy="1633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400" dirty="0">
                <a:latin typeface="IBM Plex Sans" panose="020B0503050203000203" pitchFamily="34" charset="0"/>
              </a:rPr>
              <a:t>This is a stored procedure called through RPC.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400" dirty="0">
                <a:latin typeface="IBM Plex Sans" panose="020B0503050203000203" pitchFamily="34" charset="0"/>
              </a:rPr>
              <a:t>You need to look at the </a:t>
            </a:r>
            <a:r>
              <a:rPr lang="en-GB" sz="3200" dirty="0" err="1">
                <a:solidFill>
                  <a:srgbClr val="A31515"/>
                </a:solidFill>
                <a:latin typeface="Consolas" panose="020B0609020204030204" pitchFamily="49" charset="0"/>
              </a:rPr>
              <a:t>executionStack</a:t>
            </a:r>
            <a:r>
              <a:rPr lang="en-GB" sz="3400" dirty="0">
                <a:latin typeface="IBM Plex Sans" panose="020B0503050203000203" pitchFamily="34" charset="0"/>
              </a:rPr>
              <a:t> tag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47319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CBD7-70D0-4316-89E3-A48D2D21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executionStack</a:t>
            </a:r>
            <a:r>
              <a:rPr lang="en-GB" dirty="0"/>
              <a:t> Tag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1AC68-F2C9-4493-B620-3F4CBF256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DAC81-2FFF-476C-BB96-F2706A792577}"/>
              </a:ext>
            </a:extLst>
          </p:cNvPr>
          <p:cNvSpPr txBox="1"/>
          <p:nvPr/>
        </p:nvSpPr>
        <p:spPr>
          <a:xfrm>
            <a:off x="368300" y="4674555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400" indent="-28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IBM Plex Sans" panose="020B0503050203000203" pitchFamily="34" charset="0"/>
              </a:rPr>
              <a:t>You see the statement of the deadlock, and the call stack.</a:t>
            </a:r>
          </a:p>
          <a:p>
            <a:pPr marL="284400" indent="-28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IBM Plex Sans" panose="020B0503050203000203" pitchFamily="34" charset="0"/>
              </a:rPr>
              <a:t>In this example: the application called </a:t>
            </a:r>
            <a:r>
              <a:rPr lang="en-GB" sz="3000" dirty="0" err="1">
                <a:latin typeface="IBM Plex Sans" panose="020B0503050203000203" pitchFamily="34" charset="0"/>
              </a:rPr>
              <a:t>outer_sp</a:t>
            </a:r>
            <a:r>
              <a:rPr lang="en-GB" sz="3000" dirty="0">
                <a:latin typeface="IBM Plex Sans" panose="020B0503050203000203" pitchFamily="34" charset="0"/>
              </a:rPr>
              <a:t>.</a:t>
            </a:r>
          </a:p>
          <a:p>
            <a:pPr marL="284400" indent="-28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IBM Plex Sans" panose="020B0503050203000203" pitchFamily="34" charset="0"/>
              </a:rPr>
              <a:t>Last character in statement is stripped off on SQL 2014+.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1777CA-A895-913F-1082-67C706919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1825200"/>
            <a:ext cx="10515600" cy="2747466"/>
          </a:xfrm>
        </p:spPr>
      </p:pic>
    </p:spTree>
    <p:extLst>
      <p:ext uri="{BB962C8B-B14F-4D97-AF65-F5344CB8AC3E}">
        <p14:creationId xmlns:p14="http://schemas.microsoft.com/office/powerpoint/2010/main" val="298501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D10DFD-8C68-B931-F15F-EBD81185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3600" dirty="0" err="1">
                <a:solidFill>
                  <a:srgbClr val="A31515"/>
                </a:solidFill>
                <a:latin typeface="Consolas" panose="020B0609020204030204" pitchFamily="49" charset="0"/>
              </a:rPr>
              <a:t>executionStack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  &lt;</a:t>
            </a:r>
            <a:r>
              <a:rPr lang="en-GB" sz="3600" dirty="0">
                <a:solidFill>
                  <a:srgbClr val="A31515"/>
                </a:solidFill>
                <a:latin typeface="Consolas" panose="020B0609020204030204" pitchFamily="49" charset="0"/>
              </a:rPr>
              <a:t>frame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procname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tempdb.dbo.inner_sp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line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12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stmtstart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884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b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stmtend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990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 </a:t>
            </a:r>
            <a:r>
              <a:rPr lang="en-GB" sz="3600" dirty="0" err="1">
                <a:solidFill>
                  <a:srgbClr val="FF0000"/>
                </a:solidFill>
                <a:latin typeface="Consolas" panose="020B0609020204030204" pitchFamily="49" charset="0"/>
              </a:rPr>
              <a:t>sqlhandle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0x0300020027b3813a ...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n-NO" sz="3600" dirty="0">
                <a:solidFill>
                  <a:srgbClr val="000000"/>
                </a:solidFill>
                <a:latin typeface="Consolas" panose="020B0609020204030204" pitchFamily="49" charset="0"/>
              </a:rPr>
              <a:t>INSERT RollYourOwn(id, data) VALUES(@id, @data    </a:t>
            </a:r>
            <a:r>
              <a:rPr lang="nn-NO" sz="3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n-NO" sz="3600" dirty="0">
                <a:solidFill>
                  <a:srgbClr val="A31515"/>
                </a:solidFill>
                <a:latin typeface="Consolas" panose="020B0609020204030204" pitchFamily="49" charset="0"/>
              </a:rPr>
              <a:t>frame</a:t>
            </a:r>
            <a:r>
              <a:rPr lang="nn-NO" sz="3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n-NO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GB" sz="3600" dirty="0">
                <a:solidFill>
                  <a:srgbClr val="A31515"/>
                </a:solidFill>
                <a:latin typeface="Consolas" panose="020B0609020204030204" pitchFamily="49" charset="0"/>
              </a:rPr>
              <a:t>frame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 ...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3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xml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etqp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query_plan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query_plan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36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sys.dm_exec_query_stats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sys.dm_exec_text_query_plan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plan_handle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statement_start_offset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statement_end_offset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etqp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qs.</a:t>
            </a:r>
            <a:r>
              <a:rPr lang="en-GB" sz="3600" dirty="0" err="1">
                <a:solidFill>
                  <a:srgbClr val="0000FF"/>
                </a:solidFill>
                <a:latin typeface="Consolas" panose="020B0609020204030204" pitchFamily="49" charset="0"/>
              </a:rPr>
              <a:t>sql_handle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0x0300020027b3813a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GB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statement_start_offset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884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qs</a:t>
            </a:r>
            <a:r>
              <a:rPr lang="en-GB" sz="3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statement_end_offset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 990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1CC538-4C47-EDBC-1356-B9FE9D3B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Advanced: Find the Query Plan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EE654-6C55-7BFF-7463-428B776F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012A08-078A-5336-0D54-9D727AC8A739}"/>
              </a:ext>
            </a:extLst>
          </p:cNvPr>
          <p:cNvSpPr/>
          <p:nvPr/>
        </p:nvSpPr>
        <p:spPr>
          <a:xfrm>
            <a:off x="3604846" y="4906108"/>
            <a:ext cx="3059723" cy="342900"/>
          </a:xfrm>
          <a:prstGeom prst="rect">
            <a:avLst/>
          </a:prstGeom>
          <a:solidFill>
            <a:srgbClr val="A31515">
              <a:alpha val="26000"/>
            </a:srgbClr>
          </a:solidFill>
          <a:ln w="38100">
            <a:solidFill>
              <a:schemeClr val="accent1">
                <a:shade val="50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C48658-2B20-EA42-745B-91D64742F6D8}"/>
              </a:ext>
            </a:extLst>
          </p:cNvPr>
          <p:cNvSpPr/>
          <p:nvPr/>
        </p:nvSpPr>
        <p:spPr>
          <a:xfrm>
            <a:off x="3807069" y="2488223"/>
            <a:ext cx="4906108" cy="342900"/>
          </a:xfrm>
          <a:prstGeom prst="rect">
            <a:avLst/>
          </a:prstGeom>
          <a:solidFill>
            <a:srgbClr val="A31515">
              <a:alpha val="26000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5D1005-5ECD-4EEF-1113-C2D1FBAB7EE5}"/>
              </a:ext>
            </a:extLst>
          </p:cNvPr>
          <p:cNvSpPr/>
          <p:nvPr/>
        </p:nvSpPr>
        <p:spPr>
          <a:xfrm>
            <a:off x="5269787" y="5221853"/>
            <a:ext cx="519545" cy="323709"/>
          </a:xfrm>
          <a:prstGeom prst="rect">
            <a:avLst/>
          </a:prstGeom>
          <a:solidFill>
            <a:schemeClr val="accent6">
              <a:lumMod val="60000"/>
              <a:lumOff val="40000"/>
              <a:alpha val="26000"/>
            </a:schemeClr>
          </a:solidFill>
          <a:ln w="381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443F8C-DD46-D068-502F-1C54552D6D7D}"/>
              </a:ext>
            </a:extLst>
          </p:cNvPr>
          <p:cNvSpPr/>
          <p:nvPr/>
        </p:nvSpPr>
        <p:spPr>
          <a:xfrm>
            <a:off x="7574973" y="2161405"/>
            <a:ext cx="2078182" cy="326818"/>
          </a:xfrm>
          <a:prstGeom prst="rect">
            <a:avLst/>
          </a:prstGeom>
          <a:solidFill>
            <a:schemeClr val="accent6">
              <a:lumMod val="60000"/>
              <a:lumOff val="40000"/>
              <a:alpha val="26000"/>
            </a:schemeClr>
          </a:solidFill>
          <a:ln w="38100">
            <a:solidFill>
              <a:schemeClr val="accent6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078182"/>
                      <a:gd name="connsiteY0" fmla="*/ 0 h 326818"/>
                      <a:gd name="connsiteX1" fmla="*/ 498764 w 2078182"/>
                      <a:gd name="connsiteY1" fmla="*/ 0 h 326818"/>
                      <a:gd name="connsiteX2" fmla="*/ 955964 w 2078182"/>
                      <a:gd name="connsiteY2" fmla="*/ 0 h 326818"/>
                      <a:gd name="connsiteX3" fmla="*/ 1517073 w 2078182"/>
                      <a:gd name="connsiteY3" fmla="*/ 0 h 326818"/>
                      <a:gd name="connsiteX4" fmla="*/ 2078182 w 2078182"/>
                      <a:gd name="connsiteY4" fmla="*/ 0 h 326818"/>
                      <a:gd name="connsiteX5" fmla="*/ 2078182 w 2078182"/>
                      <a:gd name="connsiteY5" fmla="*/ 326818 h 326818"/>
                      <a:gd name="connsiteX6" fmla="*/ 1600200 w 2078182"/>
                      <a:gd name="connsiteY6" fmla="*/ 326818 h 326818"/>
                      <a:gd name="connsiteX7" fmla="*/ 1122218 w 2078182"/>
                      <a:gd name="connsiteY7" fmla="*/ 326818 h 326818"/>
                      <a:gd name="connsiteX8" fmla="*/ 561109 w 2078182"/>
                      <a:gd name="connsiteY8" fmla="*/ 326818 h 326818"/>
                      <a:gd name="connsiteX9" fmla="*/ 0 w 2078182"/>
                      <a:gd name="connsiteY9" fmla="*/ 326818 h 326818"/>
                      <a:gd name="connsiteX10" fmla="*/ 0 w 2078182"/>
                      <a:gd name="connsiteY10" fmla="*/ 0 h 3268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078182" h="326818" extrusionOk="0">
                        <a:moveTo>
                          <a:pt x="0" y="0"/>
                        </a:moveTo>
                        <a:cubicBezTo>
                          <a:pt x="231790" y="-5974"/>
                          <a:pt x="344781" y="2350"/>
                          <a:pt x="498764" y="0"/>
                        </a:cubicBezTo>
                        <a:cubicBezTo>
                          <a:pt x="652747" y="-2350"/>
                          <a:pt x="801811" y="28697"/>
                          <a:pt x="955964" y="0"/>
                        </a:cubicBezTo>
                        <a:cubicBezTo>
                          <a:pt x="1110117" y="-28697"/>
                          <a:pt x="1293584" y="26527"/>
                          <a:pt x="1517073" y="0"/>
                        </a:cubicBezTo>
                        <a:cubicBezTo>
                          <a:pt x="1740562" y="-26527"/>
                          <a:pt x="1930835" y="51186"/>
                          <a:pt x="2078182" y="0"/>
                        </a:cubicBezTo>
                        <a:cubicBezTo>
                          <a:pt x="2106787" y="93535"/>
                          <a:pt x="2074379" y="232938"/>
                          <a:pt x="2078182" y="326818"/>
                        </a:cubicBezTo>
                        <a:cubicBezTo>
                          <a:pt x="1851287" y="355488"/>
                          <a:pt x="1782866" y="318183"/>
                          <a:pt x="1600200" y="326818"/>
                        </a:cubicBezTo>
                        <a:cubicBezTo>
                          <a:pt x="1417534" y="335453"/>
                          <a:pt x="1222438" y="286116"/>
                          <a:pt x="1122218" y="326818"/>
                        </a:cubicBezTo>
                        <a:cubicBezTo>
                          <a:pt x="1021998" y="367520"/>
                          <a:pt x="675244" y="289121"/>
                          <a:pt x="561109" y="326818"/>
                        </a:cubicBezTo>
                        <a:cubicBezTo>
                          <a:pt x="446974" y="364515"/>
                          <a:pt x="262944" y="277417"/>
                          <a:pt x="0" y="326818"/>
                        </a:cubicBezTo>
                        <a:cubicBezTo>
                          <a:pt x="-9988" y="248307"/>
                          <a:pt x="37558" y="1458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1838F3-21C4-55A9-4E5E-A40A19108AB1}"/>
              </a:ext>
            </a:extLst>
          </p:cNvPr>
          <p:cNvSpPr/>
          <p:nvPr/>
        </p:nvSpPr>
        <p:spPr>
          <a:xfrm>
            <a:off x="5010014" y="5545562"/>
            <a:ext cx="519545" cy="323709"/>
          </a:xfrm>
          <a:prstGeom prst="rect">
            <a:avLst/>
          </a:prstGeom>
          <a:solidFill>
            <a:schemeClr val="bg1">
              <a:lumMod val="85000"/>
              <a:alpha val="26000"/>
            </a:schemeClr>
          </a:solidFill>
          <a:ln w="38100" cmpd="dbl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E2AEE-B038-3E1B-8E3C-2E46034D3919}"/>
              </a:ext>
            </a:extLst>
          </p:cNvPr>
          <p:cNvSpPr/>
          <p:nvPr/>
        </p:nvSpPr>
        <p:spPr>
          <a:xfrm>
            <a:off x="1655619" y="2488223"/>
            <a:ext cx="2045944" cy="326818"/>
          </a:xfrm>
          <a:prstGeom prst="rect">
            <a:avLst/>
          </a:prstGeom>
          <a:solidFill>
            <a:schemeClr val="bg1">
              <a:lumMod val="85000"/>
              <a:alpha val="26000"/>
            </a:schemeClr>
          </a:solidFill>
          <a:ln w="38100" cmpd="dbl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82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72C5C2-5C4B-7F21-247A-1E75EE26C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Execution plan may have changed since the deadlock.</a:t>
            </a:r>
          </a:p>
          <a:p>
            <a:r>
              <a:rPr lang="en-GB" dirty="0"/>
              <a:t>Plan may have fallen out of the cache entirely.</a:t>
            </a:r>
          </a:p>
          <a:p>
            <a:r>
              <a:rPr lang="en-GB" dirty="0"/>
              <a:t>The query may return multiple rows, because there are cache entries for different SET options etc.</a:t>
            </a:r>
          </a:p>
          <a:p>
            <a:pPr lvl="1"/>
            <a:r>
              <a:rPr lang="en-GB" dirty="0"/>
              <a:t>Tip: look at </a:t>
            </a:r>
            <a:r>
              <a:rPr lang="en-GB" dirty="0" err="1"/>
              <a:t>sys.dm_exec_query_stats.execution_count</a:t>
            </a:r>
            <a:r>
              <a:rPr lang="en-GB" dirty="0"/>
              <a:t>.</a:t>
            </a:r>
          </a:p>
          <a:p>
            <a:r>
              <a:rPr lang="en-GB" dirty="0">
                <a:hlinkClick r:id="rId3" action="ppaction://hlinkfile"/>
              </a:rPr>
              <a:t>Searching Query Store </a:t>
            </a:r>
            <a:r>
              <a:rPr lang="en-GB" dirty="0"/>
              <a:t>may be a better option.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73DE05-597B-C7B8-72A0-D6AD12787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the Query Plan - Caveats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5C1EB-DFC0-BEE0-2D40-4167F1D1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63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 the Process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411203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244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KEY: 6:72057594047889408 (fadcdcb5e33c)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2728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4260688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0x270d78b8428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9744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suspended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6632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4260688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4294967295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671088672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128056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502665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Relevant 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7" y="1825626"/>
            <a:ext cx="10515600" cy="411203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426239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“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11265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F1A5-34E0-49C6-915B-592479A2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Identification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CE68-3ADF-4D38-883A-703CEEE1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GB" dirty="0"/>
              <a:t>Mapping between </a:t>
            </a:r>
            <a:r>
              <a:rPr lang="en-GB" sz="3200" dirty="0">
                <a:solidFill>
                  <a:srgbClr val="A31515"/>
                </a:solidFill>
                <a:latin typeface="Consolas" panose="020B0609020204030204" pitchFamily="49" charset="0"/>
              </a:rPr>
              <a:t>process-list</a:t>
            </a:r>
            <a:r>
              <a:rPr lang="en-GB" dirty="0"/>
              <a:t>, </a:t>
            </a:r>
            <a:r>
              <a:rPr lang="en-GB" sz="3200" dirty="0">
                <a:solidFill>
                  <a:srgbClr val="A31515"/>
                </a:solidFill>
                <a:latin typeface="Consolas" panose="020B0609020204030204" pitchFamily="49" charset="0"/>
              </a:rPr>
              <a:t>resource-list</a:t>
            </a:r>
            <a:r>
              <a:rPr lang="en-GB" dirty="0"/>
              <a:t> and </a:t>
            </a:r>
            <a:r>
              <a:rPr lang="en-GB" sz="3200" dirty="0">
                <a:solidFill>
                  <a:srgbClr val="A31515"/>
                </a:solidFill>
                <a:latin typeface="Consolas" panose="020B0609020204030204" pitchFamily="49" charset="0"/>
              </a:rPr>
              <a:t>victim-list</a:t>
            </a:r>
            <a:r>
              <a:rPr lang="en-GB" dirty="0"/>
              <a:t>. </a:t>
            </a:r>
          </a:p>
          <a:p>
            <a:pPr>
              <a:buClr>
                <a:schemeClr val="tx1"/>
              </a:buClr>
            </a:pP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GB" dirty="0"/>
              <a:t>The one we know and love.</a:t>
            </a:r>
          </a:p>
          <a:p>
            <a:pPr>
              <a:buClr>
                <a:schemeClr val="tx1"/>
              </a:buClr>
            </a:pP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GB" dirty="0"/>
              <a:t>Non-zero if MARS is in use.</a:t>
            </a:r>
          </a:p>
          <a:p>
            <a:pPr>
              <a:buClr>
                <a:schemeClr val="tx1"/>
              </a:buClr>
            </a:pP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GB" dirty="0"/>
              <a:t>Non-zero when there is parallelism.</a:t>
            </a:r>
          </a:p>
          <a:p>
            <a:pPr>
              <a:buClr>
                <a:schemeClr val="tx1"/>
              </a:buClr>
            </a:pP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dirty="0">
                <a:latin typeface="+mn-lt"/>
              </a:rPr>
              <a:t> and </a:t>
            </a: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dirty="0"/>
              <a:t>. Self-explanatory.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GB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dirty="0"/>
              <a:t>and </a:t>
            </a:r>
            <a:r>
              <a:rPr lang="en-GB" sz="32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dirty="0"/>
              <a:t>. Recall that they are set in the connection string.</a:t>
            </a:r>
          </a:p>
          <a:p>
            <a:pPr>
              <a:buClr>
                <a:schemeClr val="tx1"/>
              </a:buClr>
            </a:pP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FA337-672D-4614-8927-46E21DB9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89123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transactionname</a:t>
            </a:r>
            <a:r>
              <a:rPr lang="en-GB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323067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E8B5-A6BE-442E-8B45-5CF9C133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Multi-Statement Transaction?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9C6F-B87A-44FE-BEF1-F9B46C2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In a multi-statement transaction, locks in the deadlock may come from previous statements in the transaction!</a:t>
            </a:r>
          </a:p>
          <a:p>
            <a:r>
              <a:rPr lang="en-GB" dirty="0"/>
              <a:t>If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dirty="0"/>
              <a:t>reads </a:t>
            </a:r>
            <a:r>
              <a:rPr lang="en-GB" i="1" dirty="0" err="1"/>
              <a:t>user_transaction</a:t>
            </a:r>
            <a:r>
              <a:rPr lang="en-GB" dirty="0"/>
              <a:t>, you have a multi-statement transaction.</a:t>
            </a:r>
          </a:p>
          <a:p>
            <a:r>
              <a:rPr lang="en-GB" dirty="0"/>
              <a:t>Same if it is </a:t>
            </a:r>
            <a:r>
              <a:rPr lang="en-GB" i="1" dirty="0" err="1"/>
              <a:t>MyTran</a:t>
            </a:r>
            <a:r>
              <a:rPr lang="en-GB" dirty="0"/>
              <a:t> or some other name. (Someone said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TRANSACTION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MyTran</a:t>
            </a:r>
            <a:r>
              <a:rPr lang="en-GB" dirty="0"/>
              <a:t>). </a:t>
            </a:r>
          </a:p>
          <a:p>
            <a:r>
              <a:rPr lang="en-GB" i="1" dirty="0" err="1"/>
              <a:t>implicit_transaction</a:t>
            </a:r>
            <a:r>
              <a:rPr lang="en-GB" dirty="0"/>
              <a:t> is also a multi-statement transaction.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IMPLICIT_TRANSACTIONS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dirty="0"/>
              <a:t> is in effect.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5EDEB-241B-41A3-A5CE-E47AB1F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37773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378B-A13F-40BF-9341-E7403DA2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Multi-Statement Transaction?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125D-F7BE-49B0-BD54-0880753F3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If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dirty="0"/>
              <a:t>reads </a:t>
            </a:r>
            <a:r>
              <a:rPr lang="en-GB" sz="3000" dirty="0"/>
              <a:t>SELECT</a:t>
            </a:r>
            <a:r>
              <a:rPr lang="en-GB" dirty="0"/>
              <a:t>, </a:t>
            </a:r>
            <a:r>
              <a:rPr lang="en-GB" sz="3000" dirty="0"/>
              <a:t>INSERT</a:t>
            </a:r>
            <a:r>
              <a:rPr lang="en-GB" dirty="0"/>
              <a:t>, </a:t>
            </a:r>
            <a:r>
              <a:rPr lang="en-GB" sz="3000" dirty="0"/>
              <a:t>UPDATE</a:t>
            </a:r>
            <a:r>
              <a:rPr lang="en-GB" dirty="0"/>
              <a:t>, </a:t>
            </a:r>
            <a:r>
              <a:rPr lang="en-GB" sz="3000" dirty="0"/>
              <a:t>DELETE</a:t>
            </a:r>
            <a:r>
              <a:rPr lang="en-GB" dirty="0"/>
              <a:t> etc, likely to be an auto-committed statement.</a:t>
            </a:r>
          </a:p>
          <a:p>
            <a:r>
              <a:rPr lang="en-GB" dirty="0"/>
              <a:t>But check </a:t>
            </a:r>
            <a:r>
              <a:rPr lang="en-GB" sz="3000" dirty="0" err="1">
                <a:solidFill>
                  <a:srgbClr val="A31515"/>
                </a:solidFill>
                <a:latin typeface="Consolas" panose="020B0609020204030204" pitchFamily="49" charset="0"/>
              </a:rPr>
              <a:t>executionStack</a:t>
            </a:r>
            <a:r>
              <a:rPr lang="en-GB" dirty="0"/>
              <a:t> – the deadlock statement could be in a trigger with multiple statements.</a:t>
            </a:r>
          </a:p>
          <a:p>
            <a:pPr lvl="1"/>
            <a:r>
              <a:rPr lang="en-GB" dirty="0"/>
              <a:t>A trigger always executes in the context of a transaction defined by the statement that fired it.</a:t>
            </a:r>
          </a:p>
          <a:p>
            <a:pPr>
              <a:buClr>
                <a:schemeClr val="tx1"/>
              </a:buClr>
            </a:pP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dirty="0"/>
              <a:t>can read </a:t>
            </a:r>
            <a:r>
              <a:rPr lang="en-GB" sz="3000" dirty="0"/>
              <a:t>INSERT EXEC</a:t>
            </a:r>
            <a:r>
              <a:rPr lang="en-GB" dirty="0"/>
              <a:t>. In this case the procedure runs a multi-statement transaction defined by the </a:t>
            </a:r>
            <a:r>
              <a:rPr lang="en-GB" sz="3000" dirty="0"/>
              <a:t>INSERT</a:t>
            </a:r>
            <a:r>
              <a:rPr lang="en-GB" dirty="0"/>
              <a:t> statement.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FFBB3-3F99-43BC-AC1A-0EA4A16F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2443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Important Timestamps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065485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CCA3-BDDC-469E-AA65-C75EF775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Transaction Started by Application?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AA680-A46F-47CC-BD15-57EBB051E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dirty="0"/>
              <a:t> before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dirty="0"/>
              <a:t>? Typically, it’s a multi-batch transaction started by the application.</a:t>
            </a:r>
          </a:p>
          <a:p>
            <a:pPr lvl="1"/>
            <a:r>
              <a:rPr lang="en-GB" dirty="0"/>
              <a:t>But it could be a runaway transaction without a </a:t>
            </a:r>
            <a:r>
              <a:rPr lang="en-GB" sz="2400" dirty="0"/>
              <a:t>COMMIT</a:t>
            </a:r>
            <a:r>
              <a:rPr lang="en-GB" dirty="0"/>
              <a:t>.</a:t>
            </a:r>
          </a:p>
          <a:p>
            <a:r>
              <a:rPr lang="en-GB" dirty="0"/>
              <a:t>Are </a:t>
            </a:r>
            <a:r>
              <a:rPr lang="en-GB" sz="3000" kern="12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lastbatchcompleted</a:t>
            </a:r>
            <a:r>
              <a:rPr lang="en-GB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dirty="0"/>
              <a:t>and </a:t>
            </a:r>
            <a:r>
              <a:rPr lang="en-GB" sz="3000" kern="12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lastbatchstarted</a:t>
            </a:r>
            <a:r>
              <a:rPr lang="en-GB" dirty="0"/>
              <a:t> far apart in a multi-batch transaction? Investigate!</a:t>
            </a:r>
          </a:p>
          <a:p>
            <a:pPr lvl="1"/>
            <a:r>
              <a:rPr lang="en-GB" dirty="0"/>
              <a:t>Is it doing work elsewhere which increases the length of the transaction – and thus makes the window for a deadlock wider?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B134B-AB2B-42A6-AE7A-25AEE98B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5878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lastattention</a:t>
            </a:r>
            <a:r>
              <a:rPr lang="en-GB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902802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B468BE-A811-1F14-561F-145E7C47E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6" y="1825625"/>
            <a:ext cx="10577377" cy="4351338"/>
          </a:xfrm>
        </p:spPr>
        <p:txBody>
          <a:bodyPr>
            <a:normAutofit fontScale="92500"/>
          </a:bodyPr>
          <a:lstStyle/>
          <a:p>
            <a:r>
              <a:rPr lang="en-GB" sz="3200" dirty="0"/>
              <a:t>The application can send an </a:t>
            </a:r>
            <a:r>
              <a:rPr lang="en-GB" sz="3200" i="1" dirty="0"/>
              <a:t>attention signal</a:t>
            </a:r>
            <a:r>
              <a:rPr lang="en-GB" sz="3200" dirty="0"/>
              <a:t> to SQL Server.</a:t>
            </a:r>
          </a:p>
          <a:p>
            <a:r>
              <a:rPr lang="en-GB" sz="3200" dirty="0"/>
              <a:t>On this signal, SQL Server will:</a:t>
            </a:r>
          </a:p>
          <a:p>
            <a:pPr lvl="1"/>
            <a:r>
              <a:rPr lang="en-GB" dirty="0"/>
              <a:t>Roll back the current statement.</a:t>
            </a:r>
          </a:p>
          <a:p>
            <a:pPr lvl="1"/>
            <a:r>
              <a:rPr lang="en-GB" dirty="0"/>
              <a:t>Leave any user transaction open (unless XACT_ABORT is on).</a:t>
            </a:r>
          </a:p>
          <a:p>
            <a:r>
              <a:rPr lang="en-GB" sz="3200" dirty="0"/>
              <a:t>Most common reason is the error </a:t>
            </a:r>
            <a:r>
              <a:rPr lang="en-GB" sz="3200" i="1" dirty="0"/>
              <a:t>Timeout Expired</a:t>
            </a:r>
            <a:r>
              <a:rPr lang="en-GB" sz="3200" dirty="0"/>
              <a:t>. (Most APIs have a default timeout of 30 s.)</a:t>
            </a:r>
          </a:p>
          <a:p>
            <a:pPr lvl="1"/>
            <a:r>
              <a:rPr lang="en-GB" dirty="0"/>
              <a:t>Applications must handle this error and roll back any open transactions.</a:t>
            </a:r>
          </a:p>
          <a:p>
            <a:r>
              <a:rPr lang="en-GB" sz="3200" dirty="0"/>
              <a:t>The red button in SSMS also produces an attention signal.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C5CF0F-1AC1-060A-24E7-887B6709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Attention Signals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60877-806D-1852-E648-D892A172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F741-1CCD-4C7C-9A42-FADF7FE2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Unhandled Timeout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86717-8725-4456-81B1-591831FF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dirty="0"/>
              <a:t> reflects the last time an attention signal was received.</a:t>
            </a:r>
          </a:p>
          <a:p>
            <a:r>
              <a:rPr lang="en-GB" dirty="0"/>
              <a:t>Is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dirty="0"/>
              <a:t>later than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dirty="0"/>
              <a:t>? This is a red flag for a runaway transaction!</a:t>
            </a:r>
          </a:p>
          <a:p>
            <a:r>
              <a:rPr lang="en-GB" dirty="0"/>
              <a:t>Most likely the application has experienced a timeout without rolling back.</a:t>
            </a:r>
          </a:p>
          <a:p>
            <a:r>
              <a:rPr lang="en-GB" dirty="0"/>
              <a:t>Stop analysing the deadlock. Instead, review the error-handling code in the application.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B19E8-8980-4081-B8BC-ACA374DD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04026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Transaction Count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539544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7F17-7CA3-4053-B0A6-64EB9BCA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Deceivable </a:t>
            </a:r>
            <a:r>
              <a:rPr lang="en-GB" dirty="0" err="1"/>
              <a:t>trancount</a:t>
            </a:r>
            <a:r>
              <a:rPr lang="en-GB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8A01-991B-45EC-88EB-AD90EFFC2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an </a:t>
            </a:r>
            <a:r>
              <a:rPr lang="en-GB" sz="3000" dirty="0"/>
              <a:t>INSERT, UPDATE, DELETE </a:t>
            </a:r>
            <a:r>
              <a:rPr lang="en-GB" dirty="0"/>
              <a:t>or</a:t>
            </a:r>
            <a:r>
              <a:rPr lang="en-GB" sz="3000" dirty="0"/>
              <a:t> MERGE </a:t>
            </a:r>
            <a:r>
              <a:rPr lang="en-GB" dirty="0"/>
              <a:t>statement, it will always be at least 2, never one or zero.</a:t>
            </a:r>
          </a:p>
          <a:p>
            <a:r>
              <a:rPr lang="en-GB" dirty="0"/>
              <a:t>And it’s 2, regardless if it is a single-statement transaction or a multi-statement transaction.</a:t>
            </a:r>
          </a:p>
          <a:p>
            <a:r>
              <a:rPr lang="en-GB" dirty="0"/>
              <a:t>For a nested transaction it is 3 or higher.</a:t>
            </a:r>
          </a:p>
          <a:p>
            <a:r>
              <a:rPr lang="en-GB" dirty="0">
                <a:latin typeface="IBM Plex Sans" panose="020B0503050203000203" pitchFamily="34" charset="0"/>
                <a:cs typeface="Times New Roman" panose="02020603050405020304" pitchFamily="18" charset="0"/>
              </a:rPr>
              <a:t>An high value could indicate a runaway transaction. </a:t>
            </a:r>
          </a:p>
          <a:p>
            <a:pPr lvl="1"/>
            <a:r>
              <a:rPr lang="en-GB" dirty="0">
                <a:latin typeface="IBM Plex Sans" panose="020B0503050203000203" pitchFamily="34" charset="0"/>
                <a:cs typeface="Times New Roman" panose="02020603050405020304" pitchFamily="18" charset="0"/>
              </a:rPr>
              <a:t>High value = not really matching the stack depth.</a:t>
            </a:r>
            <a:endParaRPr lang="en-GB" dirty="0">
              <a:latin typeface="IBM Plex Sans" panose="020B0503050203000203" pitchFamily="34" charset="0"/>
            </a:endParaRPr>
          </a:p>
          <a:p>
            <a:pPr lvl="1"/>
            <a:r>
              <a:rPr lang="en-GB" dirty="0">
                <a:latin typeface="IBM Plex Sans" panose="020B0503050203000203" pitchFamily="34" charset="0"/>
                <a:cs typeface="Times New Roman" panose="02020603050405020304" pitchFamily="18" charset="0"/>
              </a:rPr>
              <a:t>Missing commit or unhandled timeout.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9E60A-FF05-4049-9AFC-CDC1A2D0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2949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isolationlevel</a:t>
            </a:r>
            <a:r>
              <a:rPr lang="en-GB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3A9F7-9C8D-C144-5197-31E7105314E2}"/>
              </a:ext>
            </a:extLst>
          </p:cNvPr>
          <p:cNvSpPr txBox="1"/>
          <p:nvPr/>
        </p:nvSpPr>
        <p:spPr>
          <a:xfrm rot="20322084">
            <a:off x="3313131" y="2763965"/>
            <a:ext cx="4394643" cy="9387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55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Covered later</a:t>
            </a:r>
          </a:p>
        </p:txBody>
      </p:sp>
    </p:spTree>
    <p:extLst>
      <p:ext uri="{BB962C8B-B14F-4D97-AF65-F5344CB8AC3E}">
        <p14:creationId xmlns:p14="http://schemas.microsoft.com/office/powerpoint/2010/main" val="9530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D023-CE6B-4B61-B794-A8F447FD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resource-list Element -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893C5-B750-422A-89AD-C1A03331C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9"/>
            <a:ext cx="5897880" cy="357473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9A64-0A4D-4D4C-AEB5-3B5E3862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240DE-4DAE-452C-ADFA-716D85E0E109}"/>
              </a:ext>
            </a:extLst>
          </p:cNvPr>
          <p:cNvSpPr txBox="1"/>
          <p:nvPr/>
        </p:nvSpPr>
        <p:spPr>
          <a:xfrm>
            <a:off x="6736079" y="1692000"/>
            <a:ext cx="4887351" cy="374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IBM Plex Sans" panose="020B0503050203000203" pitchFamily="34" charset="0"/>
              </a:rPr>
              <a:t>One element for each lock in the deadlock.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IBM Plex Sans" panose="020B0503050203000203" pitchFamily="34" charset="0"/>
              </a:rPr>
              <a:t>Name of element depends on type of lock.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IBM Plex Sans" panose="020B0503050203000203" pitchFamily="34" charset="0"/>
              </a:rPr>
              <a:t>Nested in that element:</a:t>
            </a:r>
          </a:p>
          <a:p>
            <a:pPr marL="554400" lvl="1" indent="-28575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owner-list</a:t>
            </a:r>
            <a:r>
              <a:rPr lang="en-GB" sz="2400" dirty="0">
                <a:solidFill>
                  <a:srgbClr val="A31515"/>
                </a:solidFill>
                <a:latin typeface="+mn-lt"/>
              </a:rPr>
              <a:t> </a:t>
            </a:r>
            <a:r>
              <a:rPr lang="en-GB" sz="2400" dirty="0">
                <a:latin typeface="IBM Plex Sans" panose="020B0503050203000203" pitchFamily="34" charset="0"/>
              </a:rPr>
              <a:t>element listing the owner(s) of the lock.</a:t>
            </a:r>
          </a:p>
          <a:p>
            <a:pPr marL="554400" lvl="1" indent="-28575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waiter-list</a:t>
            </a:r>
            <a:r>
              <a:rPr lang="en-GB" sz="2400" dirty="0">
                <a:solidFill>
                  <a:srgbClr val="A31515"/>
                </a:solidFill>
                <a:latin typeface="+mn-lt"/>
              </a:rPr>
              <a:t> </a:t>
            </a:r>
            <a:r>
              <a:rPr lang="en-GB" sz="2400" dirty="0">
                <a:latin typeface="IBM Plex Sans" panose="020B0503050203000203" pitchFamily="34" charset="0"/>
              </a:rPr>
              <a:t>element listing processes waiting for the lock.</a:t>
            </a:r>
          </a:p>
        </p:txBody>
      </p:sp>
    </p:spTree>
    <p:extLst>
      <p:ext uri="{BB962C8B-B14F-4D97-AF65-F5344CB8AC3E}">
        <p14:creationId xmlns:p14="http://schemas.microsoft.com/office/powerpoint/2010/main" val="253298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AEA6EB-0754-F578-A461-87FCE798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7" y="415636"/>
            <a:ext cx="10515600" cy="57613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attr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process26eabfb68c8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process26eab72e4e8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requestType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wait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attr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process26eab72e4e8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owner-list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process26eabfb68c8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requestType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wait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 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waiter-list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FDF-8ABE-1641-5FB9-66908E0B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3FFDA1-4F20-2A0F-4E77-D6782D640CAF}"/>
              </a:ext>
            </a:extLst>
          </p:cNvPr>
          <p:cNvSpPr/>
          <p:nvPr/>
        </p:nvSpPr>
        <p:spPr>
          <a:xfrm>
            <a:off x="8421091" y="2575461"/>
            <a:ext cx="2147264" cy="213716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IBM Plex Sans" panose="020B0503050203000203" pitchFamily="34" charset="0"/>
              </a:rPr>
              <a:t>Mapping to </a:t>
            </a:r>
            <a:r>
              <a:rPr lang="en-GB" sz="26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800" dirty="0">
                <a:solidFill>
                  <a:schemeClr val="tx1"/>
                </a:solidFill>
                <a:latin typeface="IBM Plex Sans" panose="020B0503050203000203" pitchFamily="34" charset="0"/>
              </a:rPr>
              <a:t>in the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800" dirty="0">
                <a:solidFill>
                  <a:schemeClr val="tx1"/>
                </a:solidFill>
                <a:latin typeface="IBM Plex Sans" panose="020B0503050203000203" pitchFamily="34" charset="0"/>
              </a:rPr>
              <a:t>elements.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1F12E8-CA3D-6121-3340-87C3BB57FFC0}"/>
              </a:ext>
            </a:extLst>
          </p:cNvPr>
          <p:cNvCxnSpPr>
            <a:cxnSpLocks/>
          </p:cNvCxnSpPr>
          <p:nvPr/>
        </p:nvCxnSpPr>
        <p:spPr>
          <a:xfrm flipH="1" flipV="1">
            <a:off x="5392883" y="1455255"/>
            <a:ext cx="3028207" cy="150615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5E4C9D-ECB9-F5D9-33D6-73C12101E726}"/>
              </a:ext>
            </a:extLst>
          </p:cNvPr>
          <p:cNvCxnSpPr>
            <a:cxnSpLocks/>
          </p:cNvCxnSpPr>
          <p:nvPr/>
        </p:nvCxnSpPr>
        <p:spPr>
          <a:xfrm flipH="1" flipV="1">
            <a:off x="5491348" y="2488639"/>
            <a:ext cx="2929742" cy="71836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A8B1EA-D073-497A-6D51-5056D0A1CAE7}"/>
              </a:ext>
            </a:extLst>
          </p:cNvPr>
          <p:cNvCxnSpPr>
            <a:cxnSpLocks/>
          </p:cNvCxnSpPr>
          <p:nvPr/>
        </p:nvCxnSpPr>
        <p:spPr>
          <a:xfrm flipH="1">
            <a:off x="5392883" y="3488150"/>
            <a:ext cx="3028207" cy="329989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EB8336-8F1F-9F70-7D43-03006B7DAF45}"/>
              </a:ext>
            </a:extLst>
          </p:cNvPr>
          <p:cNvCxnSpPr>
            <a:cxnSpLocks/>
          </p:cNvCxnSpPr>
          <p:nvPr/>
        </p:nvCxnSpPr>
        <p:spPr>
          <a:xfrm flipH="1">
            <a:off x="5392883" y="4099282"/>
            <a:ext cx="3028207" cy="722505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27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6F88-E0C8-4565-B665-012F3EB5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xxxlock</a:t>
            </a:r>
            <a:r>
              <a:rPr lang="en-GB" dirty="0"/>
              <a:t>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85422-B7A5-4A00-BE47-308C1921C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58662"/>
            <a:ext cx="10515600" cy="2818299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GB" sz="3100" dirty="0"/>
              <a:t>You need to know table and index name. Ignore the rest.</a:t>
            </a:r>
          </a:p>
          <a:p>
            <a:pPr>
              <a:buClr>
                <a:schemeClr val="tx1"/>
              </a:buClr>
            </a:pPr>
            <a:r>
              <a:rPr lang="en-GB" sz="28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3100" dirty="0"/>
              <a:t> = Row lock in index, clustered or non-clustered.</a:t>
            </a:r>
          </a:p>
          <a:p>
            <a:pPr>
              <a:buClr>
                <a:schemeClr val="tx1"/>
              </a:buClr>
            </a:pPr>
            <a:r>
              <a:rPr lang="en-GB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ridlock</a:t>
            </a:r>
            <a:r>
              <a:rPr lang="en-GB" sz="3100" dirty="0"/>
              <a:t> = Row lock in heap when accessing data page.</a:t>
            </a:r>
          </a:p>
          <a:p>
            <a:pPr>
              <a:buClr>
                <a:schemeClr val="tx1"/>
              </a:buClr>
            </a:pPr>
            <a:r>
              <a:rPr lang="en-GB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pagelock</a:t>
            </a:r>
            <a:r>
              <a:rPr lang="en-GB" sz="3100" dirty="0"/>
              <a:t> = What it says, lock on page level.</a:t>
            </a:r>
          </a:p>
          <a:p>
            <a:pPr>
              <a:buClr>
                <a:schemeClr val="tx1"/>
              </a:buClr>
            </a:pPr>
            <a:r>
              <a:rPr lang="en-GB" sz="2800" dirty="0" err="1">
                <a:solidFill>
                  <a:srgbClr val="A31515"/>
                </a:solidFill>
                <a:latin typeface="Consolas" panose="020B0609020204030204" pitchFamily="49" charset="0"/>
              </a:rPr>
              <a:t>objectlock</a:t>
            </a:r>
            <a:r>
              <a:rPr lang="en-GB" sz="3100" dirty="0"/>
              <a:t> = Lock on table level.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F4F10-1E1E-4418-931C-9A8DA789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2FEF0-7FF1-4A41-902C-0726747E1001}"/>
              </a:ext>
            </a:extLst>
          </p:cNvPr>
          <p:cNvSpPr txBox="1"/>
          <p:nvPr/>
        </p:nvSpPr>
        <p:spPr>
          <a:xfrm>
            <a:off x="838200" y="1852551"/>
            <a:ext cx="1051560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hobtid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72057594047758336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dbid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objectname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Northgale.dbo.Orders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indexname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PK_Orders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lock2709eb35780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associatedObjectId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72057594047758336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0984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BB2C-E6F7-4074-8635-6879F38E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Name in Page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6A6C1-4474-45DE-AAAB-CADAA531B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pagelock</a:t>
            </a:r>
            <a:r>
              <a:rPr lang="en-GB" dirty="0"/>
              <a:t> elements, the index name is missing. </a:t>
            </a:r>
          </a:p>
          <a:p>
            <a:r>
              <a:rPr lang="en-GB" dirty="0"/>
              <a:t>Work from the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associatedObjectId</a:t>
            </a:r>
            <a:r>
              <a:rPr lang="en-GB" dirty="0"/>
              <a:t> attribute with this query: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35080-BA21-4107-AC7F-33D256F8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53620-04E9-4330-A8EA-55123A59FE57}"/>
              </a:ext>
            </a:extLst>
          </p:cNvPr>
          <p:cNvSpPr txBox="1"/>
          <p:nvPr/>
        </p:nvSpPr>
        <p:spPr>
          <a:xfrm>
            <a:off x="671146" y="3429000"/>
            <a:ext cx="10515600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object_name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table_name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i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index_name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sys.partitions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p</a:t>
            </a:r>
          </a:p>
          <a:p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sys.indexes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index_id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index_id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hobt_id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@associatedObjectId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027513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BA2F-E23C-45A0-83E1-8B9F18C9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Advanced: Which Row is Locked?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FB62-2A6B-41E4-9173-2C8A0B7E8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Look in the </a:t>
            </a:r>
            <a:r>
              <a:rPr lang="en-GB" sz="3200" kern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process</a:t>
            </a:r>
            <a:r>
              <a:rPr lang="en-GB" dirty="0"/>
              <a:t> element for the </a:t>
            </a:r>
            <a:r>
              <a:rPr lang="en-GB" u="sng" dirty="0"/>
              <a:t>waiter</a:t>
            </a:r>
            <a:r>
              <a:rPr lang="en-GB" dirty="0"/>
              <a:t>:</a:t>
            </a:r>
            <a:br>
              <a:rPr lang="en-GB" dirty="0"/>
            </a:b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KEY: 6:72057594047758336 (3b86dcc184bf)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en-GB" dirty="0"/>
              <a:t>Copy the parenthetical part and run:</a:t>
            </a:r>
          </a:p>
          <a:p>
            <a:pPr marL="316800" lvl="1" indent="0">
              <a:buNone/>
            </a:pP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index_name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3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16800" lvl="1" indent="0">
              <a:buNone/>
            </a:pP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%%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LOCKRES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%%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00"/>
                </a:solidFill>
                <a:latin typeface="Consolas" panose="020B0609020204030204" pitchFamily="49" charset="0"/>
              </a:rPr>
              <a:t>'(3b86dcc184bf)'</a:t>
            </a:r>
            <a:endParaRPr lang="en-GB" sz="3000" dirty="0"/>
          </a:p>
          <a:p>
            <a:r>
              <a:rPr lang="en-GB" dirty="0"/>
              <a:t>Must force the index in the </a:t>
            </a:r>
            <a:r>
              <a:rPr lang="en-GB" sz="3200" dirty="0">
                <a:solidFill>
                  <a:srgbClr val="A31515"/>
                </a:solidFill>
                <a:latin typeface="Consolas" panose="020B0609020204030204" pitchFamily="49" charset="0"/>
              </a:rPr>
              <a:t>keylock</a:t>
            </a:r>
            <a:r>
              <a:rPr lang="en-GB" dirty="0"/>
              <a:t> element!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39191-B9D5-445F-9353-C602BD24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54611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B2E24A-D77B-B91A-AB3E-03CDAB042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Granularity.</a:t>
            </a:r>
          </a:p>
          <a:p>
            <a:r>
              <a:rPr lang="en-GB" dirty="0"/>
              <a:t>The most important lock types.</a:t>
            </a:r>
          </a:p>
          <a:p>
            <a:r>
              <a:rPr lang="en-GB" dirty="0"/>
              <a:t>Intent locks.</a:t>
            </a:r>
          </a:p>
          <a:p>
            <a:r>
              <a:rPr lang="en-GB" dirty="0"/>
              <a:t>Isolation Levels.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F31FA6-9062-E523-E89E-4492D8F13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on Locking and Isolation Levels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9A8F0-7457-8575-5854-634D757A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506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F390-CE9A-4DF6-9BDB-923F4D7D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on Locking -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018B8-B2A1-41DF-8BCE-244015165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For DML operations, locks can be taken on four levels: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Row.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Page.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(Partition).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Table.</a:t>
            </a:r>
          </a:p>
          <a:p>
            <a:pPr>
              <a:lnSpc>
                <a:spcPct val="100000"/>
              </a:lnSpc>
            </a:pPr>
            <a:r>
              <a:rPr lang="en-GB" dirty="0"/>
              <a:t>The higher the level, the bigger the risk for deadlocks.</a:t>
            </a:r>
          </a:p>
          <a:p>
            <a:pPr>
              <a:lnSpc>
                <a:spcPct val="100000"/>
              </a:lnSpc>
            </a:pPr>
            <a:r>
              <a:rPr lang="en-GB" dirty="0"/>
              <a:t>Normally, SQL Server takes row locks, but if it thinks that a query can touch many rows, it may start with page or table locks to preserve memory.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836F5-5166-4D1E-9067-8D425482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2572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4102AC-4226-E04D-1BCA-DB405BE9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If a </a:t>
            </a:r>
            <a:r>
              <a:rPr lang="en-GB" i="1" dirty="0"/>
              <a:t>query</a:t>
            </a:r>
            <a:r>
              <a:rPr lang="en-GB" dirty="0"/>
              <a:t> takes more than ~5000 locks on a table, SQL Server attempts to escalate to table level (Or partition, if enabled.)</a:t>
            </a:r>
          </a:p>
          <a:p>
            <a:pPr>
              <a:lnSpc>
                <a:spcPct val="110000"/>
              </a:lnSpc>
            </a:pPr>
            <a:r>
              <a:rPr lang="en-GB" dirty="0"/>
              <a:t>If escalation is blocked by other locks, SQL Server jogs along with the row locks and tries again later.</a:t>
            </a:r>
          </a:p>
          <a:p>
            <a:pPr>
              <a:lnSpc>
                <a:spcPct val="110000"/>
              </a:lnSpc>
            </a:pPr>
            <a:r>
              <a:rPr lang="en-GB" dirty="0"/>
              <a:t>Lock escalation is never to page level.</a:t>
            </a:r>
          </a:p>
          <a:p>
            <a:pPr>
              <a:lnSpc>
                <a:spcPct val="110000"/>
              </a:lnSpc>
            </a:pPr>
            <a:r>
              <a:rPr lang="en-GB" dirty="0"/>
              <a:t>Thus, if you see page locks in a deadlock, they were there when the query started.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7E3964-C886-61AE-308F-193E9269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Lock Escalation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3D62E-F62D-5433-9788-5FCA0CF7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53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F5D1CA-F4A6-1167-1583-A3BCDC692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use </a:t>
            </a:r>
            <a:r>
              <a:rPr lang="en-GB" sz="3200" dirty="0"/>
              <a:t>ALTER TABLE SET LOCK_ESCALATION</a:t>
            </a:r>
            <a:r>
              <a:rPr lang="en-GB" dirty="0"/>
              <a:t> to control lock escalation per table.</a:t>
            </a:r>
          </a:p>
          <a:p>
            <a:pPr lvl="1"/>
            <a:r>
              <a:rPr lang="en-GB" sz="2600" dirty="0"/>
              <a:t>TABLE</a:t>
            </a:r>
            <a:r>
              <a:rPr lang="en-GB" dirty="0"/>
              <a:t> – the default, table level.</a:t>
            </a:r>
          </a:p>
          <a:p>
            <a:pPr lvl="1"/>
            <a:r>
              <a:rPr lang="en-GB" sz="2600" dirty="0"/>
              <a:t>AUTO</a:t>
            </a:r>
            <a:r>
              <a:rPr lang="en-GB" dirty="0"/>
              <a:t> – escalation to partition, if table is partitioned.</a:t>
            </a:r>
          </a:p>
          <a:p>
            <a:pPr lvl="1"/>
            <a:r>
              <a:rPr lang="en-GB" sz="2600" dirty="0"/>
              <a:t>DISABLE</a:t>
            </a:r>
            <a:r>
              <a:rPr lang="en-GB" dirty="0"/>
              <a:t> – What it says.</a:t>
            </a:r>
          </a:p>
          <a:p>
            <a:r>
              <a:rPr lang="en-GB" dirty="0"/>
              <a:t>Trace Flags</a:t>
            </a:r>
          </a:p>
          <a:p>
            <a:pPr lvl="1"/>
            <a:r>
              <a:rPr lang="en-GB" dirty="0"/>
              <a:t>1224 – Disable lock escalation, unless there is memory pressure.</a:t>
            </a:r>
          </a:p>
          <a:p>
            <a:pPr lvl="1"/>
            <a:r>
              <a:rPr lang="en-GB" dirty="0"/>
              <a:t>1211 – Disable lock escalation, period.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420C7-39F9-1D7B-F163-06A9EC3B8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Lock Escalation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E279-F39F-0D3F-F85A-08FFCE25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5C4B-1AE5-45A5-831E-7EE10211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Basic Lock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53798-6ED1-45CE-B533-B907BCDFE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From strongest to weakest:</a:t>
            </a:r>
          </a:p>
          <a:p>
            <a:r>
              <a:rPr lang="en-GB" dirty="0" err="1"/>
              <a:t>Sch</a:t>
            </a:r>
            <a:r>
              <a:rPr lang="en-GB" dirty="0"/>
              <a:t>-M – Schema-modification locks.</a:t>
            </a:r>
          </a:p>
          <a:p>
            <a:r>
              <a:rPr lang="en-GB" dirty="0"/>
              <a:t>X – Exclusive locks.</a:t>
            </a:r>
          </a:p>
          <a:p>
            <a:r>
              <a:rPr lang="en-GB" dirty="0"/>
              <a:t>U – Update locks.</a:t>
            </a:r>
          </a:p>
          <a:p>
            <a:r>
              <a:rPr lang="en-GB" dirty="0"/>
              <a:t>S – Shared locks. </a:t>
            </a:r>
          </a:p>
          <a:p>
            <a:r>
              <a:rPr lang="en-GB" dirty="0" err="1"/>
              <a:t>Sch</a:t>
            </a:r>
            <a:r>
              <a:rPr lang="en-GB" dirty="0"/>
              <a:t>-S – Schema-stability locks.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16F87-74F7-4471-9840-1E50C40A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644543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0E59-1637-424B-8D25-B9B6D160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Schema-Modification Locks (</a:t>
            </a:r>
            <a:r>
              <a:rPr lang="en-GB" dirty="0" err="1"/>
              <a:t>Sch</a:t>
            </a:r>
            <a:r>
              <a:rPr lang="en-GB" dirty="0"/>
              <a:t>-M)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69E1-7B3C-4DF7-9E67-966E77349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on table level.</a:t>
            </a:r>
          </a:p>
          <a:p>
            <a:r>
              <a:rPr lang="en-GB" dirty="0"/>
              <a:t>Taken by DDL statements (</a:t>
            </a:r>
            <a:r>
              <a:rPr lang="en-GB" sz="3200" dirty="0"/>
              <a:t>ALTER TABLE</a:t>
            </a:r>
            <a:r>
              <a:rPr lang="en-GB" dirty="0"/>
              <a:t>, </a:t>
            </a:r>
            <a:r>
              <a:rPr lang="en-GB" sz="3200" dirty="0"/>
              <a:t>CREATE INDEX</a:t>
            </a:r>
            <a:r>
              <a:rPr lang="en-GB" dirty="0"/>
              <a:t> etc.)</a:t>
            </a:r>
          </a:p>
          <a:p>
            <a:r>
              <a:rPr lang="en-GB" dirty="0"/>
              <a:t>Incompatible with all other locks.</a:t>
            </a:r>
          </a:p>
          <a:p>
            <a:r>
              <a:rPr lang="en-GB" dirty="0"/>
              <a:t>Held to the end of transaction.</a:t>
            </a:r>
          </a:p>
          <a:p>
            <a:pPr marL="273600" lvl="1" indent="0">
              <a:buNone/>
            </a:pPr>
            <a:endParaRPr lang="en-GB" dirty="0"/>
          </a:p>
          <a:p>
            <a:pPr marL="273600" lvl="1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6A367-2DE2-488B-A1CD-51C10206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50781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1FE1-A46A-4C13-BC74-AA229CFA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Exclusive Locks (X)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A478-7D83-4F6C-BA28-CB4177772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Can be on any level.</a:t>
            </a:r>
          </a:p>
          <a:p>
            <a:r>
              <a:rPr lang="en-GB" dirty="0"/>
              <a:t>Taken by </a:t>
            </a:r>
            <a:r>
              <a:rPr lang="en-GB" sz="3200" dirty="0"/>
              <a:t>INSERT</a:t>
            </a:r>
            <a:r>
              <a:rPr lang="en-GB" dirty="0"/>
              <a:t>, </a:t>
            </a:r>
            <a:r>
              <a:rPr lang="en-GB" sz="3200" dirty="0"/>
              <a:t>UPDATE</a:t>
            </a:r>
            <a:r>
              <a:rPr lang="en-GB" dirty="0"/>
              <a:t>, </a:t>
            </a:r>
            <a:r>
              <a:rPr lang="en-GB" sz="3200" dirty="0"/>
              <a:t>DELETE</a:t>
            </a:r>
            <a:r>
              <a:rPr lang="en-GB" dirty="0"/>
              <a:t> and </a:t>
            </a:r>
            <a:r>
              <a:rPr lang="en-GB" sz="3200" dirty="0"/>
              <a:t>MERGE</a:t>
            </a:r>
            <a:r>
              <a:rPr lang="en-GB" dirty="0"/>
              <a:t>.</a:t>
            </a:r>
          </a:p>
          <a:p>
            <a:r>
              <a:rPr lang="en-GB" dirty="0"/>
              <a:t>Incompatible with all other locks but </a:t>
            </a:r>
            <a:r>
              <a:rPr lang="en-GB" dirty="0" err="1"/>
              <a:t>Sch</a:t>
            </a:r>
            <a:r>
              <a:rPr lang="en-GB" dirty="0"/>
              <a:t>-S.</a:t>
            </a:r>
          </a:p>
          <a:p>
            <a:r>
              <a:rPr lang="en-GB" dirty="0"/>
              <a:t>Held to the end of transaction.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FC733-B77B-4D05-BBB6-34792505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98602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F0A6-AD8C-43FC-8FB6-279476C4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Schema-Stability Locks (</a:t>
            </a:r>
            <a:r>
              <a:rPr lang="en-GB" dirty="0" err="1"/>
              <a:t>Sch</a:t>
            </a:r>
            <a:r>
              <a:rPr lang="en-GB" dirty="0"/>
              <a:t>-S)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A95F-A2AE-4471-A7C0-189C59B60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Always on table level.</a:t>
            </a:r>
          </a:p>
          <a:p>
            <a:pPr>
              <a:lnSpc>
                <a:spcPct val="100000"/>
              </a:lnSpc>
            </a:pPr>
            <a:r>
              <a:rPr lang="en-GB" dirty="0"/>
              <a:t>Taken by </a:t>
            </a:r>
            <a:r>
              <a:rPr lang="en-GB" sz="3000" dirty="0"/>
              <a:t>SELECT</a:t>
            </a:r>
            <a:r>
              <a:rPr lang="en-GB" dirty="0"/>
              <a:t> and other read operations in: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Snapshot isolation.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Read-committed snapshot.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Read uncommitted, a.k.a. </a:t>
            </a:r>
            <a:r>
              <a:rPr lang="en-GB" sz="2600" dirty="0"/>
              <a:t>NOLOCK</a:t>
            </a:r>
            <a:r>
              <a:rPr lang="en-GB" dirty="0"/>
              <a:t>.</a:t>
            </a:r>
          </a:p>
          <a:p>
            <a:pPr>
              <a:lnSpc>
                <a:spcPct val="100000"/>
              </a:lnSpc>
            </a:pPr>
            <a:r>
              <a:rPr lang="en-GB" dirty="0"/>
              <a:t>Compatible with all locks, but Schema-modification.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Prevents schema from changing while query is running.</a:t>
            </a:r>
          </a:p>
          <a:p>
            <a:pPr>
              <a:lnSpc>
                <a:spcPct val="100000"/>
              </a:lnSpc>
            </a:pPr>
            <a:r>
              <a:rPr lang="en-GB" dirty="0"/>
              <a:t>Held to the end of the query.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10781-E5DB-40FF-AE9C-CEACB32C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61745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39DF-CC83-4D65-AE65-196AE428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Shared Locks 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ABD7-09AE-45F5-832D-0143AED7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Can be on any level.</a:t>
            </a:r>
          </a:p>
          <a:p>
            <a:pPr>
              <a:lnSpc>
                <a:spcPct val="100000"/>
              </a:lnSpc>
            </a:pPr>
            <a:r>
              <a:rPr lang="en-GB" dirty="0"/>
              <a:t>Taken by </a:t>
            </a:r>
            <a:r>
              <a:rPr lang="en-GB" sz="3000" dirty="0"/>
              <a:t>SELECT</a:t>
            </a:r>
            <a:r>
              <a:rPr lang="en-GB" dirty="0"/>
              <a:t> and other read operations in these isolation levels: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Read Committed without snapshot.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Repeatable Read.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Serializable.</a:t>
            </a:r>
          </a:p>
          <a:p>
            <a:pPr>
              <a:lnSpc>
                <a:spcPct val="100000"/>
              </a:lnSpc>
            </a:pPr>
            <a:r>
              <a:rPr lang="en-GB" dirty="0"/>
              <a:t>Incompatible with </a:t>
            </a:r>
            <a:r>
              <a:rPr lang="en-GB" dirty="0" err="1"/>
              <a:t>Sch</a:t>
            </a:r>
            <a:r>
              <a:rPr lang="en-GB" dirty="0"/>
              <a:t>-M and Exclusive locks. </a:t>
            </a:r>
          </a:p>
          <a:p>
            <a:pPr>
              <a:lnSpc>
                <a:spcPct val="100000"/>
              </a:lnSpc>
            </a:pPr>
            <a:r>
              <a:rPr lang="en-GB" dirty="0"/>
              <a:t>Compatible with </a:t>
            </a:r>
            <a:r>
              <a:rPr lang="en-GB" dirty="0" err="1"/>
              <a:t>Sch</a:t>
            </a:r>
            <a:r>
              <a:rPr lang="en-GB" dirty="0"/>
              <a:t>-S, Update locks and other Shared locks.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08157-0B55-4055-B6B6-BDC7A99A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69720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9D75-3580-4766-A96B-1DC1A88F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Locks (U)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22EC5-82FD-4D2A-9C6B-91F6EF9C7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Can be taken on any level.</a:t>
            </a:r>
          </a:p>
          <a:p>
            <a:r>
              <a:rPr lang="en-GB" dirty="0"/>
              <a:t>Taken by </a:t>
            </a:r>
            <a:r>
              <a:rPr lang="en-GB" sz="3000" dirty="0"/>
              <a:t>UPDATE</a:t>
            </a:r>
            <a:r>
              <a:rPr lang="en-GB" dirty="0"/>
              <a:t>, </a:t>
            </a:r>
            <a:r>
              <a:rPr lang="en-GB" sz="3000" dirty="0"/>
              <a:t>DELETE</a:t>
            </a:r>
            <a:r>
              <a:rPr lang="en-GB" dirty="0"/>
              <a:t> and </a:t>
            </a:r>
            <a:r>
              <a:rPr lang="en-GB" sz="3000" dirty="0"/>
              <a:t>MERGE</a:t>
            </a:r>
            <a:r>
              <a:rPr lang="en-GB" dirty="0"/>
              <a:t>.</a:t>
            </a:r>
          </a:p>
          <a:p>
            <a:r>
              <a:rPr lang="en-GB" dirty="0"/>
              <a:t>Compatible with </a:t>
            </a:r>
            <a:r>
              <a:rPr lang="en-GB" dirty="0" err="1"/>
              <a:t>Sch</a:t>
            </a:r>
            <a:r>
              <a:rPr lang="en-GB" dirty="0"/>
              <a:t>-S and Shared locks. </a:t>
            </a:r>
          </a:p>
          <a:p>
            <a:r>
              <a:rPr lang="en-GB" dirty="0"/>
              <a:t>Incompatible with </a:t>
            </a:r>
            <a:r>
              <a:rPr lang="en-GB" dirty="0" err="1"/>
              <a:t>Sch</a:t>
            </a:r>
            <a:r>
              <a:rPr lang="en-GB" dirty="0"/>
              <a:t>-M, Exclusive </a:t>
            </a:r>
            <a:r>
              <a:rPr lang="en-GB" i="1" dirty="0"/>
              <a:t>and</a:t>
            </a:r>
            <a:r>
              <a:rPr lang="en-GB" dirty="0"/>
              <a:t> </a:t>
            </a:r>
            <a:r>
              <a:rPr lang="en-GB" i="1" dirty="0"/>
              <a:t>with other</a:t>
            </a:r>
            <a:r>
              <a:rPr lang="en-GB" dirty="0"/>
              <a:t> Update locks.</a:t>
            </a:r>
          </a:p>
          <a:p>
            <a:r>
              <a:rPr lang="en-GB" dirty="0"/>
              <a:t>Purpose: reserve a row for update without blocking readers.</a:t>
            </a:r>
          </a:p>
          <a:p>
            <a:r>
              <a:rPr lang="en-GB" dirty="0"/>
              <a:t>Converted to Exclusive or released when not needed.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37B0E-666C-42D7-975F-B8807672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85305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43C3E4-E217-87D3-3D91-D9E10197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A.k.a</a:t>
            </a:r>
            <a:r>
              <a:rPr lang="en-GB" dirty="0"/>
              <a:t> “I am here” locks.</a:t>
            </a:r>
          </a:p>
          <a:p>
            <a:r>
              <a:rPr lang="en-GB" dirty="0"/>
              <a:t>A process wants to take an exclusive lock on table level. This should be blocked if there is a shared lock on any row.</a:t>
            </a:r>
          </a:p>
          <a:p>
            <a:r>
              <a:rPr lang="en-GB" dirty="0"/>
              <a:t>Check all rows if any is locked?</a:t>
            </a:r>
          </a:p>
          <a:p>
            <a:r>
              <a:rPr lang="en-GB" dirty="0"/>
              <a:t>That would be highly inefficient!</a:t>
            </a:r>
          </a:p>
          <a:p>
            <a:r>
              <a:rPr lang="en-GB" dirty="0"/>
              <a:t>Intent locks to the rescue!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EB9DFA-FDC0-10EF-3DDA-80B57287A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Intent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FAA65-7B1A-3C4F-9887-9F3712A19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4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B1D305-DC73-BAD9-6859-D454478D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Consider: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Col1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Col2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keycol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987</a:t>
            </a:r>
            <a:r>
              <a:rPr lang="en-GB" dirty="0"/>
              <a:t>.</a:t>
            </a:r>
          </a:p>
          <a:p>
            <a:r>
              <a:rPr lang="en-GB" dirty="0"/>
              <a:t>First take an Intent Shared (IS) lock on table level.</a:t>
            </a:r>
          </a:p>
          <a:p>
            <a:r>
              <a:rPr lang="en-GB" dirty="0"/>
              <a:t>This will be blocked if another process holds an Exclusive (X) lock on table level.</a:t>
            </a:r>
          </a:p>
          <a:p>
            <a:r>
              <a:rPr lang="en-GB" dirty="0"/>
              <a:t>Once the IS lock is taken, any attempt to take an Exclusive table lock will be blocked.</a:t>
            </a:r>
          </a:p>
          <a:p>
            <a:r>
              <a:rPr lang="en-GB" dirty="0"/>
              <a:t>Repeat on page level. (And partition if enabled.)</a:t>
            </a:r>
          </a:p>
          <a:p>
            <a:r>
              <a:rPr lang="en-GB" dirty="0"/>
              <a:t>Finally, take a Shared (S) lock the row with </a:t>
            </a:r>
            <a:r>
              <a:rPr lang="en-GB" dirty="0" err="1"/>
              <a:t>keycol</a:t>
            </a:r>
            <a:r>
              <a:rPr lang="en-GB" dirty="0"/>
              <a:t> = 987.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180BB3-C7E5-50F3-9332-CFECDB11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Intent Locks at 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6F2EE-68AF-D7D6-1750-74AA31E2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029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9193-25C1-4A0A-A81E-A1954E4C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Intent Locks and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31415-CF23-4F46-A09C-4EF919AF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are three types of Intent Locks:</a:t>
            </a:r>
          </a:p>
          <a:p>
            <a:pPr lvl="1"/>
            <a:r>
              <a:rPr lang="en-GB" dirty="0"/>
              <a:t>Intent Shared (IS).</a:t>
            </a:r>
          </a:p>
          <a:p>
            <a:pPr lvl="1"/>
            <a:r>
              <a:rPr lang="en-GB" dirty="0"/>
              <a:t>Intent Update (IU).</a:t>
            </a:r>
          </a:p>
          <a:p>
            <a:pPr lvl="1"/>
            <a:r>
              <a:rPr lang="en-GB" dirty="0"/>
              <a:t>Intent Exclusive (IX).</a:t>
            </a:r>
          </a:p>
          <a:p>
            <a:r>
              <a:rPr lang="en-GB" dirty="0"/>
              <a:t>All intent locks are compatible with each other.</a:t>
            </a:r>
          </a:p>
          <a:p>
            <a:r>
              <a:rPr lang="en-GB" dirty="0"/>
              <a:t>IS </a:t>
            </a:r>
            <a:r>
              <a:rPr lang="en-GB" dirty="0" err="1"/>
              <a:t>is</a:t>
            </a:r>
            <a:r>
              <a:rPr lang="en-GB" dirty="0"/>
              <a:t> incompatible with X and </a:t>
            </a:r>
            <a:r>
              <a:rPr lang="en-GB" dirty="0" err="1"/>
              <a:t>Sch</a:t>
            </a:r>
            <a:r>
              <a:rPr lang="en-GB" dirty="0"/>
              <a:t>-M.</a:t>
            </a:r>
          </a:p>
          <a:p>
            <a:r>
              <a:rPr lang="en-GB" dirty="0"/>
              <a:t>IU is incompatible with U, X and </a:t>
            </a:r>
            <a:r>
              <a:rPr lang="en-GB" dirty="0" err="1"/>
              <a:t>Sch</a:t>
            </a:r>
            <a:r>
              <a:rPr lang="en-GB" dirty="0"/>
              <a:t>-M.</a:t>
            </a:r>
          </a:p>
          <a:p>
            <a:r>
              <a:rPr lang="en-GB" dirty="0"/>
              <a:t>IX is incompatible with S, U, X and </a:t>
            </a:r>
            <a:r>
              <a:rPr lang="en-GB" dirty="0" err="1"/>
              <a:t>Sch</a:t>
            </a:r>
            <a:r>
              <a:rPr lang="en-GB" dirty="0"/>
              <a:t>-M.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8B895-7791-4792-AE4C-4FD58684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86035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78D2DC-F10F-78AC-5070-FDEF8D38F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Read Uncommitted.</a:t>
            </a:r>
          </a:p>
          <a:p>
            <a:r>
              <a:rPr lang="en-GB" dirty="0"/>
              <a:t>Read Committed (the default, has two implementations).</a:t>
            </a:r>
          </a:p>
          <a:p>
            <a:r>
              <a:rPr lang="en-GB" dirty="0"/>
              <a:t>Repeatable Read.</a:t>
            </a:r>
          </a:p>
          <a:p>
            <a:r>
              <a:rPr lang="en-GB" dirty="0"/>
              <a:t>Serializable.</a:t>
            </a:r>
          </a:p>
          <a:p>
            <a:r>
              <a:rPr lang="en-GB" dirty="0"/>
              <a:t>Snapshot.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F0726-A5D8-A4D6-0480-1709373FC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Isolation Levels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C33A9-1F90-52AD-7CF4-B447B56A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64567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BC03AF-02EE-DDB6-AB95-79DC589D7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isolation level can be controlled with a SET  command, for instance: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TRANSACTION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ISOLATION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LEVEL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REPEATABLE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READ</a:t>
            </a:r>
            <a:endParaRPr lang="en-GB" sz="3000" dirty="0"/>
          </a:p>
          <a:p>
            <a:pPr lvl="1"/>
            <a:r>
              <a:rPr lang="en-GB" dirty="0"/>
              <a:t>The specified level applies to all queries until there is a new </a:t>
            </a:r>
            <a:r>
              <a:rPr lang="en-GB" sz="2600" dirty="0"/>
              <a:t>SET TRANSACTION ISOLATION LEVEL </a:t>
            </a:r>
            <a:r>
              <a:rPr lang="en-GB" dirty="0"/>
              <a:t>command or the module exits.</a:t>
            </a:r>
          </a:p>
          <a:p>
            <a:r>
              <a:rPr lang="en-GB" dirty="0"/>
              <a:t>You can also control the isolation level for a specific table in a query with a hint, for instance: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SERIALIZABLE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61A752-8B28-AEF5-DC31-C7B242351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Isolation Levels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A11F1-BD4B-09CA-AFF9-0FFD02B9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77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BF65C2-1EED-16DC-AF30-A27111A0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Semantics: you accept to read data that is uncommitted and which could be inconsistent.</a:t>
            </a:r>
          </a:p>
          <a:p>
            <a:r>
              <a:rPr lang="en-GB" dirty="0"/>
              <a:t>Also known as “dirty reads”.</a:t>
            </a:r>
          </a:p>
          <a:p>
            <a:r>
              <a:rPr lang="en-GB" dirty="0"/>
              <a:t>In query hints often specified as </a:t>
            </a:r>
            <a:r>
              <a:rPr lang="en-GB" sz="3200" dirty="0"/>
              <a:t>NOLOCK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F3A097-7479-9928-F6F1-19182E12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Uncommitted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A88AB-5740-B962-AADE-C1EDE4AF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41514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BF65C2-1EED-16DC-AF30-A27111A09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Consider this data and query:</a:t>
            </a:r>
          </a:p>
          <a:p>
            <a:pPr marL="3168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Amount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168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168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Customer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2000"/>
              </a:spcBef>
            </a:pPr>
            <a:r>
              <a:rPr lang="en-GB" dirty="0"/>
              <a:t>As query runs, a transaction</a:t>
            </a:r>
            <a:br>
              <a:rPr lang="en-GB" dirty="0"/>
            </a:br>
            <a:r>
              <a:rPr lang="en-GB" dirty="0"/>
              <a:t>books a transfer of 50€ from account 234 to 345.</a:t>
            </a:r>
          </a:p>
          <a:p>
            <a:r>
              <a:rPr lang="en-GB" dirty="0"/>
              <a:t>Our query may return 950, 1050 or something else depending on how the transfer is implemented.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F3A097-7479-9928-F6F1-19182E12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Uncommitted, Semantics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A88AB-5740-B962-AADE-C1EDE4AF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511901C-1BC9-E82F-E554-E4478B68A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2013"/>
              </p:ext>
            </p:extLst>
          </p:nvPr>
        </p:nvGraphicFramePr>
        <p:xfrm>
          <a:off x="6822831" y="1815330"/>
          <a:ext cx="4223443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106">
                  <a:extLst>
                    <a:ext uri="{9D8B030D-6E8A-4147-A177-3AD203B41FA5}">
                      <a16:colId xmlns:a16="http://schemas.microsoft.com/office/drawing/2014/main" val="2206119771"/>
                    </a:ext>
                  </a:extLst>
                </a:gridCol>
                <a:gridCol w="1347090">
                  <a:extLst>
                    <a:ext uri="{9D8B030D-6E8A-4147-A177-3AD203B41FA5}">
                      <a16:colId xmlns:a16="http://schemas.microsoft.com/office/drawing/2014/main" val="1954168395"/>
                    </a:ext>
                  </a:extLst>
                </a:gridCol>
                <a:gridCol w="1342247">
                  <a:extLst>
                    <a:ext uri="{9D8B030D-6E8A-4147-A177-3AD203B41FA5}">
                      <a16:colId xmlns:a16="http://schemas.microsoft.com/office/drawing/2014/main" val="1531806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32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81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325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5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600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60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040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6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232DCD-029A-03C2-F399-E9604383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SELECT</a:t>
            </a:r>
            <a:r>
              <a:rPr lang="en-GB" dirty="0"/>
              <a:t> statements do not take shared locks on row, page or table level.</a:t>
            </a:r>
          </a:p>
          <a:p>
            <a:r>
              <a:rPr lang="en-GB" dirty="0"/>
              <a:t>They do take </a:t>
            </a:r>
            <a:r>
              <a:rPr lang="en-GB" dirty="0" err="1"/>
              <a:t>Sch</a:t>
            </a:r>
            <a:r>
              <a:rPr lang="en-GB" dirty="0"/>
              <a:t>-S locks for all tables in the query.</a:t>
            </a:r>
          </a:p>
          <a:p>
            <a:r>
              <a:rPr lang="en-GB" dirty="0"/>
              <a:t>Thus, you can still be blocked by DDL, for instance index rebuild.</a:t>
            </a:r>
          </a:p>
          <a:p>
            <a:r>
              <a:rPr lang="en-GB" sz="3200" dirty="0"/>
              <a:t>INSERT</a:t>
            </a:r>
            <a:r>
              <a:rPr lang="en-GB" dirty="0"/>
              <a:t>, </a:t>
            </a:r>
            <a:r>
              <a:rPr lang="en-GB" sz="3200" dirty="0"/>
              <a:t>UPDATE</a:t>
            </a:r>
            <a:r>
              <a:rPr lang="en-GB" dirty="0"/>
              <a:t>, </a:t>
            </a:r>
            <a:r>
              <a:rPr lang="en-GB" sz="3200" dirty="0"/>
              <a:t>DELETE</a:t>
            </a:r>
            <a:r>
              <a:rPr lang="en-GB" dirty="0"/>
              <a:t> and </a:t>
            </a:r>
            <a:r>
              <a:rPr lang="en-GB" sz="3200" dirty="0"/>
              <a:t>MERGE</a:t>
            </a:r>
            <a:r>
              <a:rPr lang="en-GB" dirty="0"/>
              <a:t> will take Update/Exclusive locks for their target tables.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219F72-BFE3-D55D-BF08-518FB3D6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Uncommitted,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1E720-091D-312A-64EF-584AB5422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402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52764B-430F-FA3A-37F4-2F640AF54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Semantics: Guaranteed to read only committed data.</a:t>
            </a:r>
          </a:p>
          <a:p>
            <a:r>
              <a:rPr lang="en-GB" dirty="0"/>
              <a:t>Thus the query 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Amount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br>
              <a:rPr lang="en-GB" dirty="0"/>
            </a:br>
            <a:r>
              <a:rPr lang="en-GB" dirty="0"/>
              <a:t>can only return 1000, even if a transfer is in progress.</a:t>
            </a:r>
          </a:p>
          <a:p>
            <a:r>
              <a:rPr lang="en-GB" dirty="0"/>
              <a:t>Say that while query is running, Jane withdraws 150€ from account 456 the ATM.</a:t>
            </a:r>
          </a:p>
          <a:p>
            <a:r>
              <a:rPr lang="en-GB" dirty="0"/>
              <a:t>Our query may return 850 or 1000. Both are correct under Read Committed.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FCD157-92E6-1C0F-3E99-52164F13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Committed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47ACF-5E18-A327-14BF-6D963197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52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D9DAA2-3279-04B0-104E-97C29DF1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the default isolation level in SQL Server.</a:t>
            </a:r>
          </a:p>
          <a:p>
            <a:r>
              <a:rPr lang="en-GB" dirty="0"/>
              <a:t>There are two implementations: locks and snapshot.</a:t>
            </a:r>
          </a:p>
          <a:p>
            <a:r>
              <a:rPr lang="en-GB" dirty="0"/>
              <a:t>Locks is the default in the box product and Azure SQL Managed Instance.</a:t>
            </a:r>
          </a:p>
          <a:p>
            <a:r>
              <a:rPr lang="en-GB" dirty="0"/>
              <a:t>Snapshot is the default in Azure SQL Database.</a:t>
            </a:r>
          </a:p>
          <a:p>
            <a:r>
              <a:rPr lang="en-GB" dirty="0"/>
              <a:t>Foreign-key validations always use locks.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C561BC-8AAE-07A0-8CFA-D520DD15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Committed in SQL Server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CC34B-7407-5756-637B-F5D112AA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889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E6AAE8-E713-08AA-9CDE-5F214FF9E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Server takes shared locks on row, page or table level. </a:t>
            </a:r>
          </a:p>
          <a:p>
            <a:r>
              <a:rPr lang="en-GB" dirty="0"/>
              <a:t>If the query </a:t>
            </a:r>
            <a:br>
              <a:rPr lang="en-GB" dirty="0"/>
            </a:b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Amount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br>
              <a:rPr lang="en-GB" dirty="0"/>
            </a:br>
            <a:r>
              <a:rPr lang="en-GB" dirty="0"/>
              <a:t>runs while Jane withdraws 150€, the result will be 850, as we wait until withdrawal is committed.</a:t>
            </a:r>
          </a:p>
          <a:p>
            <a:r>
              <a:rPr lang="en-GB" dirty="0"/>
              <a:t>Locks are released when not needed anymore.</a:t>
            </a:r>
          </a:p>
          <a:p>
            <a:r>
              <a:rPr lang="en-GB" dirty="0"/>
              <a:t>Hm, what does that mean exactly?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568434-C8B1-3B04-EA40-44FB7793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Committed with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FAD57-CF8C-E3DF-7C54-196888A2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179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D337A6-A712-0C02-58CE-A84E15E31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34" y="2314208"/>
            <a:ext cx="6157913" cy="318611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AF04B7-F75F-EF15-B375-BE6E72E6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When Not Needed Anymore?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97CBE-29BB-BE4B-9CF5-5353660B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 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7B33E7-7CE0-6818-F64E-0A1FCA6AB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7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7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7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Freight</a:t>
            </a:r>
            <a:r>
              <a:rPr lang="en-GB" sz="27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7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r>
              <a:rPr lang="en-GB" sz="27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7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700" dirty="0">
                <a:solidFill>
                  <a:srgbClr val="000000"/>
                </a:solidFill>
                <a:latin typeface="Consolas" panose="020B0609020204030204" pitchFamily="49" charset="0"/>
              </a:rPr>
              <a:t> 42</a:t>
            </a:r>
            <a:endParaRPr lang="en-GB" sz="27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Execution plan:</a:t>
            </a:r>
            <a:br>
              <a:rPr lang="en-GB" dirty="0"/>
            </a:br>
            <a:r>
              <a:rPr lang="en-GB" dirty="0"/>
              <a:t>Index Seek + Key Lookup.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294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E3D0F81-CD55-F123-2952-F3727C8687D6}"/>
              </a:ext>
            </a:extLst>
          </p:cNvPr>
          <p:cNvSpPr/>
          <p:nvPr/>
        </p:nvSpPr>
        <p:spPr>
          <a:xfrm>
            <a:off x="4568400" y="2289600"/>
            <a:ext cx="14220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0993BA2-1C3C-7574-B9F0-6C41F706E709}"/>
              </a:ext>
            </a:extLst>
          </p:cNvPr>
          <p:cNvSpPr/>
          <p:nvPr/>
        </p:nvSpPr>
        <p:spPr>
          <a:xfrm>
            <a:off x="6796800" y="2289600"/>
            <a:ext cx="14220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F45C29-09AC-7394-15F0-920DB3233DEE}"/>
              </a:ext>
            </a:extLst>
          </p:cNvPr>
          <p:cNvSpPr/>
          <p:nvPr/>
        </p:nvSpPr>
        <p:spPr>
          <a:xfrm>
            <a:off x="9014400" y="2289600"/>
            <a:ext cx="14220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75406C-3F1D-DA57-7B43-AF29C0366FFC}"/>
              </a:ext>
            </a:extLst>
          </p:cNvPr>
          <p:cNvSpPr/>
          <p:nvPr/>
        </p:nvSpPr>
        <p:spPr>
          <a:xfrm>
            <a:off x="6757200" y="5414400"/>
            <a:ext cx="6084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1C8B59-129D-3C53-411B-A23C4E3E24BD}"/>
              </a:ext>
            </a:extLst>
          </p:cNvPr>
          <p:cNvSpPr/>
          <p:nvPr/>
        </p:nvSpPr>
        <p:spPr>
          <a:xfrm>
            <a:off x="10202400" y="5414400"/>
            <a:ext cx="6084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E287DA-2017-63BA-DE00-BA1E60BD0BF4}"/>
              </a:ext>
            </a:extLst>
          </p:cNvPr>
          <p:cNvSpPr/>
          <p:nvPr/>
        </p:nvSpPr>
        <p:spPr>
          <a:xfrm>
            <a:off x="4164754" y="5408001"/>
            <a:ext cx="6084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0622A-1794-0EC9-51AE-2D20DF65AA0D}"/>
              </a:ext>
            </a:extLst>
          </p:cNvPr>
          <p:cNvSpPr txBox="1"/>
          <p:nvPr/>
        </p:nvSpPr>
        <p:spPr>
          <a:xfrm>
            <a:off x="1090246" y="2080511"/>
            <a:ext cx="2699238" cy="923330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EmployeeID</a:t>
            </a:r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 41</a:t>
            </a:r>
          </a:p>
          <a:p>
            <a:pPr algn="l"/>
            <a:r>
              <a:rPr lang="en-GB" sz="270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12311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F3FA-7144-D8E4-324B-C74532BFF369}"/>
              </a:ext>
            </a:extLst>
          </p:cNvPr>
          <p:cNvSpPr txBox="1"/>
          <p:nvPr/>
        </p:nvSpPr>
        <p:spPr>
          <a:xfrm>
            <a:off x="4568537" y="2288261"/>
            <a:ext cx="1421422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DE70-0E50-8FB7-BD22-322F8F9B457F}"/>
              </a:ext>
            </a:extLst>
          </p:cNvPr>
          <p:cNvSpPr txBox="1"/>
          <p:nvPr/>
        </p:nvSpPr>
        <p:spPr>
          <a:xfrm>
            <a:off x="6797788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B6A49-91CB-B87A-2910-D790BC2DE837}"/>
              </a:ext>
            </a:extLst>
          </p:cNvPr>
          <p:cNvSpPr txBox="1"/>
          <p:nvPr/>
        </p:nvSpPr>
        <p:spPr>
          <a:xfrm>
            <a:off x="9015629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D017B-43A5-9941-1144-0CC43E6D8920}"/>
              </a:ext>
            </a:extLst>
          </p:cNvPr>
          <p:cNvSpPr txBox="1"/>
          <p:nvPr/>
        </p:nvSpPr>
        <p:spPr>
          <a:xfrm>
            <a:off x="598123" y="1188623"/>
            <a:ext cx="206858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empid_ix</a:t>
            </a:r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59A49D-E999-8E65-21D5-BBBCC9D35E36}"/>
              </a:ext>
            </a:extLst>
          </p:cNvPr>
          <p:cNvCxnSpPr>
            <a:cxnSpLocks/>
          </p:cNvCxnSpPr>
          <p:nvPr/>
        </p:nvCxnSpPr>
        <p:spPr>
          <a:xfrm>
            <a:off x="311193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8AF58B-D28A-29FA-7791-7592353622E4}"/>
              </a:ext>
            </a:extLst>
          </p:cNvPr>
          <p:cNvCxnSpPr>
            <a:cxnSpLocks/>
          </p:cNvCxnSpPr>
          <p:nvPr/>
        </p:nvCxnSpPr>
        <p:spPr>
          <a:xfrm>
            <a:off x="3789484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85EC0C-D433-8BDD-8F9C-6DB740FAD35D}"/>
              </a:ext>
            </a:extLst>
          </p:cNvPr>
          <p:cNvCxnSpPr>
            <a:cxnSpLocks/>
          </p:cNvCxnSpPr>
          <p:nvPr/>
        </p:nvCxnSpPr>
        <p:spPr>
          <a:xfrm>
            <a:off x="6004347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2193A1-630F-57BE-42E6-9FF07BF95F59}"/>
              </a:ext>
            </a:extLst>
          </p:cNvPr>
          <p:cNvCxnSpPr>
            <a:cxnSpLocks/>
          </p:cNvCxnSpPr>
          <p:nvPr/>
        </p:nvCxnSpPr>
        <p:spPr>
          <a:xfrm>
            <a:off x="8219788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938FE3-FBE2-9B0C-AE80-9162D16C63CD}"/>
              </a:ext>
            </a:extLst>
          </p:cNvPr>
          <p:cNvCxnSpPr>
            <a:cxnSpLocks/>
          </p:cNvCxnSpPr>
          <p:nvPr/>
        </p:nvCxnSpPr>
        <p:spPr>
          <a:xfrm>
            <a:off x="10454417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A571AD-D627-0F29-38C4-7383ADD2D56E}"/>
              </a:ext>
            </a:extLst>
          </p:cNvPr>
          <p:cNvSpPr txBox="1"/>
          <p:nvPr/>
        </p:nvSpPr>
        <p:spPr>
          <a:xfrm>
            <a:off x="1090247" y="5413662"/>
            <a:ext cx="1819208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9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CEA46-6E83-A21E-7BFD-306E99CD2E8F}"/>
              </a:ext>
            </a:extLst>
          </p:cNvPr>
          <p:cNvSpPr txBox="1"/>
          <p:nvPr/>
        </p:nvSpPr>
        <p:spPr>
          <a:xfrm>
            <a:off x="3310969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BCB5B2-DE6C-7373-568C-81D6143E9377}"/>
              </a:ext>
            </a:extLst>
          </p:cNvPr>
          <p:cNvSpPr txBox="1"/>
          <p:nvPr/>
        </p:nvSpPr>
        <p:spPr>
          <a:xfrm>
            <a:off x="4172416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F80EF-B269-1E4D-DBD7-AE6F248B4397}"/>
              </a:ext>
            </a:extLst>
          </p:cNvPr>
          <p:cNvSpPr txBox="1"/>
          <p:nvPr/>
        </p:nvSpPr>
        <p:spPr>
          <a:xfrm>
            <a:off x="5033863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BB16A-CC86-4260-CE53-9B4752821913}"/>
              </a:ext>
            </a:extLst>
          </p:cNvPr>
          <p:cNvSpPr txBox="1"/>
          <p:nvPr/>
        </p:nvSpPr>
        <p:spPr>
          <a:xfrm>
            <a:off x="5895310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78CEF-FF40-F3E7-7F04-89CB789FF11A}"/>
              </a:ext>
            </a:extLst>
          </p:cNvPr>
          <p:cNvSpPr txBox="1"/>
          <p:nvPr/>
        </p:nvSpPr>
        <p:spPr>
          <a:xfrm>
            <a:off x="6756757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3DD40-398D-0B75-6D7C-F19960B05B28}"/>
              </a:ext>
            </a:extLst>
          </p:cNvPr>
          <p:cNvSpPr txBox="1"/>
          <p:nvPr/>
        </p:nvSpPr>
        <p:spPr>
          <a:xfrm>
            <a:off x="7618204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77F559-9E90-FB84-0863-52217FD9961A}"/>
              </a:ext>
            </a:extLst>
          </p:cNvPr>
          <p:cNvSpPr txBox="1"/>
          <p:nvPr/>
        </p:nvSpPr>
        <p:spPr>
          <a:xfrm>
            <a:off x="8479651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30EB69-CFAF-BF8C-B2F0-47D7F2884CA6}"/>
              </a:ext>
            </a:extLst>
          </p:cNvPr>
          <p:cNvSpPr txBox="1"/>
          <p:nvPr/>
        </p:nvSpPr>
        <p:spPr>
          <a:xfrm>
            <a:off x="9341098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439108-5A94-E3C0-4B69-A0EAD1895A35}"/>
              </a:ext>
            </a:extLst>
          </p:cNvPr>
          <p:cNvSpPr txBox="1"/>
          <p:nvPr/>
        </p:nvSpPr>
        <p:spPr>
          <a:xfrm>
            <a:off x="10202547" y="5413662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18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69E46D-7BAF-B4A2-4B8F-BEC4852D5401}"/>
              </a:ext>
            </a:extLst>
          </p:cNvPr>
          <p:cNvCxnSpPr>
            <a:cxnSpLocks/>
          </p:cNvCxnSpPr>
          <p:nvPr/>
        </p:nvCxnSpPr>
        <p:spPr>
          <a:xfrm>
            <a:off x="309591" y="5667577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ADFAA4-54C4-C433-D260-287435F629A7}"/>
              </a:ext>
            </a:extLst>
          </p:cNvPr>
          <p:cNvCxnSpPr>
            <a:cxnSpLocks/>
          </p:cNvCxnSpPr>
          <p:nvPr/>
        </p:nvCxnSpPr>
        <p:spPr>
          <a:xfrm>
            <a:off x="2921840" y="5665778"/>
            <a:ext cx="389129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199D16-F5D7-B83A-A4F7-942799E160D6}"/>
              </a:ext>
            </a:extLst>
          </p:cNvPr>
          <p:cNvCxnSpPr>
            <a:cxnSpLocks/>
          </p:cNvCxnSpPr>
          <p:nvPr/>
        </p:nvCxnSpPr>
        <p:spPr>
          <a:xfrm>
            <a:off x="3897087" y="566577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719D41-36BE-D0C8-D722-3318D7700DC4}"/>
              </a:ext>
            </a:extLst>
          </p:cNvPr>
          <p:cNvCxnSpPr>
            <a:cxnSpLocks/>
          </p:cNvCxnSpPr>
          <p:nvPr/>
        </p:nvCxnSpPr>
        <p:spPr>
          <a:xfrm>
            <a:off x="4758534" y="566577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43BA85-D323-474E-8D3E-DF70C7EA4E0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640264" y="5665778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646E37-C503-E546-D0F9-2D6DBEB3397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501711" y="5665778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63AA7-FAF5-DF03-B968-C8C4F4837259}"/>
              </a:ext>
            </a:extLst>
          </p:cNvPr>
          <p:cNvCxnSpPr>
            <a:cxnSpLocks/>
          </p:cNvCxnSpPr>
          <p:nvPr/>
        </p:nvCxnSpPr>
        <p:spPr>
          <a:xfrm>
            <a:off x="7342875" y="566577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81B54C-F12D-AB28-675E-E6BF17D2C63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209983" y="5665778"/>
            <a:ext cx="269668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79024AF-2892-B25C-6280-D1B08483374A}"/>
              </a:ext>
            </a:extLst>
          </p:cNvPr>
          <p:cNvCxnSpPr>
            <a:cxnSpLocks/>
          </p:cNvCxnSpPr>
          <p:nvPr/>
        </p:nvCxnSpPr>
        <p:spPr>
          <a:xfrm>
            <a:off x="9077091" y="566577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DF25A7-1948-4B88-3C05-2B4A17231504}"/>
              </a:ext>
            </a:extLst>
          </p:cNvPr>
          <p:cNvCxnSpPr>
            <a:cxnSpLocks/>
          </p:cNvCxnSpPr>
          <p:nvPr/>
        </p:nvCxnSpPr>
        <p:spPr>
          <a:xfrm>
            <a:off x="9947501" y="567461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7C5E45A-030A-E46E-8FEE-0335FE087813}"/>
              </a:ext>
            </a:extLst>
          </p:cNvPr>
          <p:cNvSpPr txBox="1"/>
          <p:nvPr/>
        </p:nvSpPr>
        <p:spPr>
          <a:xfrm>
            <a:off x="598123" y="4472534"/>
            <a:ext cx="328596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Clustered index: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1D36E7AB-027C-4315-B3E9-13A1BDA1EA79}"/>
              </a:ext>
            </a:extLst>
          </p:cNvPr>
          <p:cNvSpPr/>
          <p:nvPr/>
        </p:nvSpPr>
        <p:spPr>
          <a:xfrm>
            <a:off x="5033863" y="1473316"/>
            <a:ext cx="338237" cy="751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0E43A479-3FD3-BC76-2193-730BC04FDC54}"/>
              </a:ext>
            </a:extLst>
          </p:cNvPr>
          <p:cNvSpPr/>
          <p:nvPr/>
        </p:nvSpPr>
        <p:spPr>
          <a:xfrm>
            <a:off x="4530824" y="2784770"/>
            <a:ext cx="388754" cy="261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3575D623-D746-8FE5-D72F-7F5828156DCE}"/>
              </a:ext>
            </a:extLst>
          </p:cNvPr>
          <p:cNvSpPr/>
          <p:nvPr/>
        </p:nvSpPr>
        <p:spPr>
          <a:xfrm>
            <a:off x="7342875" y="1537123"/>
            <a:ext cx="338237" cy="751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28B58DCB-2517-5EFF-235B-74068928F798}"/>
              </a:ext>
            </a:extLst>
          </p:cNvPr>
          <p:cNvSpPr/>
          <p:nvPr/>
        </p:nvSpPr>
        <p:spPr>
          <a:xfrm>
            <a:off x="9557510" y="1532248"/>
            <a:ext cx="338237" cy="751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7202D651-4BE0-D08C-34C5-EF06AB0BA146}"/>
              </a:ext>
            </a:extLst>
          </p:cNvPr>
          <p:cNvSpPr/>
          <p:nvPr/>
        </p:nvSpPr>
        <p:spPr>
          <a:xfrm>
            <a:off x="7059958" y="2796092"/>
            <a:ext cx="388754" cy="26139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7432DB74-60FF-6C74-339F-A79BD6769366}"/>
              </a:ext>
            </a:extLst>
          </p:cNvPr>
          <p:cNvSpPr/>
          <p:nvPr/>
        </p:nvSpPr>
        <p:spPr>
          <a:xfrm>
            <a:off x="10166701" y="2800968"/>
            <a:ext cx="388754" cy="261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Footer Placeholder 3">
            <a:extLst>
              <a:ext uri="{FF2B5EF4-FFF2-40B4-BE49-F238E27FC236}">
                <a16:creationId xmlns:a16="http://schemas.microsoft.com/office/drawing/2014/main" id="{A4354DF7-ADD9-F8E2-6849-A3521250E7F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>
                <a:latin typeface="IBM Plex Sans" panose="020B0503050203000203" pitchFamily="34" charset="0"/>
              </a:rPr>
              <a:t>© Erland </a:t>
            </a:r>
            <a:r>
              <a:rPr lang="en-GB" sz="1100" dirty="0" err="1">
                <a:latin typeface="IBM Plex Sans" panose="020B0503050203000203" pitchFamily="34" charset="0"/>
              </a:rPr>
              <a:t>Sommarskog</a:t>
            </a:r>
            <a:r>
              <a:rPr lang="en-GB" sz="1100" dirty="0">
                <a:latin typeface="IBM Plex Sans" panose="020B0503050203000203" pitchFamily="34" charset="0"/>
              </a:rPr>
              <a:t> 2023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303D5D-3B03-AA6D-8E92-41CBF5EDD6D9}"/>
              </a:ext>
            </a:extLst>
          </p:cNvPr>
          <p:cNvCxnSpPr>
            <a:cxnSpLocks/>
          </p:cNvCxnSpPr>
          <p:nvPr/>
        </p:nvCxnSpPr>
        <p:spPr>
          <a:xfrm>
            <a:off x="10843943" y="5674618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34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1" grpId="1" animBg="1"/>
      <p:bldP spid="52" grpId="0" animBg="1"/>
      <p:bldP spid="58" grpId="0" animBg="1"/>
      <p:bldP spid="58" grpId="1" animBg="1"/>
      <p:bldP spid="59" grpId="0" animBg="1"/>
      <p:bldP spid="57" grpId="0" animBg="1"/>
      <p:bldP spid="57" grpId="1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46" grpId="0"/>
      <p:bldP spid="47" grpId="0" animBg="1"/>
      <p:bldP spid="47" grpId="1" animBg="1"/>
      <p:bldP spid="48" grpId="0" animBg="1"/>
      <p:bldP spid="48" grpId="1" animBg="1"/>
      <p:bldP spid="53" grpId="0" animBg="1"/>
      <p:bldP spid="53" grpId="1" animBg="1"/>
      <p:bldP spid="54" grpId="0" animBg="1"/>
      <p:bldP spid="55" grpId="0" animBg="1"/>
      <p:bldP spid="55" grpId="1" animBg="1"/>
      <p:bldP spid="5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A37FE0-3B05-4364-3426-276694AAE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SELECT statements do not read from the data pages, but from a version store, usually maintained in </a:t>
            </a:r>
            <a:r>
              <a:rPr lang="en-GB" dirty="0" err="1"/>
              <a:t>tempdb</a:t>
            </a:r>
            <a:r>
              <a:rPr lang="en-GB" dirty="0"/>
              <a:t>.</a:t>
            </a:r>
          </a:p>
          <a:p>
            <a:pPr>
              <a:lnSpc>
                <a:spcPct val="100000"/>
              </a:lnSpc>
            </a:pPr>
            <a:r>
              <a:rPr lang="en-GB" dirty="0"/>
              <a:t>If Accelerated Database Recovery is enabled, version store is in the database itself.</a:t>
            </a:r>
          </a:p>
          <a:p>
            <a:pPr>
              <a:lnSpc>
                <a:spcPct val="100000"/>
              </a:lnSpc>
            </a:pPr>
            <a:r>
              <a:rPr lang="en-GB" dirty="0"/>
              <a:t>You read what was committed when query started(*).</a:t>
            </a:r>
          </a:p>
          <a:p>
            <a:pPr>
              <a:lnSpc>
                <a:spcPct val="100000"/>
              </a:lnSpc>
            </a:pP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Amount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br>
              <a:rPr lang="en-GB" dirty="0"/>
            </a:br>
            <a:r>
              <a:rPr lang="en-GB" dirty="0"/>
              <a:t>runs while Jane withdraws 150€. The result will be 1000, the sum before the withdrawal.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46510-3C3E-F897-43DC-74E9BD3B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 Committed Snapshot (RCSI)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15AE8-3706-4A24-07A6-51B03AA9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761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99F00D-721A-3A7B-0883-39536B982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“when query started(*)”: If there are non-</a:t>
            </a:r>
            <a:r>
              <a:rPr lang="en-GB" dirty="0" err="1"/>
              <a:t>inlined</a:t>
            </a:r>
            <a:r>
              <a:rPr lang="en-GB" dirty="0"/>
              <a:t> user-defined functions, they have their own starting points.</a:t>
            </a:r>
          </a:p>
          <a:p>
            <a:pPr>
              <a:lnSpc>
                <a:spcPct val="100000"/>
              </a:lnSpc>
            </a:pPr>
            <a:r>
              <a:rPr lang="en-GB" dirty="0"/>
              <a:t>Overall, don’t rely too much on “when query started”. 850 would still be correct with Read Committed.</a:t>
            </a:r>
          </a:p>
          <a:p>
            <a:pPr>
              <a:lnSpc>
                <a:spcPct val="100000"/>
              </a:lnSpc>
            </a:pPr>
            <a:r>
              <a:rPr lang="en-GB" sz="3000" dirty="0"/>
              <a:t>SELECT</a:t>
            </a:r>
            <a:r>
              <a:rPr lang="en-GB" dirty="0"/>
              <a:t> queries do not take shared locks with RCSI, but take </a:t>
            </a:r>
            <a:r>
              <a:rPr lang="en-GB" dirty="0" err="1"/>
              <a:t>Sch</a:t>
            </a:r>
            <a:r>
              <a:rPr lang="en-GB" dirty="0"/>
              <a:t>-S locks on all tables in queries.</a:t>
            </a:r>
          </a:p>
          <a:p>
            <a:pPr>
              <a:lnSpc>
                <a:spcPct val="100000"/>
              </a:lnSpc>
            </a:pPr>
            <a:r>
              <a:rPr lang="en-GB" sz="3000" dirty="0"/>
              <a:t>UPDATE</a:t>
            </a:r>
            <a:r>
              <a:rPr lang="en-GB" dirty="0"/>
              <a:t> and </a:t>
            </a:r>
            <a:r>
              <a:rPr lang="en-GB" sz="3000" dirty="0"/>
              <a:t>DELETE</a:t>
            </a:r>
            <a:r>
              <a:rPr lang="en-GB" dirty="0"/>
              <a:t> still take Update locks for their target tables without using the version store.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They use the version store for other tables.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2D51B1-63D2-8AAE-4FB5-AACC3280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 Committed Snapshot, cont’d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1F356-8A7F-7E8C-D7A9-4151682D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56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549D34-A6C7-B84A-58A3-7BD58AE71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To enable/disable Read Committed Snapshot:</a:t>
            </a:r>
            <a:br>
              <a:rPr lang="en-GB" dirty="0"/>
            </a:b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DATABASE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db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READ_COMMITTED_SNAPSHOT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ON / OFF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Database must be in single-user mode to make the change.</a:t>
            </a:r>
          </a:p>
          <a:p>
            <a:r>
              <a:rPr lang="en-GB" dirty="0"/>
              <a:t>When disabled, Read Committed is always by locks.</a:t>
            </a:r>
          </a:p>
          <a:p>
            <a:r>
              <a:rPr lang="en-GB" dirty="0"/>
              <a:t>When enabled, Read Committed defaults to snapshot.</a:t>
            </a:r>
          </a:p>
          <a:p>
            <a:r>
              <a:rPr lang="en-GB" dirty="0"/>
              <a:t>You can override with the </a:t>
            </a:r>
            <a:r>
              <a:rPr lang="en-GB" sz="3000" dirty="0"/>
              <a:t>READCOMMITTEDLOCK</a:t>
            </a:r>
            <a:r>
              <a:rPr lang="en-GB" dirty="0"/>
              <a:t> hint, but there is no </a:t>
            </a:r>
            <a:r>
              <a:rPr lang="en-GB" sz="3000" dirty="0"/>
              <a:t>SET TRANSACTION ISOLATION LEVEL </a:t>
            </a:r>
            <a:r>
              <a:rPr lang="en-GB" dirty="0"/>
              <a:t>command.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FC95ED-73E5-4363-65C0-4ACBD27A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Read Committed Snapshot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96302-BDA4-77F1-D2AC-F539D10D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59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E2CBBE-4F76-7663-D5B7-21EF61C22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Semantics: if you read the same row twice in a transaction, you will get back the same result.</a:t>
            </a:r>
          </a:p>
          <a:p>
            <a:pPr>
              <a:lnSpc>
                <a:spcPct val="100000"/>
              </a:lnSpc>
            </a:pPr>
            <a:r>
              <a:rPr lang="en-GB" dirty="0"/>
              <a:t>Use case: Say that we are running 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Amount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Customer </a:t>
            </a:r>
            <a:r>
              <a:rPr lang="en-GB" sz="3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FF0000"/>
                </a:solidFill>
                <a:latin typeface="Consolas" panose="020B0609020204030204" pitchFamily="49" charset="0"/>
              </a:rPr>
              <a:t>'Jane'</a:t>
            </a:r>
            <a:br>
              <a:rPr lang="en-GB" dirty="0"/>
            </a:br>
            <a:r>
              <a:rPr lang="en-GB" dirty="0"/>
              <a:t>We intend to use those 1000€ later in the transaction, so we want to make sure that result does not change.</a:t>
            </a:r>
          </a:p>
          <a:p>
            <a:pPr>
              <a:lnSpc>
                <a:spcPct val="100000"/>
              </a:lnSpc>
            </a:pPr>
            <a:r>
              <a:rPr lang="en-GB" dirty="0"/>
              <a:t>Shared locks are held to the end of the transaction.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Locks on rows filtered out are released directly.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17B6C7-777C-F6BF-B133-7090543F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Repeatable Read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04B8C-7759-73CC-2E77-1F51014C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4F57C-E242-713C-539A-0F193F5A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With Repeatable Read, deposits or withdrawals to the existing accounts will be blocked.</a:t>
            </a:r>
          </a:p>
          <a:p>
            <a:pPr>
              <a:lnSpc>
                <a:spcPct val="100000"/>
              </a:lnSpc>
            </a:pPr>
            <a:r>
              <a:rPr lang="en-GB" dirty="0"/>
              <a:t>What if someone adds a new account, for instance a loan with a negative balance?  </a:t>
            </a:r>
          </a:p>
          <a:p>
            <a:pPr>
              <a:lnSpc>
                <a:spcPct val="100000"/>
              </a:lnSpc>
            </a:pPr>
            <a:r>
              <a:rPr lang="en-GB" dirty="0"/>
              <a:t>With Serializable we are guaranteed that rows can not be added to a range we have read.</a:t>
            </a:r>
          </a:p>
          <a:p>
            <a:pPr>
              <a:lnSpc>
                <a:spcPct val="100000"/>
              </a:lnSpc>
            </a:pPr>
            <a:r>
              <a:rPr lang="en-GB" dirty="0"/>
              <a:t>Rather than plain row locks, SQL Server uses key-range locks, for instance </a:t>
            </a:r>
            <a:r>
              <a:rPr lang="en-GB" dirty="0" err="1"/>
              <a:t>RangeS</a:t>
            </a:r>
            <a:r>
              <a:rPr lang="en-GB" dirty="0"/>
              <a:t>-S, to implement Serializable.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97E040-C24E-9BA2-79DF-5F01F0B5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Serializable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5185B-7F03-850D-DAC1-5819974B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09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8C4F64-709F-B538-4D71-E3B5295AE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Semantics: you see the database as it was when the transaction started. You are blind to all later changes.</a:t>
            </a:r>
          </a:p>
          <a:p>
            <a:pPr>
              <a:lnSpc>
                <a:spcPct val="100000"/>
              </a:lnSpc>
            </a:pPr>
            <a:r>
              <a:rPr lang="en-GB" dirty="0"/>
              <a:t>Thus, our sum query </a:t>
            </a:r>
            <a:r>
              <a:rPr lang="en-GB" i="1" dirty="0"/>
              <a:t>must</a:t>
            </a:r>
            <a:r>
              <a:rPr lang="en-GB" dirty="0"/>
              <a:t> return 1000 when Jane is at the ATM.</a:t>
            </a:r>
          </a:p>
          <a:p>
            <a:pPr>
              <a:lnSpc>
                <a:spcPct val="100000"/>
              </a:lnSpc>
            </a:pPr>
            <a:r>
              <a:rPr lang="en-GB" dirty="0"/>
              <a:t>Implemented in SQL Server through the version store.</a:t>
            </a:r>
          </a:p>
          <a:p>
            <a:pPr>
              <a:lnSpc>
                <a:spcPct val="100000"/>
              </a:lnSpc>
            </a:pPr>
            <a:r>
              <a:rPr lang="en-GB" sz="3000" dirty="0"/>
              <a:t>SELECT</a:t>
            </a:r>
            <a:r>
              <a:rPr lang="en-GB" dirty="0"/>
              <a:t> statements take no shared locks, only </a:t>
            </a:r>
            <a:r>
              <a:rPr lang="en-GB" dirty="0" err="1"/>
              <a:t>Sch</a:t>
            </a:r>
            <a:r>
              <a:rPr lang="en-GB" dirty="0"/>
              <a:t>-S. </a:t>
            </a:r>
          </a:p>
          <a:p>
            <a:pPr>
              <a:lnSpc>
                <a:spcPct val="100000"/>
              </a:lnSpc>
            </a:pPr>
            <a:r>
              <a:rPr lang="en-GB" sz="3000" dirty="0"/>
              <a:t>UPDATE</a:t>
            </a:r>
            <a:r>
              <a:rPr lang="en-GB" dirty="0"/>
              <a:t> and </a:t>
            </a:r>
            <a:r>
              <a:rPr lang="en-GB" sz="3000" dirty="0"/>
              <a:t>DELETE</a:t>
            </a:r>
            <a:r>
              <a:rPr lang="en-GB" dirty="0"/>
              <a:t> also use the version store for their target tables when searching for rows.</a:t>
            </a:r>
          </a:p>
          <a:p>
            <a:pPr>
              <a:lnSpc>
                <a:spcPct val="100000"/>
              </a:lnSpc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AF295-0DDE-F723-B178-DCA7A695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Snapshot Isolation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C2EEA-2C3A-80AD-B406-65C4DC36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996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8C4F64-709F-B538-4D71-E3B5295AE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By default, snapshot isolation is not available.</a:t>
            </a:r>
          </a:p>
          <a:p>
            <a:pPr>
              <a:lnSpc>
                <a:spcPct val="100000"/>
              </a:lnSpc>
            </a:pPr>
            <a:r>
              <a:rPr lang="en-GB" dirty="0"/>
              <a:t>You need to enable it with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DATABASE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 err="1">
                <a:solidFill>
                  <a:srgbClr val="000000"/>
                </a:solidFill>
                <a:latin typeface="Consolas" panose="020B0609020204030204" pitchFamily="49" charset="0"/>
              </a:rPr>
              <a:t>db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ALLOW_SNAPSHOT_ISOLATION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endParaRPr lang="en-GB" dirty="0"/>
          </a:p>
          <a:p>
            <a:pPr lvl="1">
              <a:lnSpc>
                <a:spcPct val="100000"/>
              </a:lnSpc>
            </a:pPr>
            <a:r>
              <a:rPr lang="en-GB" dirty="0"/>
              <a:t>Does not require single-user mode.</a:t>
            </a:r>
          </a:p>
          <a:p>
            <a:pPr>
              <a:lnSpc>
                <a:spcPct val="100000"/>
              </a:lnSpc>
            </a:pPr>
            <a:r>
              <a:rPr lang="en-GB" dirty="0"/>
              <a:t>The settings </a:t>
            </a:r>
            <a:r>
              <a:rPr lang="en-GB" sz="3000" dirty="0"/>
              <a:t>ALLOW_SNAPSHOT_ISOLATION</a:t>
            </a:r>
            <a:r>
              <a:rPr lang="en-GB" dirty="0"/>
              <a:t> and </a:t>
            </a:r>
            <a:r>
              <a:rPr lang="en-GB" sz="3000" dirty="0"/>
              <a:t>READ_COMMITTED_SNAPSHOT </a:t>
            </a:r>
            <a:r>
              <a:rPr lang="en-GB" dirty="0"/>
              <a:t>are independent of each other.</a:t>
            </a:r>
          </a:p>
          <a:p>
            <a:pPr>
              <a:lnSpc>
                <a:spcPct val="100000"/>
              </a:lnSpc>
            </a:pPr>
            <a:r>
              <a:rPr lang="en-GB" dirty="0"/>
              <a:t>To run a snapshot transaction, you need to say</a:t>
            </a:r>
            <a:br>
              <a:rPr lang="en-GB" dirty="0"/>
            </a:b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TRANSACTION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ISOLATION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LEVEL</a:t>
            </a:r>
            <a:r>
              <a:rPr lang="en-GB" sz="3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000" dirty="0">
                <a:solidFill>
                  <a:srgbClr val="0000FF"/>
                </a:solidFill>
                <a:latin typeface="Consolas" panose="020B0609020204030204" pitchFamily="49" charset="0"/>
              </a:rPr>
              <a:t>SNAPSHOT</a:t>
            </a:r>
            <a:endParaRPr lang="en-GB" sz="2800" dirty="0">
              <a:latin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AF295-0DDE-F723-B178-DCA7A695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Snapshot Isolation, cont’d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C2EEA-2C3A-80AD-B406-65C4DC36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57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isolationlevel</a:t>
            </a:r>
            <a:r>
              <a:rPr lang="en-GB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taskpriority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priority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b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b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isolationlevel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read committed (2)</a:t>
            </a:r>
            <a:r>
              <a:rPr lang="en-GB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""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3341549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C3FF8E-156F-1A8F-1E55-1F136C32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If you see Repeatable Read or Serializable, shared locks are held to the end of the transaction.</a:t>
            </a:r>
          </a:p>
          <a:p>
            <a:pPr>
              <a:lnSpc>
                <a:spcPct val="100000"/>
              </a:lnSpc>
            </a:pPr>
            <a:r>
              <a:rPr lang="en-GB" dirty="0"/>
              <a:t>Locks being held longer </a:t>
            </a:r>
            <a:r>
              <a:rPr lang="en-GB" dirty="0">
                <a:sym typeface="Wingdings" panose="05000000000000000000" pitchFamily="2" charset="2"/>
              </a:rPr>
              <a:t> higher risk for deadlock.</a:t>
            </a:r>
          </a:p>
          <a:p>
            <a:pPr>
              <a:lnSpc>
                <a:spcPct val="100000"/>
              </a:lnSpc>
            </a:pPr>
            <a:r>
              <a:rPr lang="en-GB" dirty="0">
                <a:sym typeface="Wingdings" panose="05000000000000000000" pitchFamily="2" charset="2"/>
              </a:rPr>
              <a:t>Isolation level may be required to ensure correct results.</a:t>
            </a:r>
          </a:p>
          <a:p>
            <a:pPr>
              <a:lnSpc>
                <a:spcPct val="100000"/>
              </a:lnSpc>
            </a:pPr>
            <a:r>
              <a:rPr lang="en-GB" dirty="0">
                <a:sym typeface="Wingdings" panose="05000000000000000000" pitchFamily="2" charset="2"/>
              </a:rPr>
              <a:t>Beware: some transaction APIs turn on Serializable by default, so it may be “by mistake”.</a:t>
            </a:r>
          </a:p>
          <a:p>
            <a:pPr>
              <a:lnSpc>
                <a:spcPct val="100000"/>
              </a:lnSpc>
            </a:pPr>
            <a:r>
              <a:rPr lang="en-GB" dirty="0">
                <a:sym typeface="Wingdings" panose="05000000000000000000" pitchFamily="2" charset="2"/>
              </a:rPr>
              <a:t>Don’t forget that the isolation level may change during the transaction or be overridden by hints.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38FB2-E198-24D4-0343-062619B7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Isolation Levels and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B3260-BF30-DC29-7C66-A998AFE8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39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/>
              <a:t>Query tuning and indexing.</a:t>
            </a:r>
          </a:p>
          <a:p>
            <a:r>
              <a:rPr lang="en-GB" dirty="0"/>
              <a:t>READ_COMMITTED_SNAPSHOT.</a:t>
            </a:r>
          </a:p>
          <a:p>
            <a:r>
              <a:rPr lang="en-GB" dirty="0"/>
              <a:t>Lock hints.</a:t>
            </a:r>
          </a:p>
          <a:p>
            <a:r>
              <a:rPr lang="en-GB" dirty="0"/>
              <a:t>Review application behaviour.</a:t>
            </a:r>
          </a:p>
          <a:p>
            <a:r>
              <a:rPr lang="en-GB" dirty="0"/>
              <a:t>Serialise with application locks.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24741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8358-6982-4C10-B5B6-A40A14C8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Resources in the Same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0EB4-BF67-45C3-8D9E-94D378C4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recommendation. Sounds simple and obvious.</a:t>
            </a:r>
          </a:p>
          <a:p>
            <a:r>
              <a:rPr lang="en-GB" dirty="0"/>
              <a:t>Can be very difficult to implement in practice.</a:t>
            </a:r>
          </a:p>
          <a:p>
            <a:r>
              <a:rPr lang="en-GB" dirty="0"/>
              <a:t>Business rules may mandate different access order.</a:t>
            </a:r>
          </a:p>
          <a:p>
            <a:r>
              <a:rPr lang="en-GB" dirty="0"/>
              <a:t>SQL Server itself does not obey to this rule when building query plans.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765CE-934E-4247-9E6E-AAEBC0C5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ADF73-021D-4355-AB91-403738CF2D99}"/>
              </a:ext>
            </a:extLst>
          </p:cNvPr>
          <p:cNvSpPr txBox="1"/>
          <p:nvPr/>
        </p:nvSpPr>
        <p:spPr>
          <a:xfrm>
            <a:off x="8848449" y="4649483"/>
            <a:ext cx="1543793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 dirty="0" err="1">
                <a:hlinkClick r:id="rId3" action="ppaction://hlinkfile"/>
              </a:rPr>
              <a:t>Second_window.sql</a:t>
            </a:r>
            <a:endParaRPr lang="en-GB" sz="1000" dirty="0">
              <a:hlinkClick r:id="" action="ppaction://hlinkpres?slideindex=1&amp;slidetitle="/>
            </a:endParaRPr>
          </a:p>
          <a:p>
            <a:r>
              <a:rPr lang="en-GB" sz="1000" dirty="0">
                <a:hlinkClick r:id="" action="ppaction://hlinkpres?slideindex=1&amp;slidetitle="/>
              </a:rPr>
              <a:t>differentaccessorder.xml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27229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70993BA2-1C3C-7574-B9F0-6C41F706E709}"/>
              </a:ext>
            </a:extLst>
          </p:cNvPr>
          <p:cNvSpPr/>
          <p:nvPr/>
        </p:nvSpPr>
        <p:spPr>
          <a:xfrm>
            <a:off x="6796800" y="2289600"/>
            <a:ext cx="14220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DE70-0E50-8FB7-BD22-322F8F9B457F}"/>
              </a:ext>
            </a:extLst>
          </p:cNvPr>
          <p:cNvSpPr txBox="1"/>
          <p:nvPr/>
        </p:nvSpPr>
        <p:spPr>
          <a:xfrm>
            <a:off x="6797788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75406C-3F1D-DA57-7B43-AF29C0366FFC}"/>
              </a:ext>
            </a:extLst>
          </p:cNvPr>
          <p:cNvSpPr/>
          <p:nvPr/>
        </p:nvSpPr>
        <p:spPr>
          <a:xfrm>
            <a:off x="6932068" y="4642287"/>
            <a:ext cx="608400" cy="507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78CEF-FF40-F3E7-7F04-89CB789FF11A}"/>
              </a:ext>
            </a:extLst>
          </p:cNvPr>
          <p:cNvSpPr txBox="1"/>
          <p:nvPr/>
        </p:nvSpPr>
        <p:spPr>
          <a:xfrm>
            <a:off x="6932070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439108-5A94-E3C0-4B69-A0EAD1895A35}"/>
              </a:ext>
            </a:extLst>
          </p:cNvPr>
          <p:cNvSpPr txBox="1"/>
          <p:nvPr/>
        </p:nvSpPr>
        <p:spPr>
          <a:xfrm>
            <a:off x="10377860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B6A49-91CB-B87A-2910-D790BC2DE837}"/>
              </a:ext>
            </a:extLst>
          </p:cNvPr>
          <p:cNvSpPr txBox="1"/>
          <p:nvPr/>
        </p:nvSpPr>
        <p:spPr>
          <a:xfrm>
            <a:off x="9015629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3D0F81-CD55-F123-2952-F3727C8687D6}"/>
              </a:ext>
            </a:extLst>
          </p:cNvPr>
          <p:cNvSpPr/>
          <p:nvPr/>
        </p:nvSpPr>
        <p:spPr>
          <a:xfrm>
            <a:off x="4568400" y="2289600"/>
            <a:ext cx="14220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E287DA-2017-63BA-DE00-BA1E60BD0BF4}"/>
              </a:ext>
            </a:extLst>
          </p:cNvPr>
          <p:cNvSpPr/>
          <p:nvPr/>
        </p:nvSpPr>
        <p:spPr>
          <a:xfrm>
            <a:off x="4330178" y="4642287"/>
            <a:ext cx="608400" cy="5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0622A-1794-0EC9-51AE-2D20DF65AA0D}"/>
              </a:ext>
            </a:extLst>
          </p:cNvPr>
          <p:cNvSpPr txBox="1"/>
          <p:nvPr/>
        </p:nvSpPr>
        <p:spPr>
          <a:xfrm>
            <a:off x="1090246" y="2080511"/>
            <a:ext cx="2699238" cy="923330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EmployeeID</a:t>
            </a:r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 41</a:t>
            </a:r>
          </a:p>
          <a:p>
            <a:pPr algn="l"/>
            <a:r>
              <a:rPr lang="en-GB" sz="270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12311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F3FA-7144-D8E4-324B-C74532BFF369}"/>
              </a:ext>
            </a:extLst>
          </p:cNvPr>
          <p:cNvSpPr txBox="1"/>
          <p:nvPr/>
        </p:nvSpPr>
        <p:spPr>
          <a:xfrm>
            <a:off x="4568537" y="2288261"/>
            <a:ext cx="1421422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D017B-43A5-9941-1144-0CC43E6D8920}"/>
              </a:ext>
            </a:extLst>
          </p:cNvPr>
          <p:cNvSpPr txBox="1"/>
          <p:nvPr/>
        </p:nvSpPr>
        <p:spPr>
          <a:xfrm>
            <a:off x="598123" y="1188623"/>
            <a:ext cx="206858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empid_ix</a:t>
            </a:r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59A49D-E999-8E65-21D5-BBBCC9D35E36}"/>
              </a:ext>
            </a:extLst>
          </p:cNvPr>
          <p:cNvCxnSpPr>
            <a:cxnSpLocks/>
          </p:cNvCxnSpPr>
          <p:nvPr/>
        </p:nvCxnSpPr>
        <p:spPr>
          <a:xfrm>
            <a:off x="311193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8AF58B-D28A-29FA-7791-7592353622E4}"/>
              </a:ext>
            </a:extLst>
          </p:cNvPr>
          <p:cNvCxnSpPr>
            <a:cxnSpLocks/>
          </p:cNvCxnSpPr>
          <p:nvPr/>
        </p:nvCxnSpPr>
        <p:spPr>
          <a:xfrm>
            <a:off x="3789484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85EC0C-D433-8BDD-8F9C-6DB740FAD35D}"/>
              </a:ext>
            </a:extLst>
          </p:cNvPr>
          <p:cNvCxnSpPr>
            <a:cxnSpLocks/>
          </p:cNvCxnSpPr>
          <p:nvPr/>
        </p:nvCxnSpPr>
        <p:spPr>
          <a:xfrm>
            <a:off x="6004347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2193A1-630F-57BE-42E6-9FF07BF95F59}"/>
              </a:ext>
            </a:extLst>
          </p:cNvPr>
          <p:cNvCxnSpPr>
            <a:cxnSpLocks/>
          </p:cNvCxnSpPr>
          <p:nvPr/>
        </p:nvCxnSpPr>
        <p:spPr>
          <a:xfrm>
            <a:off x="8219788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938FE3-FBE2-9B0C-AE80-9162D16C63CD}"/>
              </a:ext>
            </a:extLst>
          </p:cNvPr>
          <p:cNvCxnSpPr>
            <a:cxnSpLocks/>
          </p:cNvCxnSpPr>
          <p:nvPr/>
        </p:nvCxnSpPr>
        <p:spPr>
          <a:xfrm>
            <a:off x="10454417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A571AD-D627-0F29-38C4-7383ADD2D56E}"/>
              </a:ext>
            </a:extLst>
          </p:cNvPr>
          <p:cNvSpPr txBox="1"/>
          <p:nvPr/>
        </p:nvSpPr>
        <p:spPr>
          <a:xfrm>
            <a:off x="1265560" y="4632546"/>
            <a:ext cx="1819208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9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CEA46-6E83-A21E-7BFD-306E99CD2E8F}"/>
              </a:ext>
            </a:extLst>
          </p:cNvPr>
          <p:cNvSpPr txBox="1"/>
          <p:nvPr/>
        </p:nvSpPr>
        <p:spPr>
          <a:xfrm>
            <a:off x="3486282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BCB5B2-DE6C-7373-568C-81D6143E9377}"/>
              </a:ext>
            </a:extLst>
          </p:cNvPr>
          <p:cNvSpPr txBox="1"/>
          <p:nvPr/>
        </p:nvSpPr>
        <p:spPr>
          <a:xfrm>
            <a:off x="4347729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F80EF-B269-1E4D-DBD7-AE6F248B4397}"/>
              </a:ext>
            </a:extLst>
          </p:cNvPr>
          <p:cNvSpPr txBox="1"/>
          <p:nvPr/>
        </p:nvSpPr>
        <p:spPr>
          <a:xfrm>
            <a:off x="5209176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BB16A-CC86-4260-CE53-9B4752821913}"/>
              </a:ext>
            </a:extLst>
          </p:cNvPr>
          <p:cNvSpPr txBox="1"/>
          <p:nvPr/>
        </p:nvSpPr>
        <p:spPr>
          <a:xfrm>
            <a:off x="6070623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3DD40-398D-0B75-6D7C-F19960B05B28}"/>
              </a:ext>
            </a:extLst>
          </p:cNvPr>
          <p:cNvSpPr txBox="1"/>
          <p:nvPr/>
        </p:nvSpPr>
        <p:spPr>
          <a:xfrm>
            <a:off x="7793517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77F559-9E90-FB84-0863-52217FD9961A}"/>
              </a:ext>
            </a:extLst>
          </p:cNvPr>
          <p:cNvSpPr txBox="1"/>
          <p:nvPr/>
        </p:nvSpPr>
        <p:spPr>
          <a:xfrm>
            <a:off x="8654964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30EB69-CFAF-BF8C-B2F0-47D7F2884CA6}"/>
              </a:ext>
            </a:extLst>
          </p:cNvPr>
          <p:cNvSpPr txBox="1"/>
          <p:nvPr/>
        </p:nvSpPr>
        <p:spPr>
          <a:xfrm>
            <a:off x="9516411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17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69E46D-7BAF-B4A2-4B8F-BEC4852D5401}"/>
              </a:ext>
            </a:extLst>
          </p:cNvPr>
          <p:cNvCxnSpPr>
            <a:cxnSpLocks/>
          </p:cNvCxnSpPr>
          <p:nvPr/>
        </p:nvCxnSpPr>
        <p:spPr>
          <a:xfrm>
            <a:off x="484904" y="4886461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ADFAA4-54C4-C433-D260-287435F629A7}"/>
              </a:ext>
            </a:extLst>
          </p:cNvPr>
          <p:cNvCxnSpPr>
            <a:cxnSpLocks/>
          </p:cNvCxnSpPr>
          <p:nvPr/>
        </p:nvCxnSpPr>
        <p:spPr>
          <a:xfrm>
            <a:off x="3097153" y="4884662"/>
            <a:ext cx="389129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199D16-F5D7-B83A-A4F7-942799E160D6}"/>
              </a:ext>
            </a:extLst>
          </p:cNvPr>
          <p:cNvCxnSpPr>
            <a:cxnSpLocks/>
          </p:cNvCxnSpPr>
          <p:nvPr/>
        </p:nvCxnSpPr>
        <p:spPr>
          <a:xfrm>
            <a:off x="4072400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719D41-36BE-D0C8-D722-3318D7700DC4}"/>
              </a:ext>
            </a:extLst>
          </p:cNvPr>
          <p:cNvCxnSpPr>
            <a:cxnSpLocks/>
          </p:cNvCxnSpPr>
          <p:nvPr/>
        </p:nvCxnSpPr>
        <p:spPr>
          <a:xfrm>
            <a:off x="4933847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43BA85-D323-474E-8D3E-DF70C7EA4E0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815577" y="4884662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646E37-C503-E546-D0F9-2D6DBEB3397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677024" y="4884662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63AA7-FAF5-DF03-B968-C8C4F4837259}"/>
              </a:ext>
            </a:extLst>
          </p:cNvPr>
          <p:cNvCxnSpPr>
            <a:cxnSpLocks/>
          </p:cNvCxnSpPr>
          <p:nvPr/>
        </p:nvCxnSpPr>
        <p:spPr>
          <a:xfrm>
            <a:off x="7518188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81B54C-F12D-AB28-675E-E6BF17D2C63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385296" y="4884662"/>
            <a:ext cx="269668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79024AF-2892-B25C-6280-D1B08483374A}"/>
              </a:ext>
            </a:extLst>
          </p:cNvPr>
          <p:cNvCxnSpPr>
            <a:cxnSpLocks/>
          </p:cNvCxnSpPr>
          <p:nvPr/>
        </p:nvCxnSpPr>
        <p:spPr>
          <a:xfrm>
            <a:off x="9252404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DF25A7-1948-4B88-3C05-2B4A17231504}"/>
              </a:ext>
            </a:extLst>
          </p:cNvPr>
          <p:cNvCxnSpPr>
            <a:cxnSpLocks/>
          </p:cNvCxnSpPr>
          <p:nvPr/>
        </p:nvCxnSpPr>
        <p:spPr>
          <a:xfrm>
            <a:off x="10127977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7C5E45A-030A-E46E-8FEE-0335FE087813}"/>
              </a:ext>
            </a:extLst>
          </p:cNvPr>
          <p:cNvSpPr txBox="1"/>
          <p:nvPr/>
        </p:nvSpPr>
        <p:spPr>
          <a:xfrm>
            <a:off x="722123" y="3848379"/>
            <a:ext cx="328596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Clustered index: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1D36E7AB-027C-4315-B3E9-13A1BDA1EA79}"/>
              </a:ext>
            </a:extLst>
          </p:cNvPr>
          <p:cNvSpPr/>
          <p:nvPr/>
        </p:nvSpPr>
        <p:spPr>
          <a:xfrm>
            <a:off x="5033863" y="906155"/>
            <a:ext cx="338237" cy="13229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0E43A479-3FD3-BC76-2193-730BC04FDC54}"/>
              </a:ext>
            </a:extLst>
          </p:cNvPr>
          <p:cNvSpPr/>
          <p:nvPr/>
        </p:nvSpPr>
        <p:spPr>
          <a:xfrm>
            <a:off x="4530824" y="2784770"/>
            <a:ext cx="388754" cy="18382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3575D623-D746-8FE5-D72F-7F5828156DCE}"/>
              </a:ext>
            </a:extLst>
          </p:cNvPr>
          <p:cNvSpPr/>
          <p:nvPr/>
        </p:nvSpPr>
        <p:spPr>
          <a:xfrm>
            <a:off x="7342875" y="887136"/>
            <a:ext cx="338237" cy="14011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7202D651-4BE0-D08C-34C5-EF06AB0BA146}"/>
              </a:ext>
            </a:extLst>
          </p:cNvPr>
          <p:cNvSpPr/>
          <p:nvPr/>
        </p:nvSpPr>
        <p:spPr>
          <a:xfrm>
            <a:off x="7259175" y="2796092"/>
            <a:ext cx="388754" cy="13372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Footer Placeholder 3">
            <a:extLst>
              <a:ext uri="{FF2B5EF4-FFF2-40B4-BE49-F238E27FC236}">
                <a16:creationId xmlns:a16="http://schemas.microsoft.com/office/drawing/2014/main" id="{A4354DF7-ADD9-F8E2-6849-A3521250E7F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>
                <a:latin typeface="IBM Plex Sans" panose="020B0503050203000203" pitchFamily="34" charset="0"/>
              </a:rPr>
              <a:t>© Erland </a:t>
            </a:r>
            <a:r>
              <a:rPr lang="en-GB" sz="1100" dirty="0" err="1">
                <a:latin typeface="IBM Plex Sans" panose="020B0503050203000203" pitchFamily="34" charset="0"/>
              </a:rPr>
              <a:t>Sommarskog</a:t>
            </a:r>
            <a:r>
              <a:rPr lang="en-GB" sz="1100" dirty="0">
                <a:latin typeface="IBM Plex Sans" panose="020B0503050203000203" pitchFamily="34" charset="0"/>
              </a:rPr>
              <a:t>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3822B-7D6E-1703-B149-81790A3ECB1F}"/>
              </a:ext>
            </a:extLst>
          </p:cNvPr>
          <p:cNvSpPr txBox="1"/>
          <p:nvPr/>
        </p:nvSpPr>
        <p:spPr>
          <a:xfrm>
            <a:off x="2156978" y="446508"/>
            <a:ext cx="9040091" cy="430887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Freight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@empid</a:t>
            </a:r>
            <a:endParaRPr lang="en-GB" sz="22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7759A-FE68-5DB5-7D27-60C25B174C4A}"/>
              </a:ext>
            </a:extLst>
          </p:cNvPr>
          <p:cNvSpPr txBox="1"/>
          <p:nvPr/>
        </p:nvSpPr>
        <p:spPr>
          <a:xfrm>
            <a:off x="484903" y="5769454"/>
            <a:ext cx="10882752" cy="430887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GB" sz="22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@newempid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@orderid</a:t>
            </a:r>
            <a:endParaRPr lang="en-GB" sz="22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03E2653-8D82-9CDE-C364-2C93C43FE8F8}"/>
              </a:ext>
            </a:extLst>
          </p:cNvPr>
          <p:cNvSpPr/>
          <p:nvPr/>
        </p:nvSpPr>
        <p:spPr>
          <a:xfrm rot="10800000">
            <a:off x="6813856" y="5140377"/>
            <a:ext cx="388800" cy="600316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1FADCC2-23FB-F68B-178B-D576B056820B}"/>
              </a:ext>
            </a:extLst>
          </p:cNvPr>
          <p:cNvSpPr/>
          <p:nvPr/>
        </p:nvSpPr>
        <p:spPr>
          <a:xfrm rot="10800000">
            <a:off x="6848644" y="3293179"/>
            <a:ext cx="388800" cy="1333118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A26AE41-6638-C99F-BEAB-7172348CD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8794" y="4129548"/>
            <a:ext cx="4572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8DFA436-328A-32D8-C67D-EF3ED1A79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913" y="2816538"/>
            <a:ext cx="457200" cy="4572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47186A3-D047-F659-B9A5-7F18E684D109}"/>
              </a:ext>
            </a:extLst>
          </p:cNvPr>
          <p:cNvCxnSpPr>
            <a:cxnSpLocks/>
          </p:cNvCxnSpPr>
          <p:nvPr/>
        </p:nvCxnSpPr>
        <p:spPr>
          <a:xfrm>
            <a:off x="10985303" y="4881063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48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8" grpId="0" animBg="1"/>
      <p:bldP spid="50" grpId="0" animBg="1"/>
      <p:bldP spid="50" grpId="1" animBg="1"/>
      <p:bldP spid="57" grpId="0" animBg="1"/>
      <p:bldP spid="57" grpId="1" animBg="1"/>
      <p:bldP spid="47" grpId="0" animBg="1"/>
      <p:bldP spid="47" grpId="1" animBg="1"/>
      <p:bldP spid="48" grpId="0" animBg="1"/>
      <p:bldP spid="48" grpId="1" animBg="1"/>
      <p:bldP spid="53" grpId="0" animBg="1"/>
      <p:bldP spid="55" grpId="0" animBg="1"/>
      <p:bldP spid="10" grpId="0" animBg="1"/>
      <p:bldP spid="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>
                <a:highlight>
                  <a:srgbClr val="FFFF00"/>
                </a:highlight>
              </a:rPr>
              <a:t>Query tuning and indexing.</a:t>
            </a:r>
          </a:p>
          <a:p>
            <a:r>
              <a:rPr lang="en-GB" dirty="0"/>
              <a:t>READ_COMMITTED_SNAPSHOT.</a:t>
            </a:r>
          </a:p>
          <a:p>
            <a:r>
              <a:rPr lang="en-GB" dirty="0"/>
              <a:t>Lock hints.</a:t>
            </a:r>
          </a:p>
          <a:p>
            <a:r>
              <a:rPr lang="en-GB" dirty="0"/>
              <a:t>Review application behaviour.</a:t>
            </a:r>
          </a:p>
          <a:p>
            <a:r>
              <a:rPr lang="en-GB" dirty="0"/>
              <a:t>Serialise with application locks.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8206891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C96A08-8E8C-BD72-9666-FC3F83DC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deadlock we just looked at, the processes were fighting about the very same row.</a:t>
            </a:r>
          </a:p>
          <a:p>
            <a:r>
              <a:rPr lang="en-GB" dirty="0"/>
              <a:t>But imagine that there would only be page locks…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72B07-D0CA-211A-A2E5-F4F7E229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Impact of Page and Table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CFF8B-84CF-82B8-F661-0CE65640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91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393135A-DEBA-141B-B98B-71F4D1E5FA03}"/>
              </a:ext>
            </a:extLst>
          </p:cNvPr>
          <p:cNvSpPr/>
          <p:nvPr/>
        </p:nvSpPr>
        <p:spPr>
          <a:xfrm>
            <a:off x="4239491" y="3930038"/>
            <a:ext cx="7248967" cy="146993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2666A8-8114-13D9-6518-EEB019E79063}"/>
              </a:ext>
            </a:extLst>
          </p:cNvPr>
          <p:cNvSpPr/>
          <p:nvPr/>
        </p:nvSpPr>
        <p:spPr>
          <a:xfrm>
            <a:off x="311193" y="1801550"/>
            <a:ext cx="8270099" cy="1469931"/>
          </a:xfrm>
          <a:prstGeom prst="rect">
            <a:avLst/>
          </a:prstGeom>
          <a:solidFill>
            <a:srgbClr val="FFFF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7DE70-0E50-8FB7-BD22-322F8F9B457F}"/>
              </a:ext>
            </a:extLst>
          </p:cNvPr>
          <p:cNvSpPr txBox="1"/>
          <p:nvPr/>
        </p:nvSpPr>
        <p:spPr>
          <a:xfrm>
            <a:off x="6797788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78CEF-FF40-F3E7-7F04-89CB789FF11A}"/>
              </a:ext>
            </a:extLst>
          </p:cNvPr>
          <p:cNvSpPr txBox="1"/>
          <p:nvPr/>
        </p:nvSpPr>
        <p:spPr>
          <a:xfrm>
            <a:off x="6932070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F3FA-7144-D8E4-324B-C74532BFF369}"/>
              </a:ext>
            </a:extLst>
          </p:cNvPr>
          <p:cNvSpPr txBox="1"/>
          <p:nvPr/>
        </p:nvSpPr>
        <p:spPr>
          <a:xfrm>
            <a:off x="4568537" y="2288261"/>
            <a:ext cx="1421422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BCB5B2-DE6C-7373-568C-81D6143E9377}"/>
              </a:ext>
            </a:extLst>
          </p:cNvPr>
          <p:cNvSpPr txBox="1"/>
          <p:nvPr/>
        </p:nvSpPr>
        <p:spPr>
          <a:xfrm>
            <a:off x="4347729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439108-5A94-E3C0-4B69-A0EAD1895A35}"/>
              </a:ext>
            </a:extLst>
          </p:cNvPr>
          <p:cNvSpPr txBox="1"/>
          <p:nvPr/>
        </p:nvSpPr>
        <p:spPr>
          <a:xfrm>
            <a:off x="10377860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B6A49-91CB-B87A-2910-D790BC2DE837}"/>
              </a:ext>
            </a:extLst>
          </p:cNvPr>
          <p:cNvSpPr txBox="1"/>
          <p:nvPr/>
        </p:nvSpPr>
        <p:spPr>
          <a:xfrm>
            <a:off x="9015629" y="2288261"/>
            <a:ext cx="1422000" cy="507831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42 / 18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0622A-1794-0EC9-51AE-2D20DF65AA0D}"/>
              </a:ext>
            </a:extLst>
          </p:cNvPr>
          <p:cNvSpPr txBox="1"/>
          <p:nvPr/>
        </p:nvSpPr>
        <p:spPr>
          <a:xfrm>
            <a:off x="1090246" y="2080511"/>
            <a:ext cx="2699238" cy="923330"/>
          </a:xfrm>
          <a:prstGeom prst="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EmployeeID</a:t>
            </a:r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 41</a:t>
            </a:r>
          </a:p>
          <a:p>
            <a:pPr algn="l"/>
            <a:r>
              <a:rPr lang="en-GB" sz="270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17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D017B-43A5-9941-1144-0CC43E6D8920}"/>
              </a:ext>
            </a:extLst>
          </p:cNvPr>
          <p:cNvSpPr txBox="1"/>
          <p:nvPr/>
        </p:nvSpPr>
        <p:spPr>
          <a:xfrm>
            <a:off x="598123" y="1188623"/>
            <a:ext cx="206858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empid_ix</a:t>
            </a:r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59A49D-E999-8E65-21D5-BBBCC9D35E36}"/>
              </a:ext>
            </a:extLst>
          </p:cNvPr>
          <p:cNvCxnSpPr>
            <a:cxnSpLocks/>
          </p:cNvCxnSpPr>
          <p:nvPr/>
        </p:nvCxnSpPr>
        <p:spPr>
          <a:xfrm>
            <a:off x="311193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8AF58B-D28A-29FA-7791-7592353622E4}"/>
              </a:ext>
            </a:extLst>
          </p:cNvPr>
          <p:cNvCxnSpPr>
            <a:cxnSpLocks/>
          </p:cNvCxnSpPr>
          <p:nvPr/>
        </p:nvCxnSpPr>
        <p:spPr>
          <a:xfrm>
            <a:off x="3789484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85EC0C-D433-8BDD-8F9C-6DB740FAD35D}"/>
              </a:ext>
            </a:extLst>
          </p:cNvPr>
          <p:cNvCxnSpPr>
            <a:cxnSpLocks/>
          </p:cNvCxnSpPr>
          <p:nvPr/>
        </p:nvCxnSpPr>
        <p:spPr>
          <a:xfrm>
            <a:off x="6004347" y="2542176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2193A1-630F-57BE-42E6-9FF07BF95F59}"/>
              </a:ext>
            </a:extLst>
          </p:cNvPr>
          <p:cNvCxnSpPr>
            <a:cxnSpLocks/>
          </p:cNvCxnSpPr>
          <p:nvPr/>
        </p:nvCxnSpPr>
        <p:spPr>
          <a:xfrm>
            <a:off x="8219788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938FE3-FBE2-9B0C-AE80-9162D16C63CD}"/>
              </a:ext>
            </a:extLst>
          </p:cNvPr>
          <p:cNvCxnSpPr>
            <a:cxnSpLocks/>
          </p:cNvCxnSpPr>
          <p:nvPr/>
        </p:nvCxnSpPr>
        <p:spPr>
          <a:xfrm>
            <a:off x="10454417" y="2542175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A571AD-D627-0F29-38C4-7383ADD2D56E}"/>
              </a:ext>
            </a:extLst>
          </p:cNvPr>
          <p:cNvSpPr txBox="1"/>
          <p:nvPr/>
        </p:nvSpPr>
        <p:spPr>
          <a:xfrm>
            <a:off x="1265560" y="4632546"/>
            <a:ext cx="1819208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 err="1">
                <a:latin typeface="IBM Plex Sans" panose="020B0503050203000203" pitchFamily="34" charset="77"/>
                <a:ea typeface="Roboto" panose="02000000000000000000" pitchFamily="2" charset="0"/>
              </a:rPr>
              <a:t>OrderID</a:t>
            </a:r>
            <a:r>
              <a:rPr lang="en-GB" sz="2700" dirty="0">
                <a:latin typeface="IBM Plex Sans" panose="020B0503050203000203" pitchFamily="34" charset="77"/>
                <a:ea typeface="Roboto" panose="02000000000000000000" pitchFamily="2" charset="0"/>
              </a:rPr>
              <a:t>: 9</a:t>
            </a:r>
            <a:endParaRPr lang="en-GB" sz="27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CEA46-6E83-A21E-7BFD-306E99CD2E8F}"/>
              </a:ext>
            </a:extLst>
          </p:cNvPr>
          <p:cNvSpPr txBox="1"/>
          <p:nvPr/>
        </p:nvSpPr>
        <p:spPr>
          <a:xfrm>
            <a:off x="3486282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8F80EF-B269-1E4D-DBD7-AE6F248B4397}"/>
              </a:ext>
            </a:extLst>
          </p:cNvPr>
          <p:cNvSpPr txBox="1"/>
          <p:nvPr/>
        </p:nvSpPr>
        <p:spPr>
          <a:xfrm>
            <a:off x="5209176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BB16A-CC86-4260-CE53-9B4752821913}"/>
              </a:ext>
            </a:extLst>
          </p:cNvPr>
          <p:cNvSpPr txBox="1"/>
          <p:nvPr/>
        </p:nvSpPr>
        <p:spPr>
          <a:xfrm>
            <a:off x="6070623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3DD40-398D-0B75-6D7C-F19960B05B28}"/>
              </a:ext>
            </a:extLst>
          </p:cNvPr>
          <p:cNvSpPr txBox="1"/>
          <p:nvPr/>
        </p:nvSpPr>
        <p:spPr>
          <a:xfrm>
            <a:off x="7793517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77F559-9E90-FB84-0863-52217FD9961A}"/>
              </a:ext>
            </a:extLst>
          </p:cNvPr>
          <p:cNvSpPr txBox="1"/>
          <p:nvPr/>
        </p:nvSpPr>
        <p:spPr>
          <a:xfrm>
            <a:off x="8654964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30EB69-CFAF-BF8C-B2F0-47D7F2884CA6}"/>
              </a:ext>
            </a:extLst>
          </p:cNvPr>
          <p:cNvSpPr txBox="1"/>
          <p:nvPr/>
        </p:nvSpPr>
        <p:spPr>
          <a:xfrm>
            <a:off x="9516411" y="4632546"/>
            <a:ext cx="606403" cy="5078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7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17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69E46D-7BAF-B4A2-4B8F-BEC4852D5401}"/>
              </a:ext>
            </a:extLst>
          </p:cNvPr>
          <p:cNvCxnSpPr>
            <a:cxnSpLocks/>
          </p:cNvCxnSpPr>
          <p:nvPr/>
        </p:nvCxnSpPr>
        <p:spPr>
          <a:xfrm>
            <a:off x="484904" y="4886461"/>
            <a:ext cx="779053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ADFAA4-54C4-C433-D260-287435F629A7}"/>
              </a:ext>
            </a:extLst>
          </p:cNvPr>
          <p:cNvCxnSpPr>
            <a:cxnSpLocks/>
          </p:cNvCxnSpPr>
          <p:nvPr/>
        </p:nvCxnSpPr>
        <p:spPr>
          <a:xfrm>
            <a:off x="3097153" y="4884662"/>
            <a:ext cx="389129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199D16-F5D7-B83A-A4F7-942799E160D6}"/>
              </a:ext>
            </a:extLst>
          </p:cNvPr>
          <p:cNvCxnSpPr>
            <a:cxnSpLocks/>
          </p:cNvCxnSpPr>
          <p:nvPr/>
        </p:nvCxnSpPr>
        <p:spPr>
          <a:xfrm>
            <a:off x="4072400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719D41-36BE-D0C8-D722-3318D7700DC4}"/>
              </a:ext>
            </a:extLst>
          </p:cNvPr>
          <p:cNvCxnSpPr>
            <a:cxnSpLocks/>
          </p:cNvCxnSpPr>
          <p:nvPr/>
        </p:nvCxnSpPr>
        <p:spPr>
          <a:xfrm>
            <a:off x="4933847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E43BA85-D323-474E-8D3E-DF70C7EA4E0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5815577" y="4884662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646E37-C503-E546-D0F9-2D6DBEB3397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677024" y="4884662"/>
            <a:ext cx="255046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63AA7-FAF5-DF03-B968-C8C4F4837259}"/>
              </a:ext>
            </a:extLst>
          </p:cNvPr>
          <p:cNvCxnSpPr>
            <a:cxnSpLocks/>
          </p:cNvCxnSpPr>
          <p:nvPr/>
        </p:nvCxnSpPr>
        <p:spPr>
          <a:xfrm>
            <a:off x="7518188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81B54C-F12D-AB28-675E-E6BF17D2C63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385296" y="4884662"/>
            <a:ext cx="269668" cy="18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79024AF-2892-B25C-6280-D1B08483374A}"/>
              </a:ext>
            </a:extLst>
          </p:cNvPr>
          <p:cNvCxnSpPr>
            <a:cxnSpLocks/>
          </p:cNvCxnSpPr>
          <p:nvPr/>
        </p:nvCxnSpPr>
        <p:spPr>
          <a:xfrm>
            <a:off x="9252404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DF25A7-1948-4B88-3C05-2B4A17231504}"/>
              </a:ext>
            </a:extLst>
          </p:cNvPr>
          <p:cNvCxnSpPr>
            <a:cxnSpLocks/>
          </p:cNvCxnSpPr>
          <p:nvPr/>
        </p:nvCxnSpPr>
        <p:spPr>
          <a:xfrm>
            <a:off x="10127977" y="4884662"/>
            <a:ext cx="295612" cy="35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7C5E45A-030A-E46E-8FEE-0335FE087813}"/>
              </a:ext>
            </a:extLst>
          </p:cNvPr>
          <p:cNvSpPr txBox="1"/>
          <p:nvPr/>
        </p:nvSpPr>
        <p:spPr>
          <a:xfrm>
            <a:off x="700719" y="3973687"/>
            <a:ext cx="328596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100" b="0" i="0" dirty="0">
                <a:latin typeface="IBM Plex Sans" panose="020B0503050203000203" pitchFamily="34" charset="77"/>
                <a:ea typeface="Roboto" panose="02000000000000000000" pitchFamily="2" charset="0"/>
              </a:rPr>
              <a:t>Clustered index: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1D36E7AB-027C-4315-B3E9-13A1BDA1EA79}"/>
              </a:ext>
            </a:extLst>
          </p:cNvPr>
          <p:cNvSpPr/>
          <p:nvPr/>
        </p:nvSpPr>
        <p:spPr>
          <a:xfrm>
            <a:off x="5033863" y="906155"/>
            <a:ext cx="338237" cy="13229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Footer Placeholder 3">
            <a:extLst>
              <a:ext uri="{FF2B5EF4-FFF2-40B4-BE49-F238E27FC236}">
                <a16:creationId xmlns:a16="http://schemas.microsoft.com/office/drawing/2014/main" id="{A4354DF7-ADD9-F8E2-6849-A3521250E7F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sv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>
                <a:latin typeface="IBM Plex Sans" panose="020B0503050203000203" pitchFamily="34" charset="0"/>
              </a:rPr>
              <a:t>© Erland </a:t>
            </a:r>
            <a:r>
              <a:rPr lang="en-GB" sz="1100" dirty="0" err="1">
                <a:latin typeface="IBM Plex Sans" panose="020B0503050203000203" pitchFamily="34" charset="0"/>
              </a:rPr>
              <a:t>Sommarskog</a:t>
            </a:r>
            <a:r>
              <a:rPr lang="en-GB" sz="1100" dirty="0">
                <a:latin typeface="IBM Plex Sans" panose="020B0503050203000203" pitchFamily="34" charset="0"/>
              </a:rPr>
              <a:t>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3822B-7D6E-1703-B149-81790A3ECB1F}"/>
              </a:ext>
            </a:extLst>
          </p:cNvPr>
          <p:cNvSpPr txBox="1"/>
          <p:nvPr/>
        </p:nvSpPr>
        <p:spPr>
          <a:xfrm>
            <a:off x="2156978" y="446508"/>
            <a:ext cx="9040091" cy="430887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Freight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@empid</a:t>
            </a:r>
            <a:endParaRPr lang="en-GB" sz="22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7759A-FE68-5DB5-7D27-60C25B174C4A}"/>
              </a:ext>
            </a:extLst>
          </p:cNvPr>
          <p:cNvSpPr txBox="1"/>
          <p:nvPr/>
        </p:nvSpPr>
        <p:spPr>
          <a:xfrm>
            <a:off x="484903" y="5769454"/>
            <a:ext cx="10882752" cy="430887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GB" sz="22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@newempid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@orderid</a:t>
            </a:r>
            <a:endParaRPr lang="en-GB" sz="22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8DFA436-328A-32D8-C67D-EF3ED1A79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111" y="3348875"/>
            <a:ext cx="457200" cy="457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A0E7665-C10D-9440-0B19-04FB30E9D9ED}"/>
              </a:ext>
            </a:extLst>
          </p:cNvPr>
          <p:cNvSpPr/>
          <p:nvPr/>
        </p:nvSpPr>
        <p:spPr>
          <a:xfrm>
            <a:off x="311193" y="1803807"/>
            <a:ext cx="8270099" cy="14699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A2E0CB-BEC4-3161-6623-CF179C58047B}"/>
              </a:ext>
            </a:extLst>
          </p:cNvPr>
          <p:cNvSpPr/>
          <p:nvPr/>
        </p:nvSpPr>
        <p:spPr>
          <a:xfrm>
            <a:off x="4239491" y="3933655"/>
            <a:ext cx="7248967" cy="14699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1F286A1-211C-8D39-A89F-49CBFCB6F021}"/>
              </a:ext>
            </a:extLst>
          </p:cNvPr>
          <p:cNvSpPr/>
          <p:nvPr/>
        </p:nvSpPr>
        <p:spPr>
          <a:xfrm rot="10800000">
            <a:off x="9667137" y="5125950"/>
            <a:ext cx="388800" cy="600316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Arrow: Bent-Up 48">
            <a:extLst>
              <a:ext uri="{FF2B5EF4-FFF2-40B4-BE49-F238E27FC236}">
                <a16:creationId xmlns:a16="http://schemas.microsoft.com/office/drawing/2014/main" id="{C2E3CE29-0FBD-2EC7-C9C6-85CFC6BBB4BB}"/>
              </a:ext>
            </a:extLst>
          </p:cNvPr>
          <p:cNvSpPr/>
          <p:nvPr/>
        </p:nvSpPr>
        <p:spPr>
          <a:xfrm rot="16200000">
            <a:off x="5649456" y="217400"/>
            <a:ext cx="1308414" cy="7434699"/>
          </a:xfrm>
          <a:prstGeom prst="bentUpArrow">
            <a:avLst>
              <a:gd name="adj1" fmla="val 22889"/>
              <a:gd name="adj2" fmla="val 25000"/>
              <a:gd name="adj3" fmla="val 2500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0E43A479-3FD3-BC76-2193-730BC04FDC54}"/>
              </a:ext>
            </a:extLst>
          </p:cNvPr>
          <p:cNvSpPr/>
          <p:nvPr/>
        </p:nvSpPr>
        <p:spPr>
          <a:xfrm>
            <a:off x="4545093" y="2796320"/>
            <a:ext cx="388754" cy="7663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A26AE41-6638-C99F-BEAB-7172348CD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870" y="348581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6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2" grpId="0" animBg="1"/>
      <p:bldP spid="47" grpId="0" animBg="1"/>
      <p:bldP spid="34" grpId="0" animBg="1"/>
      <p:bldP spid="49" grpId="0" animBg="1"/>
      <p:bldP spid="4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C96A08-8E8C-BD72-9666-FC3F83DC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Lower lock granularity increases the risk for deadlocks, as you now can get conflicts on unrelated rows.</a:t>
            </a:r>
          </a:p>
          <a:p>
            <a:pPr>
              <a:lnSpc>
                <a:spcPct val="100000"/>
              </a:lnSpc>
            </a:pPr>
            <a:r>
              <a:rPr lang="en-GB" dirty="0"/>
              <a:t>Thus, removing such locks helps to prevent deadlocks.</a:t>
            </a:r>
          </a:p>
          <a:p>
            <a:pPr>
              <a:lnSpc>
                <a:spcPct val="100000"/>
              </a:lnSpc>
            </a:pPr>
            <a:r>
              <a:rPr lang="en-GB" dirty="0"/>
              <a:t>Recall that intent locks are always on page/table. They are not a problem. </a:t>
            </a:r>
          </a:p>
          <a:p>
            <a:pPr>
              <a:lnSpc>
                <a:spcPct val="100000"/>
              </a:lnSpc>
            </a:pPr>
            <a:r>
              <a:rPr lang="en-GB" dirty="0"/>
              <a:t>It’s shared/update/exclusive locks on higher levels you should go after.</a:t>
            </a:r>
          </a:p>
          <a:p>
            <a:pPr>
              <a:lnSpc>
                <a:spcPct val="100000"/>
              </a:lnSpc>
            </a:pPr>
            <a:r>
              <a:rPr lang="en-GB" dirty="0"/>
              <a:t>They are often a token of a query that needs tuning.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272B07-D0CA-211A-A2E5-F4F7E229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Impact of Page and Table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CFF8B-84CF-82B8-F661-0CE65640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861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BDF566-14E0-4700-AC0C-073617DDA0F2}"/>
              </a:ext>
            </a:extLst>
          </p:cNvPr>
          <p:cNvSpPr txBox="1"/>
          <p:nvPr/>
        </p:nvSpPr>
        <p:spPr>
          <a:xfrm>
            <a:off x="370800" y="5156000"/>
            <a:ext cx="10515600" cy="892552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OrderDate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endParaRPr lang="en-GB" sz="2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E53C3-32AB-4D27-B9EC-135DCA68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Removing Page and Table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9C039-9B72-43C7-A823-34A3AB53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1603375"/>
          </a:xfrm>
        </p:spPr>
        <p:txBody>
          <a:bodyPr/>
          <a:lstStyle/>
          <a:p>
            <a:r>
              <a:rPr lang="en-GB" sz="3100" dirty="0"/>
              <a:t>Say that you see this query in a deadlock: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153EC-B430-4F5D-AC3C-C18AC6893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1434B-1AD9-49B9-BE9C-98043EA4E8E8}"/>
              </a:ext>
            </a:extLst>
          </p:cNvPr>
          <p:cNvSpPr txBox="1"/>
          <p:nvPr/>
        </p:nvSpPr>
        <p:spPr>
          <a:xfrm>
            <a:off x="370800" y="2306417"/>
            <a:ext cx="10515600" cy="892552"/>
          </a:xfrm>
          <a:prstGeom prst="rect">
            <a:avLst/>
          </a:prstGeom>
          <a:solidFill>
            <a:srgbClr val="FFFF96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OrderDate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en-GB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CF2A4-77BA-4AF2-89FD-4FE8B1C69B09}"/>
              </a:ext>
            </a:extLst>
          </p:cNvPr>
          <p:cNvSpPr txBox="1"/>
          <p:nvPr/>
        </p:nvSpPr>
        <p:spPr>
          <a:xfrm>
            <a:off x="370800" y="3223163"/>
            <a:ext cx="10515600" cy="2002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Entangling column in an expression, prevents Index Seek.</a:t>
            </a:r>
          </a:p>
          <a:p>
            <a:pPr marL="9720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You get Index Scan which often results in page locks.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No need to analyse the rest of the deadlock, but rewrite:</a:t>
            </a:r>
          </a:p>
        </p:txBody>
      </p:sp>
    </p:spTree>
    <p:extLst>
      <p:ext uri="{BB962C8B-B14F-4D97-AF65-F5344CB8AC3E}">
        <p14:creationId xmlns:p14="http://schemas.microsoft.com/office/powerpoint/2010/main" val="151096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5577-4B98-477D-80B7-CE839B14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Deadlock with Page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3439-B55C-458E-AF56-250591AB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3343729"/>
            <a:ext cx="10515600" cy="2905212"/>
          </a:xfrm>
        </p:spPr>
        <p:txBody>
          <a:bodyPr>
            <a:normAutofit/>
          </a:bodyPr>
          <a:lstStyle/>
          <a:p>
            <a:r>
              <a:rPr lang="en-GB" sz="3300" dirty="0"/>
              <a:t>The index in the deadlock is on (</a:t>
            </a:r>
            <a:r>
              <a:rPr lang="en-GB" sz="3300" dirty="0" err="1"/>
              <a:t>ShipVia</a:t>
            </a:r>
            <a:r>
              <a:rPr lang="en-GB" sz="3300" dirty="0"/>
              <a:t>, </a:t>
            </a:r>
            <a:r>
              <a:rPr lang="en-GB" sz="3300" dirty="0" err="1"/>
              <a:t>OrderDate</a:t>
            </a:r>
            <a:r>
              <a:rPr lang="en-GB" sz="3300" dirty="0"/>
              <a:t>). There is no index on </a:t>
            </a:r>
            <a:r>
              <a:rPr lang="en-GB" sz="3300" dirty="0" err="1"/>
              <a:t>OrderDate</a:t>
            </a:r>
            <a:r>
              <a:rPr lang="en-GB" sz="3300" dirty="0"/>
              <a:t>.</a:t>
            </a:r>
          </a:p>
          <a:p>
            <a:r>
              <a:rPr lang="en-GB" sz="3300" dirty="0"/>
              <a:t>Reader scans this index, taking page locks.</a:t>
            </a:r>
          </a:p>
          <a:p>
            <a:r>
              <a:rPr lang="en-GB" sz="3300" dirty="0"/>
              <a:t>Parallel plan, thus multiple pages locked simultaneously.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EC6AE-0283-4410-A534-8F08CA97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960BB-082A-4779-81DE-FA8B8846133F}"/>
              </a:ext>
            </a:extLst>
          </p:cNvPr>
          <p:cNvSpPr txBox="1"/>
          <p:nvPr/>
        </p:nvSpPr>
        <p:spPr>
          <a:xfrm>
            <a:off x="370800" y="1825200"/>
            <a:ext cx="10515600" cy="1446550"/>
          </a:xfrm>
          <a:prstGeom prst="rect">
            <a:avLst/>
          </a:prstGeom>
          <a:solidFill>
            <a:srgbClr val="FFFF96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008000"/>
                </a:solidFill>
                <a:latin typeface="Consolas" panose="020B0609020204030204" pitchFamily="49" charset="0"/>
              </a:rPr>
              <a:t>-- Reader.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Freight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TallOrders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@date</a:t>
            </a:r>
          </a:p>
          <a:p>
            <a:r>
              <a:rPr lang="en-GB" sz="2200" dirty="0">
                <a:solidFill>
                  <a:srgbClr val="008000"/>
                </a:solidFill>
                <a:latin typeface="Consolas" panose="020B0609020204030204" pitchFamily="49" charset="0"/>
              </a:rPr>
              <a:t>-- Writer.</a:t>
            </a:r>
            <a:endParaRPr lang="en-GB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2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TallOrders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ShipVia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@newshipid 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OrderID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 @orderid</a:t>
            </a:r>
            <a:endParaRPr lang="en-GB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1EA40-5960-43F0-BC2D-9403655657F0}"/>
              </a:ext>
            </a:extLst>
          </p:cNvPr>
          <p:cNvSpPr txBox="1"/>
          <p:nvPr/>
        </p:nvSpPr>
        <p:spPr>
          <a:xfrm>
            <a:off x="5324104" y="1275103"/>
            <a:ext cx="1543793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3" action="ppaction://hlinkfile"/>
              </a:rPr>
              <a:t>01_Second_window.sql</a:t>
            </a:r>
            <a:endParaRPr lang="en-GB" sz="1000" dirty="0">
              <a:hlinkClick r:id="rId4" action="ppaction://hlinkpres?slideindex=1&amp;slidetitle="/>
            </a:endParaRPr>
          </a:p>
          <a:p>
            <a:r>
              <a:rPr lang="en-GB" sz="1000" dirty="0">
                <a:hlinkClick r:id="rId5" action="ppaction://hlinkpres?slideindex=1&amp;slidetitle="/>
              </a:rPr>
              <a:t>pagelock-deadlock.xml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836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87AF-ACA8-4888-8923-6B3026D6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Deadlock with Page Locks,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F8EB-F336-4271-97E6-3ADAF658D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Writer needs to modify </a:t>
            </a:r>
            <a:r>
              <a:rPr lang="en-GB" i="1" dirty="0"/>
              <a:t>two</a:t>
            </a:r>
            <a:r>
              <a:rPr lang="en-GB" dirty="0"/>
              <a:t> pages in index on </a:t>
            </a:r>
            <a:r>
              <a:rPr lang="en-GB" dirty="0" err="1"/>
              <a:t>ShipVia</a:t>
            </a:r>
            <a:r>
              <a:rPr lang="en-GB" dirty="0"/>
              <a:t>, one for the old value, one for the new value.</a:t>
            </a:r>
          </a:p>
          <a:p>
            <a:r>
              <a:rPr lang="en-GB" dirty="0"/>
              <a:t>Thus, writer needs intent locks (IX) on both pages.</a:t>
            </a:r>
          </a:p>
          <a:p>
            <a:r>
              <a:rPr lang="en-GB" dirty="0"/>
              <a:t>Locks the first page, tries to lock the next but is blocked by a reader thread.</a:t>
            </a:r>
          </a:p>
          <a:p>
            <a:r>
              <a:rPr lang="en-GB" dirty="0"/>
              <a:t>Another reader thread wants to read rows from first page, but is blocked by writer.</a:t>
            </a:r>
          </a:p>
          <a:p>
            <a:r>
              <a:rPr lang="en-GB" dirty="0"/>
              <a:t>Possible resolution: add an index on </a:t>
            </a:r>
            <a:r>
              <a:rPr lang="en-GB" dirty="0" err="1"/>
              <a:t>OrderDate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And we could tell this from the start….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D56E3-60EB-4A32-8944-DE610481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6238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3A10-CD7F-4F24-ADB0-D97DDC25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Row Locks Permitted?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63A4-CA14-4973-92F3-E63CA458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1107580"/>
          </a:xfrm>
        </p:spPr>
        <p:txBody>
          <a:bodyPr/>
          <a:lstStyle/>
          <a:p>
            <a:r>
              <a:rPr lang="en-GB" sz="3100" dirty="0">
                <a:latin typeface="IBM Plex Sans" panose="020B0503050203000203" pitchFamily="34" charset="0"/>
              </a:rPr>
              <a:t>If you have table or page locks you are not able to understand, run this query: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BC99E-3B21-4E3A-AF2D-BC73909F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C1546-E789-415C-BB1D-691D4DD4B757}"/>
              </a:ext>
            </a:extLst>
          </p:cNvPr>
          <p:cNvSpPr txBox="1"/>
          <p:nvPr/>
        </p:nvSpPr>
        <p:spPr>
          <a:xfrm>
            <a:off x="370800" y="2737431"/>
            <a:ext cx="10515600" cy="1292662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8000"/>
                </a:solidFill>
                <a:latin typeface="Consolas" panose="020B0609020204030204" pitchFamily="49" charset="0"/>
              </a:rPr>
              <a:t>sys.indexes</a:t>
            </a:r>
            <a:endParaRPr lang="en-GB" sz="2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object_name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 err="1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YourTable</a:t>
            </a:r>
            <a:r>
              <a:rPr lang="en-GB" sz="2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allow_row_locks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OR </a:t>
            </a:r>
            <a:r>
              <a:rPr lang="en-GB" sz="2600" dirty="0" err="1">
                <a:solidFill>
                  <a:srgbClr val="0000FF"/>
                </a:solidFill>
                <a:latin typeface="Consolas" panose="020B0609020204030204" pitchFamily="49" charset="0"/>
              </a:rPr>
              <a:t>allow_page_locks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8A668-9938-4785-AAF0-F6A23235976D}"/>
              </a:ext>
            </a:extLst>
          </p:cNvPr>
          <p:cNvSpPr txBox="1"/>
          <p:nvPr/>
        </p:nvSpPr>
        <p:spPr>
          <a:xfrm>
            <a:off x="370800" y="4164311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400" indent="-284400"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If it returns any rows, enable page and row locks with: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39351-B7BF-4BD3-AB56-8D71DDB023F1}"/>
              </a:ext>
            </a:extLst>
          </p:cNvPr>
          <p:cNvSpPr txBox="1"/>
          <p:nvPr/>
        </p:nvSpPr>
        <p:spPr>
          <a:xfrm>
            <a:off x="370800" y="4702919"/>
            <a:ext cx="10515600" cy="1384995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ix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col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ALLOW_ROW_LOCKS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ALLOW_PAGE_LOCKS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DROP_EXISTING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5915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8C2E-6CEE-40BD-8B9C-3FF35B39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Only Row Locks, All Good?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79D45-7028-4BFB-A119-08E55372A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1569660"/>
          </a:xfrm>
        </p:spPr>
        <p:txBody>
          <a:bodyPr>
            <a:normAutofit/>
          </a:bodyPr>
          <a:lstStyle/>
          <a:p>
            <a:r>
              <a:rPr lang="en-GB" sz="3100" dirty="0"/>
              <a:t>Even if there are only row locks, query tuning can still be the solution.</a:t>
            </a:r>
          </a:p>
          <a:p>
            <a:r>
              <a:rPr lang="en-GB" sz="3100" dirty="0"/>
              <a:t>Recall this deadlock: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24098-4454-4478-BC65-31338A39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80B8E-F5F6-4006-AEA7-C4E62E882D41}"/>
              </a:ext>
            </a:extLst>
          </p:cNvPr>
          <p:cNvSpPr txBox="1"/>
          <p:nvPr/>
        </p:nvSpPr>
        <p:spPr>
          <a:xfrm>
            <a:off x="370800" y="4953644"/>
            <a:ext cx="10515599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Possible resolution: Add Freight as an included column in index on </a:t>
            </a:r>
            <a:r>
              <a:rPr lang="en-GB" sz="3100" dirty="0" err="1">
                <a:latin typeface="IBM Plex Sans" panose="020B0503050203000203" pitchFamily="34" charset="0"/>
              </a:rPr>
              <a:t>EmployeeID</a:t>
            </a:r>
            <a:r>
              <a:rPr lang="en-GB" sz="3100" dirty="0">
                <a:latin typeface="IBM Plex Sans" panose="020B0503050203000203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0413E-200C-4BB4-9528-65872A586A4B}"/>
              </a:ext>
            </a:extLst>
          </p:cNvPr>
          <p:cNvSpPr txBox="1"/>
          <p:nvPr/>
        </p:nvSpPr>
        <p:spPr>
          <a:xfrm>
            <a:off x="370799" y="3285865"/>
            <a:ext cx="10515600" cy="1569660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-- Reader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Freight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@empid</a:t>
            </a:r>
          </a:p>
          <a:p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-- Writer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Orders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@newempid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OrderID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@orderid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806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67B4-19BC-4F65-9CA1-33405572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More Deadlock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8ECCE-6935-4ACD-B42E-B23F10139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Consider this: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Process P starts a transaction.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 updates row(s) in table T.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 runs query to populate a temp table for two minutes.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Process Q starts </a:t>
            </a:r>
            <a:r>
              <a:rPr lang="en-GB" sz="3000" dirty="0"/>
              <a:t>SELECT</a:t>
            </a:r>
            <a:r>
              <a:rPr lang="en-GB" dirty="0"/>
              <a:t> joining S and T, starting from 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rows in T are updated by P, so Q is blocked.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 attempts to update row in S that Q has locked.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DEADLOCK!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87D26D-DAED-4B61-ADFB-9418AABB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72645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BF5C-C3B4-48CA-A311-C1083DE8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Window for a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5A327-271D-4AAF-A828-1E698793D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if we can tune P’s </a:t>
            </a:r>
            <a:r>
              <a:rPr lang="en-GB" sz="3000" dirty="0"/>
              <a:t>INSERT</a:t>
            </a:r>
            <a:r>
              <a:rPr lang="en-GB" dirty="0"/>
              <a:t> query so that in runs 200 </a:t>
            </a:r>
            <a:r>
              <a:rPr lang="en-GB" dirty="0" err="1"/>
              <a:t>ms</a:t>
            </a:r>
            <a:r>
              <a:rPr lang="en-GB" dirty="0"/>
              <a:t>?</a:t>
            </a:r>
          </a:p>
          <a:p>
            <a:r>
              <a:rPr lang="en-GB" dirty="0"/>
              <a:t>That does not entirely </a:t>
            </a:r>
            <a:r>
              <a:rPr lang="en-GB" i="1" dirty="0"/>
              <a:t>prevent</a:t>
            </a:r>
            <a:r>
              <a:rPr lang="en-GB" dirty="0"/>
              <a:t> the deadlock.</a:t>
            </a:r>
          </a:p>
          <a:p>
            <a:r>
              <a:rPr lang="en-GB" dirty="0">
                <a:highlight>
                  <a:srgbClr val="FFFF00"/>
                </a:highlight>
              </a:rPr>
              <a:t>But the </a:t>
            </a:r>
            <a:r>
              <a:rPr lang="en-GB" i="1" dirty="0">
                <a:highlight>
                  <a:srgbClr val="FFFF00"/>
                </a:highlight>
              </a:rPr>
              <a:t>window</a:t>
            </a:r>
            <a:r>
              <a:rPr lang="en-GB" dirty="0">
                <a:highlight>
                  <a:srgbClr val="FFFF00"/>
                </a:highlight>
              </a:rPr>
              <a:t> where the deadlock can occur is drastically reduced.</a:t>
            </a:r>
          </a:p>
          <a:p>
            <a:r>
              <a:rPr lang="en-GB" dirty="0"/>
              <a:t>Shorter transactions </a:t>
            </a:r>
            <a:r>
              <a:rPr lang="en-GB" dirty="0">
                <a:sym typeface="Wingdings" panose="05000000000000000000" pitchFamily="2" charset="2"/>
              </a:rPr>
              <a:t> Less risk for deadlocks.</a:t>
            </a:r>
          </a:p>
          <a:p>
            <a:r>
              <a:rPr lang="en-GB" dirty="0">
                <a:sym typeface="Wingdings" panose="05000000000000000000" pitchFamily="2" charset="2"/>
              </a:rPr>
              <a:t>…but that does not mean you should split up a transaction that needs to be atomic in multiple. 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AE9F1-555F-4371-B7CE-D27B65C7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81697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F900-7773-405E-8407-38D5BD20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Many Indexes?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9205-0B16-4F8D-A8B8-92FC785AF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more indexes there are on a table, </a:t>
            </a:r>
            <a:r>
              <a:rPr lang="en-GB" sz="3200" dirty="0"/>
              <a:t>INSERT/ DELETE/ UPDATE</a:t>
            </a:r>
            <a:r>
              <a:rPr lang="en-GB" dirty="0"/>
              <a:t> statements takes longer.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The deadlock window gets wider.</a:t>
            </a:r>
          </a:p>
          <a:p>
            <a:r>
              <a:rPr lang="en-GB" dirty="0"/>
              <a:t>Two DML statements that update indexes in different order may clash.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64373-465F-4C06-A040-0C311DB8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9748772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F900-7773-405E-8407-38D5BD20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Many Indexes, cont’d.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B9205-0B16-4F8D-A8B8-92FC785AF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Check </a:t>
            </a:r>
            <a:r>
              <a:rPr lang="en-GB" dirty="0" err="1"/>
              <a:t>sys.dm_db_index_usage_stats</a:t>
            </a:r>
            <a:r>
              <a:rPr lang="en-GB" dirty="0"/>
              <a:t> for unused indexes.</a:t>
            </a:r>
          </a:p>
          <a:p>
            <a:pPr lvl="1"/>
            <a:r>
              <a:rPr lang="en-GB" dirty="0"/>
              <a:t>Keep in mind that DMV is cleared on server restarts.</a:t>
            </a:r>
          </a:p>
          <a:p>
            <a:pPr lvl="1"/>
            <a:r>
              <a:rPr lang="en-GB" dirty="0"/>
              <a:t>You can also trawl query plans in Query Store.</a:t>
            </a:r>
          </a:p>
          <a:p>
            <a:r>
              <a:rPr lang="en-GB" dirty="0"/>
              <a:t>Check for overlapping indexes. For instance:</a:t>
            </a:r>
          </a:p>
          <a:p>
            <a:pPr lvl="1"/>
            <a:r>
              <a:rPr lang="en-GB" dirty="0"/>
              <a:t>Indexes on both (a) and (a, b). Drop first index.</a:t>
            </a:r>
          </a:p>
          <a:p>
            <a:pPr lvl="1"/>
            <a:r>
              <a:rPr lang="en-GB" dirty="0"/>
              <a:t>Note: indexes on (b) and (a, b) are </a:t>
            </a:r>
            <a:r>
              <a:rPr lang="en-GB" i="1" dirty="0"/>
              <a:t>not</a:t>
            </a:r>
            <a:r>
              <a:rPr lang="en-GB" dirty="0"/>
              <a:t> overlapping!</a:t>
            </a:r>
          </a:p>
          <a:p>
            <a:pPr lvl="1"/>
            <a:r>
              <a:rPr lang="en-GB" dirty="0"/>
              <a:t>Indexes on (a, b, c) </a:t>
            </a:r>
            <a:r>
              <a:rPr lang="en-GB" sz="2600" dirty="0"/>
              <a:t>INCLUDE</a:t>
            </a:r>
            <a:r>
              <a:rPr lang="en-GB" dirty="0"/>
              <a:t> (d) and (a, b, c) </a:t>
            </a:r>
            <a:r>
              <a:rPr lang="en-GB" sz="2600" dirty="0"/>
              <a:t>INCLUDE</a:t>
            </a:r>
            <a:r>
              <a:rPr lang="en-GB" dirty="0"/>
              <a:t> (e). Consolidate into (a, b, c) </a:t>
            </a:r>
            <a:r>
              <a:rPr lang="en-GB" sz="2600" dirty="0"/>
              <a:t>INCLUDE</a:t>
            </a:r>
            <a:r>
              <a:rPr lang="en-GB" dirty="0"/>
              <a:t> (d, e).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64373-465F-4C06-A040-0C311DB8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7583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/>
              <a:t>Query tuning and indexing.</a:t>
            </a:r>
          </a:p>
          <a:p>
            <a:r>
              <a:rPr lang="en-GB" dirty="0">
                <a:highlight>
                  <a:srgbClr val="FFFF00"/>
                </a:highlight>
              </a:rPr>
              <a:t>READ_COMMITTED_SNAPSHOT.</a:t>
            </a:r>
          </a:p>
          <a:p>
            <a:r>
              <a:rPr lang="en-GB" dirty="0"/>
              <a:t>Lock hints.</a:t>
            </a:r>
          </a:p>
          <a:p>
            <a:r>
              <a:rPr lang="en-GB" dirty="0"/>
              <a:t>Review application behaviour.</a:t>
            </a:r>
          </a:p>
          <a:p>
            <a:r>
              <a:rPr lang="en-GB" dirty="0"/>
              <a:t>Serialise with application locks.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7972236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62C6E4-C71C-4CB4-AE58-430F66C8C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This is a great way to eliminate all deadlocks between readers and writers.</a:t>
            </a:r>
          </a:p>
          <a:p>
            <a:pPr>
              <a:lnSpc>
                <a:spcPct val="100000"/>
              </a:lnSpc>
            </a:pPr>
            <a:r>
              <a:rPr lang="en-GB" dirty="0"/>
              <a:t>Readers don’t block writers. Writers don’t block readers.</a:t>
            </a:r>
          </a:p>
          <a:p>
            <a:pPr>
              <a:lnSpc>
                <a:spcPct val="100000"/>
              </a:lnSpc>
            </a:pPr>
            <a:r>
              <a:rPr lang="en-GB" dirty="0"/>
              <a:t>(Except for readers that use Repeatable Read or Serializable.)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F8461F-83ED-AC68-0AEF-6AD9EC02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READ_COMMITTED_SNAPSHOT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822DF-46B7-ACC1-975D-F3AD2807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 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21971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62C6E4-C71C-4CB4-AE58-430F66C8C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There is a price: Incurs an overhead to update and delete operations to maintain the version store.</a:t>
            </a:r>
          </a:p>
          <a:p>
            <a:pPr>
              <a:lnSpc>
                <a:spcPct val="100000"/>
              </a:lnSpc>
            </a:pPr>
            <a:r>
              <a:rPr lang="en-GB" dirty="0"/>
              <a:t>Generally, increases the load on </a:t>
            </a:r>
            <a:r>
              <a:rPr lang="en-GB" dirty="0" err="1"/>
              <a:t>tempdb</a:t>
            </a:r>
            <a:r>
              <a:rPr lang="en-GB" dirty="0"/>
              <a:t> (unless you have Accelerated Database Recovery turned on). </a:t>
            </a:r>
          </a:p>
          <a:p>
            <a:pPr>
              <a:lnSpc>
                <a:spcPct val="100000"/>
              </a:lnSpc>
            </a:pPr>
            <a:r>
              <a:rPr lang="en-GB" dirty="0"/>
              <a:t>Adds a 14-byte pointer to updated rows, leading to page splits.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These pointers are removed on index rebuild!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Rebuild indexes with 90% fill factor?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F8461F-83ED-AC68-0AEF-6AD9EC02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RCSI, Technical Caveats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822DF-46B7-ACC1-975D-F3AD2807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 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78452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8604-98D5-4100-A362-C79D28B3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RCSI, Application 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AD1B-1D5C-44D8-8F64-CB820961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You are reading stale data. Does that matter?</a:t>
            </a:r>
          </a:p>
          <a:p>
            <a:pPr>
              <a:lnSpc>
                <a:spcPct val="100000"/>
              </a:lnSpc>
            </a:pPr>
            <a:r>
              <a:rPr lang="en-GB" dirty="0"/>
              <a:t>Example: Cannot have an inactivated securable in a portfolio. Cannot inactivate a securable if it’s in at least one portfolio. This is checked by triggers.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Transaction A: adds a securable to a portfolio.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Transaction B: inactivates the same securable.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Triggers read from snapshot and finds that all good.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Business-rule violation!</a:t>
            </a:r>
          </a:p>
          <a:p>
            <a:pPr>
              <a:lnSpc>
                <a:spcPct val="100000"/>
              </a:lnSpc>
            </a:pPr>
            <a:r>
              <a:rPr lang="en-GB" sz="3000" dirty="0"/>
              <a:t>READCOMMITTEDLOCK</a:t>
            </a:r>
            <a:r>
              <a:rPr lang="en-GB" dirty="0"/>
              <a:t> hint can prevent this.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9C750-5A84-4C02-8705-41906C4C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91024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7A1829-88CA-8FE2-C531-BED19C93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Rather than enabling </a:t>
            </a:r>
            <a:r>
              <a:rPr lang="en-GB" sz="3100" dirty="0"/>
              <a:t>READ_COMMITTED_SNAPSHOT</a:t>
            </a:r>
            <a:r>
              <a:rPr lang="en-GB" dirty="0"/>
              <a:t>, enable the database for true </a:t>
            </a:r>
            <a:r>
              <a:rPr lang="en-GB" sz="3100" dirty="0"/>
              <a:t>SNAPSHOT</a:t>
            </a:r>
            <a:r>
              <a:rPr lang="en-GB" dirty="0"/>
              <a:t> isolation.</a:t>
            </a:r>
          </a:p>
          <a:p>
            <a:r>
              <a:rPr lang="en-GB" dirty="0"/>
              <a:t>Then use </a:t>
            </a:r>
            <a:r>
              <a:rPr lang="en-GB" sz="3100" dirty="0"/>
              <a:t>SNAPSHOT</a:t>
            </a:r>
            <a:r>
              <a:rPr lang="en-GB" dirty="0"/>
              <a:t> isolation in places where you know it is safe.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A19324-06FB-5428-83A7-A47FAB61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RCSI makes you nervous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19D60-528B-885F-2148-3B14A123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 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0760140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/>
              <a:t>Query tuning and indexing.</a:t>
            </a:r>
          </a:p>
          <a:p>
            <a:r>
              <a:rPr lang="en-GB" dirty="0"/>
              <a:t>READ_COMMITTED_SNAPSHOT.</a:t>
            </a:r>
          </a:p>
          <a:p>
            <a:r>
              <a:rPr lang="en-GB" dirty="0">
                <a:highlight>
                  <a:srgbClr val="FFFF00"/>
                </a:highlight>
              </a:rPr>
              <a:t>Lock hints.</a:t>
            </a:r>
          </a:p>
          <a:p>
            <a:r>
              <a:rPr lang="en-GB" dirty="0"/>
              <a:t>Review application behaviour.</a:t>
            </a:r>
          </a:p>
          <a:p>
            <a:r>
              <a:rPr lang="en-GB" dirty="0"/>
              <a:t>Serialise with application locks.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8170530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715100-776F-B71E-D85B-3AB92F45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47" y="1811150"/>
            <a:ext cx="10515600" cy="544512"/>
          </a:xfrm>
        </p:spPr>
        <p:txBody>
          <a:bodyPr>
            <a:normAutofit/>
          </a:bodyPr>
          <a:lstStyle/>
          <a:p>
            <a:r>
              <a:rPr lang="en-GB" sz="2900" dirty="0"/>
              <a:t>This hint is great to prevent conversion deadlocks.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1E4644-A078-F352-4B81-2BFC104A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UPDLOCK hint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7BD04-5BA5-A2C1-3024-1EA0B6B1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2E9B2-43E4-6498-3D9D-D853F0F86E58}"/>
              </a:ext>
            </a:extLst>
          </p:cNvPr>
          <p:cNvSpPr txBox="1"/>
          <p:nvPr/>
        </p:nvSpPr>
        <p:spPr>
          <a:xfrm>
            <a:off x="716972" y="2290327"/>
            <a:ext cx="10167675" cy="1692771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@val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col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REPEATABLEREAD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id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@id</a:t>
            </a:r>
          </a:p>
          <a:p>
            <a: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  <a:t>-- Code that computes a new value for @val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tbl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col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@val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id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@id</a:t>
            </a:r>
            <a:endParaRPr lang="en-GB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612FE53-B983-AA68-0AEC-C8CB8174C41D}"/>
              </a:ext>
            </a:extLst>
          </p:cNvPr>
          <p:cNvSpPr txBox="1">
            <a:spLocks/>
          </p:cNvSpPr>
          <p:nvPr/>
        </p:nvSpPr>
        <p:spPr bwMode="auto">
          <a:xfrm>
            <a:off x="459102" y="4034118"/>
            <a:ext cx="10515600" cy="2235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284400" indent="-2844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 sz="3400" b="0" i="0" kern="1200">
                <a:solidFill>
                  <a:schemeClr val="tx1"/>
                </a:solidFill>
                <a:latin typeface="IBM Plex Sans" panose="020B0503050203000203" pitchFamily="34" charset="77"/>
                <a:ea typeface="+mn-ea"/>
                <a:cs typeface="IBM Plex Sans" panose="020B0503050203000203" pitchFamily="34" charset="77"/>
              </a:defRPr>
            </a:lvl1pPr>
            <a:lvl2pPr marL="601200" indent="-2844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IBM Plex Sans" panose="020B0503050203000203" pitchFamily="34" charset="77"/>
                <a:ea typeface="+mn-ea"/>
                <a:cs typeface="IBM Plex Sans" panose="020B0503050203000203" pitchFamily="34" charset="77"/>
              </a:defRPr>
            </a:lvl2pPr>
            <a:lvl3pPr marL="889200" indent="-2844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IBM Plex Sans" panose="020B0503050203000203" pitchFamily="34" charset="77"/>
                <a:ea typeface="+mn-ea"/>
                <a:cs typeface="IBM Plex Sans" panose="020B0503050203000203" pitchFamily="34" charset="77"/>
              </a:defRPr>
            </a:lvl3pPr>
            <a:lvl4pPr marL="16002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4pPr>
            <a:lvl5pPr marL="2057400" indent="-228600" algn="l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0" i="0" kern="1200">
                <a:solidFill>
                  <a:srgbClr val="191919"/>
                </a:solidFill>
                <a:latin typeface="Roboto Regular"/>
                <a:ea typeface="+mn-ea"/>
                <a:cs typeface="Roboto Regular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Say two processes run this code for the same @id.</a:t>
            </a:r>
          </a:p>
          <a:p>
            <a:r>
              <a:rPr lang="en-GB" dirty="0"/>
              <a:t>Both read the row and keep a shared lock on it.</a:t>
            </a:r>
          </a:p>
          <a:p>
            <a:r>
              <a:rPr lang="en-GB" dirty="0"/>
              <a:t>When they try to update, they block each other.</a:t>
            </a:r>
          </a:p>
          <a:p>
            <a:r>
              <a:rPr lang="en-GB" dirty="0"/>
              <a:t>Change </a:t>
            </a:r>
            <a:r>
              <a:rPr lang="en-GB" sz="3200" dirty="0"/>
              <a:t>REPEATABLEREAD</a:t>
            </a:r>
            <a:r>
              <a:rPr lang="en-GB" dirty="0"/>
              <a:t> to </a:t>
            </a:r>
            <a:r>
              <a:rPr lang="en-GB" sz="3200" dirty="0"/>
              <a:t>UPDLOCK</a:t>
            </a:r>
            <a:r>
              <a:rPr lang="en-GB" dirty="0"/>
              <a:t> to prevent this.</a:t>
            </a:r>
          </a:p>
          <a:p>
            <a:pPr lvl="1"/>
            <a:r>
              <a:rPr lang="en-GB" dirty="0"/>
              <a:t>Now process that comes in second will have to wait until first commits.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23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B321-B5AD-44C6-BBE0-11A6B798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ROWLOCK hint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DFA9-F165-40CF-843D-281AE85E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If you get deadlocks with page or table locks, you can use the </a:t>
            </a:r>
            <a:r>
              <a:rPr lang="en-GB" sz="3000" dirty="0"/>
              <a:t>ROWLOCK</a:t>
            </a:r>
            <a:r>
              <a:rPr lang="en-GB" dirty="0"/>
              <a:t> hint to force row locks.</a:t>
            </a:r>
          </a:p>
          <a:p>
            <a:pPr>
              <a:lnSpc>
                <a:spcPct val="100000"/>
              </a:lnSpc>
            </a:pPr>
            <a:r>
              <a:rPr lang="en-GB" dirty="0"/>
              <a:t>SQL Server chooses page or table locks to preserve memory. Forcing row locks may threaten server stability.</a:t>
            </a:r>
          </a:p>
          <a:p>
            <a:pPr>
              <a:lnSpc>
                <a:spcPct val="100000"/>
              </a:lnSpc>
            </a:pPr>
            <a:r>
              <a:rPr lang="en-GB" dirty="0"/>
              <a:t>Better to review indexes and/or tune queries.</a:t>
            </a:r>
          </a:p>
          <a:p>
            <a:pPr>
              <a:lnSpc>
                <a:spcPct val="100000"/>
              </a:lnSpc>
            </a:pPr>
            <a:r>
              <a:rPr lang="en-GB" dirty="0"/>
              <a:t>Can be a temporary measure until you get a better solution in place.</a:t>
            </a:r>
          </a:p>
          <a:p>
            <a:pPr>
              <a:lnSpc>
                <a:spcPct val="100000"/>
              </a:lnSpc>
            </a:pPr>
            <a:r>
              <a:rPr lang="en-GB" dirty="0"/>
              <a:t>Cannot use </a:t>
            </a:r>
            <a:r>
              <a:rPr lang="en-GB" sz="3000" dirty="0"/>
              <a:t>ROWLOCK</a:t>
            </a:r>
            <a:r>
              <a:rPr lang="en-GB" dirty="0"/>
              <a:t> to prevent lock escalation.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DE631-B168-40B2-958F-D215B5E6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3377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AB6B-A264-4C69-B38F-8ED9A910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41E91-256A-4A72-8579-361832FC9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Sure, </a:t>
            </a:r>
            <a:r>
              <a:rPr lang="en-GB" sz="3000" dirty="0"/>
              <a:t>NOLOCK</a:t>
            </a:r>
            <a:r>
              <a:rPr lang="en-GB" dirty="0"/>
              <a:t> can remove plenty of deadlocks.</a:t>
            </a:r>
          </a:p>
          <a:p>
            <a:pPr>
              <a:lnSpc>
                <a:spcPct val="100000"/>
              </a:lnSpc>
            </a:pPr>
            <a:r>
              <a:rPr lang="en-GB" dirty="0"/>
              <a:t>…and your queries start to produce spurious incorrect results that are difficult to reproduce.</a:t>
            </a:r>
          </a:p>
          <a:p>
            <a:r>
              <a:rPr lang="en-GB" dirty="0"/>
              <a:t>Keep in mind that with </a:t>
            </a:r>
            <a:r>
              <a:rPr lang="en-GB" sz="3000" dirty="0"/>
              <a:t>NOLOCK</a:t>
            </a:r>
            <a:r>
              <a:rPr lang="en-GB" dirty="0"/>
              <a:t> you may:</a:t>
            </a:r>
          </a:p>
          <a:p>
            <a:pPr lvl="1"/>
            <a:r>
              <a:rPr lang="en-GB" dirty="0"/>
              <a:t>Read uncommitted data.</a:t>
            </a:r>
          </a:p>
          <a:p>
            <a:pPr lvl="1"/>
            <a:r>
              <a:rPr lang="en-GB" dirty="0"/>
              <a:t>Fail to read committed data that was moved due to page splits.</a:t>
            </a:r>
          </a:p>
          <a:p>
            <a:pPr lvl="1"/>
            <a:r>
              <a:rPr lang="en-GB" dirty="0"/>
              <a:t>Read the same data twice.</a:t>
            </a:r>
          </a:p>
          <a:p>
            <a:r>
              <a:rPr lang="en-GB" sz="3000" dirty="0"/>
              <a:t>NOLOCK</a:t>
            </a:r>
            <a:r>
              <a:rPr lang="en-GB" dirty="0"/>
              <a:t> is not a solution to deadlocks, period!</a:t>
            </a:r>
          </a:p>
          <a:p>
            <a:r>
              <a:rPr lang="en-GB" dirty="0"/>
              <a:t>Use </a:t>
            </a:r>
            <a:r>
              <a:rPr lang="en-GB" sz="3000" dirty="0"/>
              <a:t>READ_COMMITTED_SNAPSHOT</a:t>
            </a:r>
            <a:r>
              <a:rPr lang="en-GB" dirty="0"/>
              <a:t> instead.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DFFC-1AF8-4ECE-9D3A-671A0EEE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01190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/>
              <a:t>Query tuning and indexing.</a:t>
            </a:r>
          </a:p>
          <a:p>
            <a:r>
              <a:rPr lang="en-GB" dirty="0"/>
              <a:t>READ_COMMITTED_SNAPSHOT.</a:t>
            </a:r>
          </a:p>
          <a:p>
            <a:r>
              <a:rPr lang="en-GB" dirty="0"/>
              <a:t>Lock hints.</a:t>
            </a:r>
          </a:p>
          <a:p>
            <a:r>
              <a:rPr lang="en-GB" dirty="0">
                <a:highlight>
                  <a:srgbClr val="FFFF00"/>
                </a:highlight>
              </a:rPr>
              <a:t>Review application behaviour.</a:t>
            </a:r>
          </a:p>
          <a:p>
            <a:r>
              <a:rPr lang="en-GB" dirty="0"/>
              <a:t>Serialise with application locks.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160572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597953-7696-EDF7-2C31-F5BEB3085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Is application running a multi-batch transaction with a lot work between the batches?</a:t>
            </a:r>
          </a:p>
          <a:p>
            <a:pPr>
              <a:lnSpc>
                <a:spcPct val="100000"/>
              </a:lnSpc>
            </a:pPr>
            <a:r>
              <a:rPr lang="en-GB" dirty="0"/>
              <a:t>Rewrite one-by-one processing into set-based.</a:t>
            </a:r>
          </a:p>
          <a:p>
            <a:pPr>
              <a:lnSpc>
                <a:spcPct val="100000"/>
              </a:lnSpc>
            </a:pPr>
            <a:r>
              <a:rPr lang="en-GB" dirty="0"/>
              <a:t>If two operations clash, can one be rescheduled to a different time?</a:t>
            </a:r>
          </a:p>
          <a:p>
            <a:pPr>
              <a:lnSpc>
                <a:spcPct val="100000"/>
              </a:lnSpc>
            </a:pPr>
            <a:r>
              <a:rPr lang="en-GB" dirty="0"/>
              <a:t>Disable user updates when you need to run a big import during business hours.</a:t>
            </a:r>
          </a:p>
          <a:p>
            <a:pPr>
              <a:lnSpc>
                <a:spcPct val="100000"/>
              </a:lnSpc>
            </a:pPr>
            <a:r>
              <a:rPr lang="en-GB" dirty="0"/>
              <a:t>Split up transactions into several in a </a:t>
            </a:r>
            <a:r>
              <a:rPr lang="en-GB" i="1" dirty="0"/>
              <a:t>controlled </a:t>
            </a:r>
            <a:r>
              <a:rPr lang="en-GB" dirty="0"/>
              <a:t>way. (Not a step to take lightly!)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2FCA45-5270-F889-0C54-8E981C7F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Think of What You Can Do Differently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E3484-A10B-B344-9C8B-BCBEC75B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88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9780-DCEF-4AC2-9302-7B92F897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E6C4-B8C9-4BAE-809C-177D07324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access resources in the same order.</a:t>
            </a:r>
          </a:p>
          <a:p>
            <a:r>
              <a:rPr lang="en-GB" dirty="0"/>
              <a:t>Query tuning and indexing.</a:t>
            </a:r>
          </a:p>
          <a:p>
            <a:r>
              <a:rPr lang="en-GB" dirty="0"/>
              <a:t>READ_COMMITTED_SNAPSHOT.</a:t>
            </a:r>
          </a:p>
          <a:p>
            <a:r>
              <a:rPr lang="en-GB" dirty="0"/>
              <a:t>Lock hints.</a:t>
            </a:r>
          </a:p>
          <a:p>
            <a:r>
              <a:rPr lang="en-GB" dirty="0"/>
              <a:t>Review application behaviour.</a:t>
            </a:r>
          </a:p>
          <a:p>
            <a:r>
              <a:rPr lang="en-GB" dirty="0">
                <a:highlight>
                  <a:srgbClr val="FFFF00"/>
                </a:highlight>
              </a:rPr>
              <a:t>Serialise with application locks.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B72-5597-45D5-A644-2F6F870B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3865830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381B-7AF5-482C-9E4F-E7E3F011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40C3-7233-4478-BAC0-0E390270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GB" sz="3100" dirty="0"/>
              <a:t>You may have an operation where parallel execution  isn’t really meaningful.</a:t>
            </a:r>
          </a:p>
          <a:p>
            <a:r>
              <a:rPr lang="en-GB" sz="3100" dirty="0"/>
              <a:t>You can serialise with application locks.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6DFBD-2251-4979-9DB1-8EAEBF4A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76968-998B-45A8-AAD8-CEC0A57B86E7}"/>
              </a:ext>
            </a:extLst>
          </p:cNvPr>
          <p:cNvSpPr txBox="1"/>
          <p:nvPr/>
        </p:nvSpPr>
        <p:spPr>
          <a:xfrm>
            <a:off x="370800" y="3282314"/>
            <a:ext cx="10515600" cy="954107"/>
          </a:xfrm>
          <a:prstGeom prst="rect">
            <a:avLst/>
          </a:prstGeom>
          <a:solidFill>
            <a:srgbClr val="FFFF9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800000"/>
                </a:solidFill>
                <a:latin typeface="Consolas" panose="020B0609020204030204" pitchFamily="49" charset="0"/>
              </a:rPr>
              <a:t>sp_getapplock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@Resource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MyLock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@LockMode </a:t>
            </a:r>
            <a:r>
              <a:rPr lang="en-GB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'Exclusive'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60436-17AF-446E-A6A2-B67350B4C9F5}"/>
              </a:ext>
            </a:extLst>
          </p:cNvPr>
          <p:cNvSpPr txBox="1"/>
          <p:nvPr/>
        </p:nvSpPr>
        <p:spPr>
          <a:xfrm>
            <a:off x="370800" y="4236421"/>
            <a:ext cx="10515600" cy="206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100" i="1" dirty="0" err="1">
                <a:latin typeface="IBM Plex Sans" panose="020B0503050203000203" pitchFamily="34" charset="0"/>
              </a:rPr>
              <a:t>MyLock</a:t>
            </a:r>
            <a:r>
              <a:rPr lang="en-GB" sz="3100" dirty="0">
                <a:latin typeface="IBM Plex Sans" panose="020B0503050203000203" pitchFamily="34" charset="0"/>
              </a:rPr>
              <a:t> = name of your lock. Up to 32 characters. Scope of name is the database.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Blocks until lock is available.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</a:rPr>
              <a:t>Lock is held until end of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73241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7BDBA-752A-40D9-ABCB-523FD24D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Locks,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FAAD-83A8-4FFF-83E0-FA0CB6DF2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Use application locks when parallel processing should not occur.</a:t>
            </a:r>
          </a:p>
          <a:p>
            <a:pPr>
              <a:lnSpc>
                <a:spcPct val="100000"/>
              </a:lnSpc>
            </a:pPr>
            <a:r>
              <a:rPr lang="en-GB" dirty="0"/>
              <a:t>But don’t use application locks to prevent occasional deadlocks – can hamper concurrency in the system.</a:t>
            </a:r>
          </a:p>
          <a:p>
            <a:pPr>
              <a:lnSpc>
                <a:spcPct val="100000"/>
              </a:lnSpc>
            </a:pPr>
            <a:r>
              <a:rPr lang="en-GB" dirty="0"/>
              <a:t>Application locks can also be taken on session level. Great if you want to prevent parallel execution of a stored procedure entirely.</a:t>
            </a:r>
          </a:p>
          <a:p>
            <a:pPr>
              <a:lnSpc>
                <a:spcPct val="100000"/>
              </a:lnSpc>
            </a:pPr>
            <a:r>
              <a:rPr lang="en-GB" dirty="0"/>
              <a:t>See further </a:t>
            </a:r>
            <a:r>
              <a:rPr lang="en-GB" dirty="0">
                <a:hlinkClick r:id="rId3"/>
              </a:rPr>
              <a:t>Books Online</a:t>
            </a:r>
            <a:r>
              <a:rPr lang="en-GB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280C2-BD43-49D2-891C-7F7AA792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43988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58D8-11F5-478B-9220-CB79A5A0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Mitigating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E203B-4555-4236-9BBE-EAEDE269B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SET DEADLOCK_PRIORITY.</a:t>
            </a:r>
          </a:p>
          <a:p>
            <a:r>
              <a:rPr lang="en-GB" dirty="0"/>
              <a:t>Retry on deadlock.</a:t>
            </a:r>
          </a:p>
          <a:p>
            <a:r>
              <a:rPr lang="en-GB" dirty="0"/>
              <a:t>SET LOCK_TIMEOUT.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5D7E1-2165-4C1A-AE04-633739EC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201529189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94D7-0B0F-4E00-876F-E2A4DB5F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Deadlock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6595-F91D-45FC-80D5-5B9FC7C91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625"/>
            <a:ext cx="10515600" cy="4356966"/>
          </a:xfrm>
        </p:spPr>
        <p:txBody>
          <a:bodyPr>
            <a:normAutofit/>
          </a:bodyPr>
          <a:lstStyle/>
          <a:p>
            <a:r>
              <a:rPr lang="en-GB" dirty="0"/>
              <a:t>If a background process clashes with end users, you may prefer the background process to be the deadlock victim.</a:t>
            </a:r>
          </a:p>
          <a:p>
            <a:r>
              <a:rPr lang="en-GB" dirty="0"/>
              <a:t>Use this statement: </a:t>
            </a:r>
            <a:r>
              <a:rPr lang="en-GB" sz="3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3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100" dirty="0">
                <a:solidFill>
                  <a:srgbClr val="0000FF"/>
                </a:solidFill>
                <a:latin typeface="Consolas" panose="020B0609020204030204" pitchFamily="49" charset="0"/>
              </a:rPr>
              <a:t>DEADLOCK_PRIORITY</a:t>
            </a:r>
            <a:r>
              <a:rPr lang="en-GB" sz="3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100" dirty="0">
                <a:solidFill>
                  <a:srgbClr val="0000FF"/>
                </a:solidFill>
                <a:latin typeface="Consolas" panose="020B0609020204030204" pitchFamily="49" charset="0"/>
              </a:rPr>
              <a:t>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>
                <a:latin typeface="IBM Plex Sans" panose="020B0503050203000203" pitchFamily="34" charset="0"/>
              </a:rPr>
              <a:t>Rather than </a:t>
            </a:r>
            <a:r>
              <a:rPr lang="en-GB" sz="3100" dirty="0">
                <a:latin typeface="IBM Plex Sans" panose="020B0503050203000203" pitchFamily="34" charset="0"/>
              </a:rPr>
              <a:t>LOW</a:t>
            </a:r>
            <a:r>
              <a:rPr lang="en-GB" sz="3600" dirty="0">
                <a:latin typeface="IBM Plex Sans" panose="020B0503050203000203" pitchFamily="34" charset="0"/>
              </a:rPr>
              <a:t>, you can give </a:t>
            </a:r>
            <a:r>
              <a:rPr lang="en-GB" sz="3100" dirty="0">
                <a:latin typeface="IBM Plex Sans" panose="020B0503050203000203" pitchFamily="34" charset="0"/>
              </a:rPr>
              <a:t>HIGH</a:t>
            </a:r>
            <a:r>
              <a:rPr lang="en-GB" sz="3600" dirty="0">
                <a:latin typeface="IBM Plex Sans" panose="020B0503050203000203" pitchFamily="34" charset="0"/>
              </a:rPr>
              <a:t>, </a:t>
            </a:r>
            <a:r>
              <a:rPr lang="en-GB" sz="3100" dirty="0">
                <a:latin typeface="IBM Plex Sans" panose="020B0503050203000203" pitchFamily="34" charset="0"/>
              </a:rPr>
              <a:t>NORMAL</a:t>
            </a:r>
            <a:r>
              <a:rPr lang="en-GB" sz="3600" dirty="0">
                <a:latin typeface="IBM Plex Sans" panose="020B0503050203000203" pitchFamily="34" charset="0"/>
              </a:rPr>
              <a:t> or a number from -10 to 10. </a:t>
            </a:r>
            <a:r>
              <a:rPr lang="en-GB" sz="3100" dirty="0">
                <a:latin typeface="IBM Plex Sans" panose="020B0503050203000203" pitchFamily="34" charset="0"/>
              </a:rPr>
              <a:t>LOW</a:t>
            </a:r>
            <a:r>
              <a:rPr lang="en-GB" sz="3600" dirty="0">
                <a:latin typeface="IBM Plex Sans" panose="020B0503050203000203" pitchFamily="34" charset="0"/>
              </a:rPr>
              <a:t> is the same as -5.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>
                <a:latin typeface="IBM Plex Sans" panose="020B0503050203000203" pitchFamily="34" charset="0"/>
              </a:rPr>
              <a:t>I’ve never had use for anything but </a:t>
            </a:r>
            <a:r>
              <a:rPr lang="en-GB" sz="3100" dirty="0">
                <a:latin typeface="IBM Plex Sans" panose="020B0503050203000203" pitchFamily="34" charset="0"/>
              </a:rPr>
              <a:t>LOW</a:t>
            </a:r>
            <a:r>
              <a:rPr lang="en-GB" sz="3600" dirty="0">
                <a:latin typeface="IBM Plex Sans" panose="020B0503050203000203" pitchFamily="34" charset="0"/>
              </a:rPr>
              <a:t>.</a:t>
            </a:r>
          </a:p>
          <a:p>
            <a:endParaRPr lang="en-GB" sz="3600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69375-2C29-4B4B-8DDA-74CD33C0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16217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5FEC-3E90-4EF8-B135-FC53A3C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Deadlock Priority in the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4F6C-E946-4E42-B951-ADA608B248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200" dirty="0">
                <a:solidFill>
                  <a:srgbClr val="A31515"/>
                </a:solidFill>
                <a:latin typeface="Consolas" panose="020B0609020204030204" pitchFamily="49" charset="0"/>
              </a:rPr>
              <a:t>process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process26eab72f848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taskpriority</a:t>
            </a:r>
            <a:r>
              <a:rPr lang="en-GB" sz="2200" dirty="0">
                <a:solidFill>
                  <a:srgbClr val="0000FF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"5"</a:t>
            </a:r>
            <a:r>
              <a:rPr lang="en-GB" sz="2200" dirty="0">
                <a:solidFill>
                  <a:srgbClr val="0000FF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logused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244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waitresource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KEY: 6:72057594047889408 (fadcdcb5e33c)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waittime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2728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ownerId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4260688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transactionname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UPDATE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2022-01-30T14:57:47.787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XDES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0x270d78b8428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lockMode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schedulerid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kpid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9744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status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suspended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53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sbid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ecid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priority</a:t>
            </a:r>
            <a:r>
              <a:rPr lang="en-GB" sz="2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-5</a:t>
            </a:r>
            <a:r>
              <a:rPr lang="en-GB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trancount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lastbatchcompleted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2022-01-30T14:57:47.783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1900-01-01T00:00:00.783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clientapp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slask.pl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hostname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SOMMERWALD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hostpid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6632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PRESENT10\sommar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isolationlevel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read committed (2)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xactid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4260688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currentdbname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Northgale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4294967295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clientoption1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671088672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200" dirty="0">
                <a:solidFill>
                  <a:srgbClr val="FF0000"/>
                </a:solidFill>
                <a:latin typeface="Consolas" panose="020B0609020204030204" pitchFamily="49" charset="0"/>
              </a:rPr>
              <a:t>clientoption2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128056</a:t>
            </a:r>
            <a:r>
              <a:rPr lang="en-GB" sz="2200" dirty="0">
                <a:solidFill>
                  <a:srgbClr val="000000"/>
                </a:solidFill>
                <a:latin typeface="Consolas" panose="020B0609020204030204" pitchFamily="49" charset="0"/>
              </a:rPr>
              <a:t>"</a:t>
            </a:r>
            <a:r>
              <a:rPr lang="en-GB" sz="2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AE5D-9FDE-4542-88D9-FBA23993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34934479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C00B-CD35-445C-93E0-9E22BE82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Retry on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99DF-625C-4DC1-8C18-28FB5A274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Rather than just displaying an error and quit, we can re-attempt the operation that caused the deadlock.</a:t>
            </a:r>
          </a:p>
          <a:p>
            <a:r>
              <a:rPr lang="en-GB" dirty="0"/>
              <a:t>Some people say: Always retry on deadlock.</a:t>
            </a:r>
          </a:p>
          <a:p>
            <a:r>
              <a:rPr lang="en-GB" dirty="0"/>
              <a:t>I say: </a:t>
            </a:r>
            <a:r>
              <a:rPr lang="en-GB" i="1" dirty="0"/>
              <a:t>Only</a:t>
            </a:r>
            <a:r>
              <a:rPr lang="en-GB" dirty="0"/>
              <a:t> implement retry in situations where deadlocks are a real problem.</a:t>
            </a:r>
          </a:p>
          <a:p>
            <a:r>
              <a:rPr lang="en-GB" dirty="0"/>
              <a:t>Incorrectly implemented deadlock retry can lead to data errors that are difficult to explain.</a:t>
            </a:r>
          </a:p>
          <a:p>
            <a:r>
              <a:rPr lang="en-GB" dirty="0"/>
              <a:t>Testing is difficult – you need a deadlock to test.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A89E1-646A-4210-A0D5-4AA89D7DE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59815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F541-2474-454C-A0B3-5AF95000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Key Rules for Deadlock Retries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E3BB1-F3E6-4C71-81C5-A3B3DFE8F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11156400" cy="4351338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Never redo only part of a transaction.</a:t>
            </a:r>
          </a:p>
          <a:p>
            <a:pPr lvl="1"/>
            <a:r>
              <a:rPr lang="en-GB" dirty="0"/>
              <a:t>=&gt; </a:t>
            </a:r>
            <a:r>
              <a:rPr lang="en-GB" sz="3200" dirty="0">
                <a:highlight>
                  <a:srgbClr val="FFFF00"/>
                </a:highlight>
              </a:rPr>
              <a:t>Never do deadlock retry when called inside a transaction</a:t>
            </a:r>
            <a:r>
              <a:rPr lang="en-GB" sz="3200" i="1" dirty="0"/>
              <a:t>.</a:t>
            </a:r>
          </a:p>
          <a:p>
            <a:pPr lvl="1"/>
            <a:r>
              <a:rPr lang="en-GB" dirty="0"/>
              <a:t>On deadlock, the </a:t>
            </a:r>
            <a:r>
              <a:rPr lang="en-GB" i="1" dirty="0"/>
              <a:t>entire</a:t>
            </a:r>
            <a:r>
              <a:rPr lang="en-GB" dirty="0"/>
              <a:t> transaction must be rolled back – you cannot only roll back your own part.</a:t>
            </a:r>
            <a:endParaRPr lang="en-GB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Never redo a committed transaction. That could lead to data being doubled.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E.g.: after the transaction there is a SELECT that deadlocks.</a:t>
            </a:r>
          </a:p>
          <a:p>
            <a:r>
              <a:rPr lang="en-GB" dirty="0"/>
              <a:t>These sort of errors occur only very occasionally and can be very difficult to troubleshoot.</a:t>
            </a:r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4ABC3-085E-4E3E-9163-B8B6B4CA7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Erland </a:t>
            </a:r>
            <a:r>
              <a:rPr lang="en-US" dirty="0" err="1"/>
              <a:t>Sommarskog</a:t>
            </a:r>
            <a:r>
              <a:rPr lang="en-US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93422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BF518-F682-7988-AC3D-76570D5F7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demo also shows conversion deadlocks and how to prevent them with the UPDLOCK hint.</a:t>
            </a:r>
          </a:p>
          <a:p>
            <a:r>
              <a:rPr lang="en-GB" dirty="0"/>
              <a:t>Additionally, it sports application locks and deadlock priority.</a:t>
            </a:r>
          </a:p>
          <a:p>
            <a:r>
              <a:rPr lang="en-GB" dirty="0"/>
              <a:t>Notice how the deadlock retry clutters the code.</a:t>
            </a:r>
          </a:p>
          <a:p>
            <a:r>
              <a:rPr lang="en-GB" dirty="0"/>
              <a:t>This makes it more difficult to discern the business logic, and makes it more difficult to spot bugs.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34141E-4EBC-4895-2BF5-540D86B4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on Deadlock Retry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1585F-AEE1-5130-18FB-29800F93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FE5A-5250-4D1D-30E0-35BD8F02BADD}"/>
              </a:ext>
            </a:extLst>
          </p:cNvPr>
          <p:cNvSpPr txBox="1"/>
          <p:nvPr/>
        </p:nvSpPr>
        <p:spPr>
          <a:xfrm>
            <a:off x="4249732" y="3429000"/>
            <a:ext cx="1656988" cy="553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000" dirty="0">
                <a:hlinkClick r:id="rId3" action="ppaction://hlinkfile"/>
              </a:rPr>
              <a:t>03_deadlockdemo_main.sql</a:t>
            </a:r>
            <a:endParaRPr lang="en-GB" sz="1000" dirty="0">
              <a:hlinkClick r:id="rId4" action="ppaction://hlinkpres?slideindex=1&amp;slidetitle="/>
            </a:endParaRPr>
          </a:p>
          <a:p>
            <a:r>
              <a:rPr lang="en-GB" sz="1000" dirty="0">
                <a:hlinkClick r:id="rId5" action="ppaction://hlinkfile"/>
              </a:rPr>
              <a:t>03_deadlockdemo2.sql</a:t>
            </a:r>
            <a:endParaRPr lang="en-GB" sz="1000" dirty="0"/>
          </a:p>
          <a:p>
            <a:r>
              <a:rPr lang="en-GB" sz="1000" dirty="0">
                <a:hlinkClick r:id="rId6" action="ppaction://hlinkfile"/>
              </a:rPr>
              <a:t>03_deadlockdemo3.sql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43745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EB46-106D-4707-A657-508061B8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Generic Retry in Data Layer?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833F-C739-4B8F-966C-957084AF4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Avoids the code clutter – but opens trapdoors.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You must still check for open transactions.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How do you know that all stored procedures run at most one transaction? What if there is code after </a:t>
            </a:r>
            <a:r>
              <a:rPr lang="en-GB" sz="3000" dirty="0"/>
              <a:t>COMMIT</a:t>
            </a:r>
            <a:r>
              <a:rPr lang="en-GB" dirty="0"/>
              <a:t> that can deadlock?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Strict coding guidelines?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Retry of read-only operations is OK, if you can discern them.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EBFDD-4FDB-41DF-84F2-F6FE7B01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Erland </a:t>
            </a:r>
            <a:r>
              <a:rPr lang="en-US" dirty="0" err="1"/>
              <a:t>Sommarskog</a:t>
            </a:r>
            <a:r>
              <a:rPr lang="en-US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15217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A59E4-E4C9-5CD0-F257-A24D20712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that is where transaction starts, you have no choice.</a:t>
            </a:r>
          </a:p>
          <a:p>
            <a:r>
              <a:rPr lang="en-GB" dirty="0"/>
              <a:t>You may be back to the code clutter.</a:t>
            </a:r>
          </a:p>
          <a:p>
            <a:r>
              <a:rPr lang="en-GB" dirty="0"/>
              <a:t>Then again, if you have a background task that runs once a minute – there is an automatic retry.</a:t>
            </a:r>
          </a:p>
          <a:p>
            <a:r>
              <a:rPr lang="en-GB" dirty="0"/>
              <a:t>And for that matter, telling the user to try again is also a retry…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9D9883-0462-E7F5-8828-9C7BE95E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Retry in the Business Layer?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6532C-C654-86C5-A263-42C9885A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545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EC30-6CB4-4B67-BA7C-1F2E13CD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Lock Timeouts?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C0D2-F855-4A95-8AE4-AB870FE5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Background processes can lower their deadlock priority and implement good retry.</a:t>
            </a:r>
          </a:p>
          <a:p>
            <a:pPr>
              <a:lnSpc>
                <a:spcPct val="100000"/>
              </a:lnSpc>
            </a:pPr>
            <a:r>
              <a:rPr lang="en-GB" dirty="0"/>
              <a:t>This saves more important processes from being deadlock victims.</a:t>
            </a:r>
          </a:p>
          <a:p>
            <a:pPr>
              <a:lnSpc>
                <a:spcPct val="100000"/>
              </a:lnSpc>
            </a:pPr>
            <a:r>
              <a:rPr lang="en-GB" dirty="0"/>
              <a:t>Still, they can be held up for five seconds – that may be bad enough. (Reduced throughput, irritated users etc.)</a:t>
            </a:r>
          </a:p>
          <a:p>
            <a:pPr>
              <a:lnSpc>
                <a:spcPct val="100000"/>
              </a:lnSpc>
            </a:pPr>
            <a:r>
              <a:rPr lang="en-GB" dirty="0"/>
              <a:t>What if the background process could step out of the clash at an early stage?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36A33-421A-451D-A621-EE6CEB50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6100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1A71-FB97-49F6-A870-37EE52D6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 LOCK_TIMEOUT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8A5D-6797-4A3C-B1B6-B84353E6D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2587132"/>
            <a:ext cx="10515600" cy="1175913"/>
          </a:xfrm>
        </p:spPr>
        <p:txBody>
          <a:bodyPr>
            <a:normAutofit/>
          </a:bodyPr>
          <a:lstStyle/>
          <a:p>
            <a:r>
              <a:rPr lang="en-GB" dirty="0"/>
              <a:t>If blocked by a lock, wait 100 </a:t>
            </a:r>
            <a:r>
              <a:rPr lang="en-GB" dirty="0" err="1"/>
              <a:t>ms</a:t>
            </a:r>
            <a:r>
              <a:rPr lang="en-GB" dirty="0"/>
              <a:t> to get the lock. </a:t>
            </a:r>
          </a:p>
          <a:p>
            <a:r>
              <a:rPr lang="en-GB" dirty="0"/>
              <a:t>When timeout expires, error 1222 is raised.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38D55-B139-4DDE-A149-24116BA9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67047-1FB9-41FB-B739-5A607DDCE11C}"/>
              </a:ext>
            </a:extLst>
          </p:cNvPr>
          <p:cNvSpPr txBox="1"/>
          <p:nvPr/>
        </p:nvSpPr>
        <p:spPr>
          <a:xfrm>
            <a:off x="370800" y="2018805"/>
            <a:ext cx="10515600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4400" indent="-2844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LOCK_TIMEOUT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100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26C29-EE84-45D8-BDA7-F1FBA6A85C92}"/>
              </a:ext>
            </a:extLst>
          </p:cNvPr>
          <p:cNvSpPr txBox="1"/>
          <p:nvPr/>
        </p:nvSpPr>
        <p:spPr>
          <a:xfrm>
            <a:off x="370800" y="3664025"/>
            <a:ext cx="105156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Msg</a:t>
            </a:r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 1222, Level 16, State 51, Line 3</a:t>
            </a:r>
          </a:p>
          <a:p>
            <a:r>
              <a:rPr lang="en-GB" sz="2800" dirty="0">
                <a:solidFill>
                  <a:srgbClr val="FF0000"/>
                </a:solidFill>
                <a:latin typeface="Consolas" panose="020B0609020204030204" pitchFamily="49" charset="0"/>
              </a:rPr>
              <a:t>Lock request time out period exceeded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E5E9B-32C1-4D22-81E2-AAEF41F7EF5C}"/>
              </a:ext>
            </a:extLst>
          </p:cNvPr>
          <p:cNvSpPr txBox="1"/>
          <p:nvPr/>
        </p:nvSpPr>
        <p:spPr>
          <a:xfrm>
            <a:off x="370800" y="4617807"/>
            <a:ext cx="10515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400" dirty="0">
                <a:latin typeface="IBM Plex Sans" panose="020B0503050203000203" pitchFamily="34" charset="0"/>
              </a:rPr>
              <a:t>On this error, rollback and retry (after a short wait).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100" dirty="0">
                <a:latin typeface="IBM Plex Sans" panose="020B0503050203000203" pitchFamily="34" charset="0"/>
                <a:cs typeface="Times New Roman" panose="02020603050405020304" pitchFamily="18" charset="0"/>
              </a:rPr>
              <a:t>SET LOCK_TIMEOUT </a:t>
            </a:r>
            <a:r>
              <a:rPr lang="en-GB" sz="3400" dirty="0">
                <a:latin typeface="IBM Plex Sans" panose="020B0503050203000203" pitchFamily="34" charset="0"/>
                <a:cs typeface="Times New Roman" panose="02020603050405020304" pitchFamily="18" charset="0"/>
              </a:rPr>
              <a:t>0</a:t>
            </a:r>
            <a:r>
              <a:rPr lang="en-GB" sz="3400" dirty="0">
                <a:latin typeface="IBM Plex Sans" panose="020B0503050203000203" pitchFamily="34" charset="0"/>
              </a:rPr>
              <a:t> = don’t wait. </a:t>
            </a:r>
            <a:r>
              <a:rPr lang="en-GB" sz="3400" dirty="0">
                <a:latin typeface="IBM Plex Sans" panose="020B0503050203000203" pitchFamily="34" charset="0"/>
                <a:cs typeface="Times New Roman" panose="02020603050405020304" pitchFamily="18" charset="0"/>
              </a:rPr>
              <a:t>-1</a:t>
            </a:r>
            <a:r>
              <a:rPr lang="en-GB" sz="3400" dirty="0">
                <a:latin typeface="IBM Plex Sans" panose="020B0503050203000203" pitchFamily="34" charset="0"/>
              </a:rPr>
              <a:t> = wait forever.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400" dirty="0">
                <a:latin typeface="IBM Plex Sans" panose="020B0503050203000203" pitchFamily="34" charset="0"/>
              </a:rPr>
              <a:t>There is a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lockTimeout</a:t>
            </a:r>
            <a:r>
              <a:rPr lang="en-GB" sz="3000" dirty="0">
                <a:latin typeface="IBM Plex Sans" panose="020B0503050203000203" pitchFamily="34" charset="0"/>
              </a:rPr>
              <a:t> </a:t>
            </a:r>
            <a:r>
              <a:rPr lang="en-GB" sz="3400" dirty="0">
                <a:latin typeface="IBM Plex Sans" panose="020B0503050203000203" pitchFamily="34" charset="0"/>
              </a:rPr>
              <a:t>attribute in deadlock XML</a:t>
            </a:r>
            <a:r>
              <a:rPr lang="en-GB" sz="3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410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21E802-A476-1CD1-F37A-0B319744F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Frivolous use of </a:t>
            </a:r>
            <a:r>
              <a:rPr lang="en-GB" sz="3100" dirty="0"/>
              <a:t>SET LOCK_TIMEOUT</a:t>
            </a:r>
            <a:r>
              <a:rPr lang="en-GB" dirty="0"/>
              <a:t> can lead to the background process never getting work done.</a:t>
            </a:r>
          </a:p>
          <a:p>
            <a:r>
              <a:rPr lang="en-GB" dirty="0"/>
              <a:t>What if there is a table in a specific query that is particularly prone to deadlocks?</a:t>
            </a:r>
          </a:p>
          <a:p>
            <a:r>
              <a:rPr lang="en-GB" dirty="0"/>
              <a:t>You can use the </a:t>
            </a:r>
            <a:r>
              <a:rPr lang="en-GB" sz="3100" dirty="0"/>
              <a:t>NOWAIT</a:t>
            </a:r>
            <a:r>
              <a:rPr lang="en-GB" dirty="0"/>
              <a:t> hint to have a lock timeout of zero for that table only: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5BAF-10CB-CEE5-DFE2-03A60B29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Advanced: The </a:t>
            </a:r>
            <a:r>
              <a:rPr lang="en-GB" dirty="0"/>
              <a:t>NOWAIT hint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1AC4B-C1E1-59A0-EE52-47A6AB0F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E29C2-AF6E-86D4-AED8-F513300B52E7}"/>
              </a:ext>
            </a:extLst>
          </p:cNvPr>
          <p:cNvSpPr txBox="1"/>
          <p:nvPr/>
        </p:nvSpPr>
        <p:spPr>
          <a:xfrm>
            <a:off x="659422" y="4973995"/>
            <a:ext cx="10225225" cy="1292662"/>
          </a:xfrm>
          <a:prstGeom prst="rect">
            <a:avLst/>
          </a:prstGeom>
          <a:solidFill>
            <a:srgbClr val="FFFF96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TableA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NOWAIT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GB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TableB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GB" sz="2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</a:t>
            </a:r>
            <a:endParaRPr lang="en-GB" sz="2600" b="0" i="0" dirty="0"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2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77D9-F94A-46F6-B702-9A15127D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Key Points of this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143D-C70B-4441-84CF-6BF07E89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occasional deadlock is no cause for alarm.</a:t>
            </a:r>
          </a:p>
          <a:p>
            <a:r>
              <a:rPr lang="en-GB" dirty="0"/>
              <a:t>Get the deadlock XML from the </a:t>
            </a:r>
            <a:r>
              <a:rPr lang="en-GB" dirty="0" err="1"/>
              <a:t>system_health</a:t>
            </a:r>
            <a:r>
              <a:rPr lang="en-GB" dirty="0"/>
              <a:t> session.</a:t>
            </a:r>
          </a:p>
          <a:p>
            <a:r>
              <a:rPr lang="en-GB" dirty="0"/>
              <a:t>Is any process in a multi-statement transaction? The transaction name will tell you.</a:t>
            </a:r>
          </a:p>
          <a:p>
            <a:r>
              <a:rPr lang="en-GB" dirty="0"/>
              <a:t>Is any process running a multi-batch transaction? Is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dirty="0"/>
              <a:t> before </a:t>
            </a:r>
            <a:r>
              <a:rPr lang="en-GB" sz="30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lastbatchstarted</a:t>
            </a:r>
            <a:r>
              <a:rPr lang="en-GB" dirty="0"/>
              <a:t>?</a:t>
            </a:r>
          </a:p>
          <a:p>
            <a:r>
              <a:rPr lang="en-GB" dirty="0"/>
              <a:t>Remember: The faster your operations are, the smaller the window where a deadlock can occur.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DC5BB-2C0F-4E8A-893D-F23C7D959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429476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84A01-AB71-4F80-A747-2414CF81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Don’t Shy the Shortcuts!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0D3B7-77FB-44CD-B1D4-C5A43791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Understanding a deadlock in full detail can be hard.</a:t>
            </a:r>
          </a:p>
          <a:p>
            <a:r>
              <a:rPr lang="en-GB" dirty="0"/>
              <a:t>The good news: you only need to understand as much to make a decision on prevention or mitigation.</a:t>
            </a:r>
          </a:p>
          <a:p>
            <a:pPr lvl="1"/>
            <a:r>
              <a:rPr lang="en-GB" dirty="0"/>
              <a:t>Is </a:t>
            </a:r>
            <a:r>
              <a:rPr lang="en-GB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lastattention</a:t>
            </a:r>
            <a:r>
              <a:rPr lang="en-GB" dirty="0"/>
              <a:t> after </a:t>
            </a:r>
            <a:r>
              <a:rPr lang="en-GB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lasttranstarted</a:t>
            </a:r>
            <a:r>
              <a:rPr lang="en-GB" dirty="0"/>
              <a:t>? Troubleshoot the unhandled timeout.</a:t>
            </a:r>
          </a:p>
          <a:p>
            <a:pPr lvl="1"/>
            <a:r>
              <a:rPr lang="en-GB" dirty="0"/>
              <a:t>When you see page and table locks, apply query and index tuning before anything else.</a:t>
            </a:r>
          </a:p>
          <a:p>
            <a:pPr lvl="1"/>
            <a:r>
              <a:rPr lang="en-GB" dirty="0"/>
              <a:t>READ_COMMITTED_SNAPSHOT to isolate readers and writers.</a:t>
            </a:r>
          </a:p>
          <a:p>
            <a:pPr lvl="1"/>
            <a:r>
              <a:rPr lang="en-GB" dirty="0"/>
              <a:t>Use deadlock priority + deadlock retry for background processes.</a:t>
            </a:r>
          </a:p>
          <a:p>
            <a:pPr lvl="1"/>
            <a:r>
              <a:rPr lang="en-GB" dirty="0"/>
              <a:t>When things should not run in parallel, serialise or separate.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9CD35-A38D-4695-8B0C-70C1BA70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399322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B36A39-655A-28D8-40C1-9B256EB7A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Deadlocks is just one way they can manifest.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Update </a:t>
            </a:r>
            <a:r>
              <a:rPr lang="en-GB"/>
              <a:t>errors with </a:t>
            </a:r>
            <a:r>
              <a:rPr lang="en-GB" dirty="0"/>
              <a:t>snapshot isolation or In-Memory OLTP.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Or the PK error in the demo.</a:t>
            </a:r>
          </a:p>
          <a:p>
            <a:pPr>
              <a:lnSpc>
                <a:spcPct val="100000"/>
              </a:lnSpc>
            </a:pPr>
            <a:r>
              <a:rPr lang="en-GB" dirty="0"/>
              <a:t>Bad throughput due to too strict isolation level or serialisation in the wrong place.</a:t>
            </a:r>
          </a:p>
          <a:p>
            <a:pPr>
              <a:lnSpc>
                <a:spcPct val="100000"/>
              </a:lnSpc>
            </a:pPr>
            <a:r>
              <a:rPr lang="en-GB" dirty="0"/>
              <a:t>Worst of them all: Spurious data errors.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Too liberal isolation level (which could be RCSI). 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Incorrect transaction scope.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Incorrect deadlock retry.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FB3EEE-7224-4C95-91F4-0B136545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Concurrency Conflicts in Databases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AE21E-3E10-70F6-6971-847AAAEA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 Erland Sommarskog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06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D566-B2D4-4CE2-9604-802FE63D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Choose Wisely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8E2E4-C917-4DCF-810E-B44268226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is often more than one way to prevent or mitigate a deadlock.</a:t>
            </a:r>
          </a:p>
          <a:p>
            <a:r>
              <a:rPr lang="en-GB" dirty="0"/>
              <a:t>You need to choose wisely.</a:t>
            </a:r>
          </a:p>
          <a:p>
            <a:r>
              <a:rPr lang="en-GB" dirty="0"/>
              <a:t>The cure can be worse than the disease.</a:t>
            </a:r>
          </a:p>
          <a:p>
            <a:pPr lvl="1"/>
            <a:r>
              <a:rPr lang="en-GB" dirty="0"/>
              <a:t>Spurious data errors.</a:t>
            </a:r>
          </a:p>
          <a:p>
            <a:pPr lvl="1"/>
            <a:r>
              <a:rPr lang="en-GB" dirty="0"/>
              <a:t>Serialisation reducing throughput of the system.</a:t>
            </a:r>
          </a:p>
          <a:p>
            <a:pPr lvl="1"/>
            <a:r>
              <a:rPr lang="en-GB" dirty="0"/>
              <a:t>Etc.</a:t>
            </a:r>
          </a:p>
          <a:p>
            <a:r>
              <a:rPr lang="en-GB" dirty="0"/>
              <a:t>Take a holistic view of the situation.</a:t>
            </a:r>
          </a:p>
          <a:p>
            <a:pPr lvl="1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277B1-1507-4B15-810F-58F6967F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Erland </a:t>
            </a:r>
            <a:r>
              <a:rPr lang="en-GB" dirty="0" err="1"/>
              <a:t>Sommarskog</a:t>
            </a:r>
            <a:r>
              <a:rPr lang="en-GB"/>
              <a:t>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43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C41A339-E429-9FE1-6E4B-7C345F2C0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7094" y="565982"/>
            <a:ext cx="2285998" cy="228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04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CB60-74E3-A041-9CE7-D7B61CA7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Analysing</a:t>
            </a:r>
            <a:r>
              <a:rPr lang="en-US" dirty="0"/>
              <a:t> and 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577B2-A7E4-824A-BCB3-D6B6A82E4FB4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Erland </a:t>
            </a:r>
            <a:r>
              <a:rPr lang="en-US" dirty="0" err="1"/>
              <a:t>Sommarskog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DBFA4-A612-6C4E-AC3D-4A3DCC48698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esquel@sommarskog.se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F4520-1F9F-D847-A48D-918A451A7D3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Slides and scripts: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714C9-C8B4-8940-8654-D6B116ED315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https://www.sommarskog.se/present</a:t>
            </a:r>
          </a:p>
        </p:txBody>
      </p:sp>
    </p:spTree>
    <p:extLst>
      <p:ext uri="{BB962C8B-B14F-4D97-AF65-F5344CB8AC3E}">
        <p14:creationId xmlns:p14="http://schemas.microsoft.com/office/powerpoint/2010/main" val="4118828104"/>
      </p:ext>
    </p:extLst>
  </p:cSld>
  <p:clrMapOvr>
    <a:masterClrMapping/>
  </p:clrMapOvr>
</p:sld>
</file>

<file path=ppt/theme/theme1.xml><?xml version="1.0" encoding="utf-8"?>
<a:theme xmlns:a="http://schemas.openxmlformats.org/drawingml/2006/main" name="Redgate theme v2">
  <a:themeElements>
    <a:clrScheme name="Redgate PASS Summit">
      <a:dk1>
        <a:srgbClr val="222222"/>
      </a:dk1>
      <a:lt1>
        <a:srgbClr val="FFFFFF"/>
      </a:lt1>
      <a:dk2>
        <a:srgbClr val="CC0000"/>
      </a:dk2>
      <a:lt2>
        <a:srgbClr val="F2F2F2"/>
      </a:lt2>
      <a:accent1>
        <a:srgbClr val="CC0000"/>
      </a:accent1>
      <a:accent2>
        <a:srgbClr val="000000"/>
      </a:accent2>
      <a:accent3>
        <a:srgbClr val="767676"/>
      </a:accent3>
      <a:accent4>
        <a:srgbClr val="790000"/>
      </a:accent4>
      <a:accent5>
        <a:srgbClr val="1AAC1E"/>
      </a:accent5>
      <a:accent6>
        <a:srgbClr val="336DC1"/>
      </a:accent6>
      <a:hlink>
        <a:srgbClr val="336DC1"/>
      </a:hlink>
      <a:folHlink>
        <a:srgbClr val="2A5E9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i="0" dirty="0" err="1" smtClean="0">
            <a:latin typeface="IBM Plex Sans" panose="020B0503050203000203" pitchFamily="34" charset="77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gate theme v2" id="{1734A0F3-C998-EF41-934D-51BF3B82E1A2}" vid="{D6099F4A-34CB-A94F-8B65-95F962FE4140}"/>
    </a:ext>
  </a:extLst>
</a:theme>
</file>

<file path=ppt/theme/theme2.xml><?xml version="1.0" encoding="utf-8"?>
<a:theme xmlns:a="http://schemas.openxmlformats.org/drawingml/2006/main" name="1_Redgate theme v2">
  <a:themeElements>
    <a:clrScheme name="Redgate PASS Summit">
      <a:dk1>
        <a:srgbClr val="222222"/>
      </a:dk1>
      <a:lt1>
        <a:srgbClr val="FFFFFF"/>
      </a:lt1>
      <a:dk2>
        <a:srgbClr val="CC0000"/>
      </a:dk2>
      <a:lt2>
        <a:srgbClr val="F2F2F2"/>
      </a:lt2>
      <a:accent1>
        <a:srgbClr val="CC0000"/>
      </a:accent1>
      <a:accent2>
        <a:srgbClr val="000000"/>
      </a:accent2>
      <a:accent3>
        <a:srgbClr val="767676"/>
      </a:accent3>
      <a:accent4>
        <a:srgbClr val="790000"/>
      </a:accent4>
      <a:accent5>
        <a:srgbClr val="1AAC1E"/>
      </a:accent5>
      <a:accent6>
        <a:srgbClr val="336DC1"/>
      </a:accent6>
      <a:hlink>
        <a:srgbClr val="336DC1"/>
      </a:hlink>
      <a:folHlink>
        <a:srgbClr val="2A5E9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Roboto" panose="02000000000000000000" pitchFamily="2" charset="0"/>
            <a:ea typeface="Roboto" panose="02000000000000000000" pitchFamily="2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i="0" dirty="0" err="1" smtClean="0">
            <a:latin typeface="IBM Plex Sans" panose="020B0503050203000203" pitchFamily="34" charset="77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gate theme v2" id="{1734A0F3-C998-EF41-934D-51BF3B82E1A2}" vid="{D6099F4A-34CB-A94F-8B65-95F962FE414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15752</TotalTime>
  <Words>8555</Words>
  <Application>Microsoft Office PowerPoint</Application>
  <PresentationFormat>Widescreen</PresentationFormat>
  <Paragraphs>995</Paragraphs>
  <Slides>118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118</vt:i4>
      </vt:variant>
    </vt:vector>
  </HeadingPairs>
  <TitlesOfParts>
    <vt:vector size="130" baseType="lpstr">
      <vt:lpstr>Arial</vt:lpstr>
      <vt:lpstr>Calibri</vt:lpstr>
      <vt:lpstr>Calibri Light</vt:lpstr>
      <vt:lpstr>Consolas</vt:lpstr>
      <vt:lpstr>Hoefler Text</vt:lpstr>
      <vt:lpstr>IBM Plex Sans</vt:lpstr>
      <vt:lpstr>IBM Plex Sans Medium</vt:lpstr>
      <vt:lpstr>IBM Plex Sans SemiBold</vt:lpstr>
      <vt:lpstr>Roboto</vt:lpstr>
      <vt:lpstr>Roboto Regular</vt:lpstr>
      <vt:lpstr>Redgate theme v2</vt:lpstr>
      <vt:lpstr>1_Redgate theme v2</vt:lpstr>
      <vt:lpstr>Analysing and Resolving Deadlocks</vt:lpstr>
      <vt:lpstr>Erland</vt:lpstr>
      <vt:lpstr>Agenda</vt:lpstr>
      <vt:lpstr>What Is a Deadlock?</vt:lpstr>
      <vt:lpstr>What Resources Can Cause Deadlock</vt:lpstr>
      <vt:lpstr>Are Deadlocks a Problem?</vt:lpstr>
      <vt:lpstr>Getting Information about Deadlocks</vt:lpstr>
      <vt:lpstr>Azure SQL Database</vt:lpstr>
      <vt:lpstr>Tip for SSMS</vt:lpstr>
      <vt:lpstr>Defining Your Own XEvent Session</vt:lpstr>
      <vt:lpstr>Other Means to Get Information</vt:lpstr>
      <vt:lpstr>The Deadlock XML</vt:lpstr>
      <vt:lpstr>The Process List</vt:lpstr>
      <vt:lpstr>Nested Elements in the Process Tag</vt:lpstr>
      <vt:lpstr>The inputbuf Tag, take one</vt:lpstr>
      <vt:lpstr>The inputbuf Tag, Take Two</vt:lpstr>
      <vt:lpstr>The executionStack Tag</vt:lpstr>
      <vt:lpstr>Advanced: Find the Query Plan</vt:lpstr>
      <vt:lpstr>Find the Query Plan - Caveats</vt:lpstr>
      <vt:lpstr>All the Process Attributes</vt:lpstr>
      <vt:lpstr>The Relevant Ones</vt:lpstr>
      <vt:lpstr>Process Identification</vt:lpstr>
      <vt:lpstr>Process Identification Details</vt:lpstr>
      <vt:lpstr>transactionname Attribute</vt:lpstr>
      <vt:lpstr>Multi-Statement Transaction?</vt:lpstr>
      <vt:lpstr>Multi-Statement Transaction? cont’d</vt:lpstr>
      <vt:lpstr>Three Important Timestamps</vt:lpstr>
      <vt:lpstr>Transaction Started by Application?</vt:lpstr>
      <vt:lpstr>The lastattention Attribute</vt:lpstr>
      <vt:lpstr>Attention Signals</vt:lpstr>
      <vt:lpstr>Unhandled Timeout Errors</vt:lpstr>
      <vt:lpstr>Transaction Count</vt:lpstr>
      <vt:lpstr>The Deceivable trancount Attribute</vt:lpstr>
      <vt:lpstr>The isolationlevel Attribute</vt:lpstr>
      <vt:lpstr>The resource-list Element - Overview</vt:lpstr>
      <vt:lpstr>PowerPoint Presentation</vt:lpstr>
      <vt:lpstr>The xxxlock Element</vt:lpstr>
      <vt:lpstr>Index Name in Page Locks</vt:lpstr>
      <vt:lpstr>Advanced: Which Row is Locked?</vt:lpstr>
      <vt:lpstr>Recap on Locking and Isolation Levels</vt:lpstr>
      <vt:lpstr>Recap on Locking - Granularity</vt:lpstr>
      <vt:lpstr>Lock Escalation</vt:lpstr>
      <vt:lpstr>Controlling Lock Escalation</vt:lpstr>
      <vt:lpstr>The Basic Lock Modes</vt:lpstr>
      <vt:lpstr>Schema-Modification Locks (Sch-M)</vt:lpstr>
      <vt:lpstr>Exclusive Locks (X)</vt:lpstr>
      <vt:lpstr>Schema-Stability Locks (Sch-S)</vt:lpstr>
      <vt:lpstr>Shared Locks (S)</vt:lpstr>
      <vt:lpstr>Update Locks (U)</vt:lpstr>
      <vt:lpstr>Intent Locks</vt:lpstr>
      <vt:lpstr>Intent Locks at Work</vt:lpstr>
      <vt:lpstr>Intent Locks and Compatibility</vt:lpstr>
      <vt:lpstr>Isolation Levels</vt:lpstr>
      <vt:lpstr>Controlling Isolation Levels</vt:lpstr>
      <vt:lpstr>Read Uncommitted</vt:lpstr>
      <vt:lpstr>Read Uncommitted, Semantics</vt:lpstr>
      <vt:lpstr>Read Uncommitted, implementation</vt:lpstr>
      <vt:lpstr>Read Committed</vt:lpstr>
      <vt:lpstr>Read Committed in SQL Server</vt:lpstr>
      <vt:lpstr>Read Committed with Locks</vt:lpstr>
      <vt:lpstr>Example: When Not Needed Anymore?</vt:lpstr>
      <vt:lpstr>PowerPoint Presentation</vt:lpstr>
      <vt:lpstr>Read Committed Snapshot (RCSI)</vt:lpstr>
      <vt:lpstr>Read Committed Snapshot, cont’d</vt:lpstr>
      <vt:lpstr>Controlling Read Committed Snapshot</vt:lpstr>
      <vt:lpstr>Repeatable Read</vt:lpstr>
      <vt:lpstr>Serializable</vt:lpstr>
      <vt:lpstr>Snapshot Isolation</vt:lpstr>
      <vt:lpstr>Snapshot Isolation, cont’d</vt:lpstr>
      <vt:lpstr>The isolationlevel Attribute</vt:lpstr>
      <vt:lpstr>Isolation Levels and Locks</vt:lpstr>
      <vt:lpstr>Preventing Deadlocks</vt:lpstr>
      <vt:lpstr>Access Resources in the Same Order</vt:lpstr>
      <vt:lpstr>PowerPoint Presentation</vt:lpstr>
      <vt:lpstr>Preventing Deadlocks</vt:lpstr>
      <vt:lpstr>The Impact of Page and Table Locks</vt:lpstr>
      <vt:lpstr>PowerPoint Presentation</vt:lpstr>
      <vt:lpstr>The Impact of Page and Table Locks</vt:lpstr>
      <vt:lpstr>Removing Page and Table Locks</vt:lpstr>
      <vt:lpstr>Deadlock with Page Locks</vt:lpstr>
      <vt:lpstr>Deadlock with Page Locks, cont’d</vt:lpstr>
      <vt:lpstr>Are Row Locks Permitted?</vt:lpstr>
      <vt:lpstr>Only Row Locks, All Good?</vt:lpstr>
      <vt:lpstr>One More Deadlock Case</vt:lpstr>
      <vt:lpstr>The Window for a Deadlock</vt:lpstr>
      <vt:lpstr>Too Many Indexes?</vt:lpstr>
      <vt:lpstr>Too Many Indexes, cont’d.</vt:lpstr>
      <vt:lpstr>Preventing Deadlocks</vt:lpstr>
      <vt:lpstr>READ_COMMITTED_SNAPSHOT</vt:lpstr>
      <vt:lpstr>RCSI, Technical Caveats</vt:lpstr>
      <vt:lpstr>RCSI, Application Caveats</vt:lpstr>
      <vt:lpstr>If RCSI makes you nervous</vt:lpstr>
      <vt:lpstr>Preventing Deadlocks</vt:lpstr>
      <vt:lpstr>The UPDLOCK hint</vt:lpstr>
      <vt:lpstr>The ROWLOCK hint</vt:lpstr>
      <vt:lpstr>NOLOCK?</vt:lpstr>
      <vt:lpstr>Preventing Deadlocks</vt:lpstr>
      <vt:lpstr>Think of What You Can Do Differently</vt:lpstr>
      <vt:lpstr>Preventing Deadlocks</vt:lpstr>
      <vt:lpstr>Application Locks</vt:lpstr>
      <vt:lpstr>Application Locks, cont’d</vt:lpstr>
      <vt:lpstr>Mitigating Deadlocks</vt:lpstr>
      <vt:lpstr>Deadlock Priority</vt:lpstr>
      <vt:lpstr>Deadlock Priority in the XML</vt:lpstr>
      <vt:lpstr>Retry on Deadlock</vt:lpstr>
      <vt:lpstr>Two Key Rules for Deadlock Retries</vt:lpstr>
      <vt:lpstr>Demo on Deadlock Retry</vt:lpstr>
      <vt:lpstr>Generic Retry in Data Layer?</vt:lpstr>
      <vt:lpstr>Retry in the Business Layer?</vt:lpstr>
      <vt:lpstr>Why Lock Timeouts?</vt:lpstr>
      <vt:lpstr>SET LOCK_TIMEOUT</vt:lpstr>
      <vt:lpstr>Advanced: The NOWAIT hint</vt:lpstr>
      <vt:lpstr>Summary: Key Points of this Session</vt:lpstr>
      <vt:lpstr>Summary: Don’t Shy the Shortcuts!</vt:lpstr>
      <vt:lpstr>Concurrency Conflicts in Databases</vt:lpstr>
      <vt:lpstr>Summary: Choose Wisely</vt:lpstr>
      <vt:lpstr>PowerPoint Presentation</vt:lpstr>
      <vt:lpstr>Analysing and Resolving Deadlocks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and Resolving Deadlocks</dc:title>
  <dc:creator>sommar</dc:creator>
  <cp:lastModifiedBy>sommar</cp:lastModifiedBy>
  <cp:revision>103</cp:revision>
  <dcterms:created xsi:type="dcterms:W3CDTF">2023-08-02T20:29:41Z</dcterms:created>
  <dcterms:modified xsi:type="dcterms:W3CDTF">2023-10-08T20:23:18Z</dcterms:modified>
</cp:coreProperties>
</file>